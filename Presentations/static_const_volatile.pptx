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0" r:id="rId3"/>
    <p:sldId id="284" r:id="rId4"/>
    <p:sldId id="258" r:id="rId5"/>
    <p:sldId id="272" r:id="rId6"/>
    <p:sldId id="273" r:id="rId7"/>
    <p:sldId id="274" r:id="rId8"/>
    <p:sldId id="285" r:id="rId9"/>
    <p:sldId id="276" r:id="rId10"/>
    <p:sldId id="286" r:id="rId11"/>
    <p:sldId id="275" r:id="rId12"/>
    <p:sldId id="271" r:id="rId13"/>
  </p:sldIdLst>
  <p:sldSz cx="18288000" cy="10287000"/>
  <p:notesSz cx="6858000" cy="91440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Poppins Bold" panose="020B0604020202020204" charset="0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53" autoAdjust="0"/>
    <p:restoredTop sz="72850" autoAdjust="0"/>
  </p:normalViewPr>
  <p:slideViewPr>
    <p:cSldViewPr>
      <p:cViewPr varScale="1">
        <p:scale>
          <a:sx n="76" d="100"/>
          <a:sy n="76" d="100"/>
        </p:scale>
        <p:origin x="1782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853278" y="2615657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/>
          <p:cNvSpPr/>
          <p:nvPr/>
        </p:nvSpPr>
        <p:spPr>
          <a:xfrm>
            <a:off x="-3243554" y="-1718684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0" y="0"/>
                </a:lnTo>
                <a:lnTo>
                  <a:pt x="56437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/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828800" y="2396116"/>
            <a:ext cx="7315200" cy="3604399"/>
          </a:xfrm>
          <a:custGeom>
            <a:avLst/>
            <a:gdLst/>
            <a:ahLst/>
            <a:cxnLst/>
            <a:rect l="l" t="t" r="r" b="b"/>
            <a:pathLst>
              <a:path w="7315200" h="3604399">
                <a:moveTo>
                  <a:pt x="0" y="0"/>
                </a:moveTo>
                <a:lnTo>
                  <a:pt x="7315200" y="0"/>
                </a:lnTo>
                <a:lnTo>
                  <a:pt x="7315200" y="3604399"/>
                </a:lnTo>
                <a:lnTo>
                  <a:pt x="0" y="36043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8" name="TextBox 8"/>
          <p:cNvSpPr txBox="1"/>
          <p:nvPr/>
        </p:nvSpPr>
        <p:spPr>
          <a:xfrm>
            <a:off x="2228216" y="6154626"/>
            <a:ext cx="6915784" cy="539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sz="2699" b="1">
                <a:solidFill>
                  <a:srgbClr val="1D1D1F"/>
                </a:solidFill>
                <a:latin typeface="Poppins Bold"/>
                <a:ea typeface="Poppins Bold"/>
                <a:cs typeface="Poppins Bold"/>
                <a:sym typeface="Poppins Bold"/>
              </a:rPr>
              <a:t>Your partner for vehicle cybersecurity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/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/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9" name="Title 10">
            <a:extLst>
              <a:ext uri="{FF2B5EF4-FFF2-40B4-BE49-F238E27FC236}">
                <a16:creationId xmlns:a16="http://schemas.microsoft.com/office/drawing/2014/main" id="{A48B67C3-C2A8-A3BA-AEDE-9A61B263A4B4}"/>
              </a:ext>
            </a:extLst>
          </p:cNvPr>
          <p:cNvSpPr>
            <a:spLocks noGrp="1"/>
          </p:cNvSpPr>
          <p:nvPr/>
        </p:nvSpPr>
        <p:spPr>
          <a:xfrm>
            <a:off x="4327324" y="3083251"/>
            <a:ext cx="7300919" cy="13520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spcBef>
                <a:spcPct val="0"/>
              </a:spcBef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b="1" dirty="0" err="1">
                <a:latin typeface="Calibri"/>
                <a:ea typeface="Calibri"/>
                <a:cs typeface="Calibri"/>
              </a:rPr>
              <a:t>Structură</a:t>
            </a:r>
            <a:r>
              <a:rPr lang="en-GB" sz="1800" b="1" dirty="0">
                <a:latin typeface="Calibri"/>
                <a:ea typeface="Calibri"/>
                <a:cs typeface="Calibri"/>
              </a:rPr>
              <a:t> curs</a:t>
            </a:r>
          </a:p>
        </p:txBody>
      </p:sp>
      <p:sp>
        <p:nvSpPr>
          <p:cNvPr id="10" name="Content Placeholder 11">
            <a:extLst>
              <a:ext uri="{FF2B5EF4-FFF2-40B4-BE49-F238E27FC236}">
                <a16:creationId xmlns:a16="http://schemas.microsoft.com/office/drawing/2014/main" id="{3BCA02C6-34AD-DFDB-0F34-3E09E95016A7}"/>
              </a:ext>
            </a:extLst>
          </p:cNvPr>
          <p:cNvSpPr>
            <a:spLocks noGrp="1"/>
          </p:cNvSpPr>
          <p:nvPr/>
        </p:nvSpPr>
        <p:spPr>
          <a:xfrm>
            <a:off x="4572000" y="4238097"/>
            <a:ext cx="7300919" cy="3029477"/>
          </a:xfrm>
          <a:prstGeom prst="rect">
            <a:avLst/>
          </a:prstGeom>
        </p:spPr>
        <p:txBody>
          <a:bodyPr vert="horz" lIns="34290" tIns="17145" rIns="34290" bIns="17145" rtlCol="0" anchor="t">
            <a:normAutofit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+mj-lt"/>
              <a:buAutoNum type="arabicPeriod"/>
            </a:pPr>
            <a:r>
              <a:rPr lang="en-GB" sz="1500" b="1" dirty="0">
                <a:ea typeface="Calibri"/>
                <a:cs typeface="Calibri"/>
              </a:rPr>
              <a:t>Week</a:t>
            </a:r>
            <a:r>
              <a:rPr lang="en-GB" sz="1500" dirty="0">
                <a:ea typeface="Calibri"/>
                <a:cs typeface="Calibri"/>
              </a:rPr>
              <a:t> </a:t>
            </a:r>
            <a:r>
              <a:rPr lang="en-GB" sz="1500" b="1" dirty="0">
                <a:ea typeface="Calibri"/>
                <a:cs typeface="Calibri"/>
              </a:rPr>
              <a:t>1: </a:t>
            </a:r>
            <a:r>
              <a:rPr lang="en-US" sz="1500" b="1" dirty="0">
                <a:ea typeface="Calibri"/>
                <a:cs typeface="Calibri"/>
              </a:rPr>
              <a:t>Foundations of C and memory — from programming to vulnerability thinking</a:t>
            </a:r>
            <a:endParaRPr lang="en-GB" sz="1500" b="1" dirty="0">
              <a:ea typeface="Calibri"/>
              <a:cs typeface="Calibri"/>
            </a:endParaRPr>
          </a:p>
          <a:p>
            <a:pPr marL="383540" lvl="2">
              <a:buFont typeface="Wingdings" pitchFamily="34" charset="0"/>
              <a:buChar char="§"/>
            </a:pPr>
            <a:r>
              <a:rPr lang="en-GB" sz="1500" dirty="0">
                <a:latin typeface="Calibri"/>
                <a:ea typeface="+mn-lt"/>
                <a:cs typeface="+mn-lt"/>
              </a:rPr>
              <a:t>day 1:</a:t>
            </a:r>
            <a:r>
              <a:rPr lang="en-GB" sz="1500" dirty="0">
                <a:ea typeface="+mn-lt"/>
                <a:cs typeface="+mn-lt"/>
              </a:rPr>
              <a:t> INTRO + Theory day I</a:t>
            </a:r>
            <a:endParaRPr lang="en-GB" sz="1500" dirty="0">
              <a:latin typeface="Calibri"/>
              <a:ea typeface="+mn-lt"/>
              <a:cs typeface="+mn-lt"/>
            </a:endParaRPr>
          </a:p>
          <a:p>
            <a:pPr marL="383540" lvl="2">
              <a:buFont typeface="Wingdings" pitchFamily="34" charset="0"/>
              <a:buChar char="§"/>
            </a:pPr>
            <a:r>
              <a:rPr lang="en-GB" sz="1500" dirty="0">
                <a:latin typeface="Calibri"/>
                <a:ea typeface="+mn-lt"/>
                <a:cs typeface="+mn-lt"/>
              </a:rPr>
              <a:t>day 2: </a:t>
            </a:r>
            <a:r>
              <a:rPr lang="en-GB" sz="1500" dirty="0">
                <a:ea typeface="+mn-lt"/>
                <a:cs typeface="+mn-lt"/>
              </a:rPr>
              <a:t>Theory day II</a:t>
            </a:r>
            <a:endParaRPr lang="en-GB" sz="1500" dirty="0">
              <a:latin typeface="Calibri"/>
              <a:ea typeface="Calibri"/>
              <a:cs typeface="Calibri"/>
            </a:endParaRPr>
          </a:p>
          <a:p>
            <a:pPr marL="383540" lvl="2">
              <a:buFont typeface="Wingdings" pitchFamily="34" charset="0"/>
              <a:buChar char="§"/>
            </a:pPr>
            <a:r>
              <a:rPr lang="en-GB" sz="1500" b="1" dirty="0">
                <a:ea typeface="+mn-lt"/>
                <a:cs typeface="+mn-lt"/>
              </a:rPr>
              <a:t>day</a:t>
            </a:r>
            <a:r>
              <a:rPr lang="en-GB" sz="1500" b="1" dirty="0">
                <a:latin typeface="Calibri"/>
                <a:ea typeface="+mn-lt"/>
                <a:cs typeface="+mn-lt"/>
              </a:rPr>
              <a:t> 3:</a:t>
            </a:r>
            <a:r>
              <a:rPr lang="en-GB" sz="1500" b="1" dirty="0">
                <a:ea typeface="+mn-lt"/>
                <a:cs typeface="+mn-lt"/>
              </a:rPr>
              <a:t> Theory day III</a:t>
            </a:r>
            <a:endParaRPr lang="en-GB" sz="1500" b="1" dirty="0">
              <a:latin typeface="Calibri"/>
              <a:ea typeface="+mn-lt"/>
              <a:cs typeface="+mn-lt"/>
            </a:endParaRPr>
          </a:p>
          <a:p>
            <a:pPr marL="383540" lvl="2">
              <a:buFont typeface="Wingdings" pitchFamily="34" charset="0"/>
              <a:buChar char="§"/>
            </a:pPr>
            <a:r>
              <a:rPr lang="en-GB" sz="1500" dirty="0">
                <a:ea typeface="+mn-lt"/>
                <a:cs typeface="+mn-lt"/>
              </a:rPr>
              <a:t>day</a:t>
            </a:r>
            <a:r>
              <a:rPr lang="en-GB" sz="1500" dirty="0">
                <a:latin typeface="Calibri"/>
                <a:ea typeface="+mn-lt"/>
                <a:cs typeface="+mn-lt"/>
              </a:rPr>
              <a:t> 4: </a:t>
            </a:r>
            <a:r>
              <a:rPr lang="en-US" sz="1500" dirty="0">
                <a:ea typeface="+mn-lt"/>
                <a:cs typeface="+mn-lt"/>
              </a:rPr>
              <a:t>When C Goes Wrong — Memory Vulnerabilities</a:t>
            </a:r>
            <a:endParaRPr lang="en-GB" sz="1500" dirty="0">
              <a:latin typeface="Calibri"/>
              <a:ea typeface="+mn-lt"/>
              <a:cs typeface="+mn-lt"/>
            </a:endParaRPr>
          </a:p>
          <a:p>
            <a:pPr marL="383540" lvl="2">
              <a:buFont typeface="Wingdings" pitchFamily="34" charset="0"/>
              <a:buChar char="§"/>
            </a:pPr>
            <a:r>
              <a:rPr lang="en-GB" sz="1500" dirty="0">
                <a:ea typeface="+mn-lt"/>
                <a:cs typeface="+mn-lt"/>
              </a:rPr>
              <a:t>day</a:t>
            </a:r>
            <a:r>
              <a:rPr lang="en-GB" sz="1500" dirty="0">
                <a:latin typeface="Calibri"/>
                <a:ea typeface="+mn-lt"/>
                <a:cs typeface="+mn-lt"/>
              </a:rPr>
              <a:t> 5:</a:t>
            </a:r>
            <a:r>
              <a:rPr lang="en-US" sz="1500" dirty="0">
                <a:ea typeface="+mn-lt"/>
                <a:cs typeface="+mn-lt"/>
              </a:rPr>
              <a:t>From Bug to Exploit — Defensive Thinking</a:t>
            </a:r>
            <a:endParaRPr lang="en-GB" sz="15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22650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4E3A4-D591-9CBB-AC74-40D960863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CB7B9E3-1F3C-8C93-45D6-75C00B916EFF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D4BBBD6-A5BF-F430-448C-BCCF48DBEDF4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76D00EF9-C6DA-E54F-D8EA-3530A9F0293D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A7A07F0-FEC5-4C17-B2BE-E00070E68FA2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0603215-3510-C522-B337-16DD45254CC0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89DD2A01-6813-8828-71DC-5C0C905BC70C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1942FB-1091-E86B-8454-98294B8BE757}"/>
              </a:ext>
            </a:extLst>
          </p:cNvPr>
          <p:cNvSpPr/>
          <p:nvPr/>
        </p:nvSpPr>
        <p:spPr>
          <a:xfrm>
            <a:off x="7849837" y="4404836"/>
            <a:ext cx="2588326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882299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/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/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9" name="Content Placeholder 11">
            <a:extLst>
              <a:ext uri="{FF2B5EF4-FFF2-40B4-BE49-F238E27FC236}">
                <a16:creationId xmlns:a16="http://schemas.microsoft.com/office/drawing/2014/main" id="{C56394C2-82F0-2668-DCD0-5672F08D1B3E}"/>
              </a:ext>
            </a:extLst>
          </p:cNvPr>
          <p:cNvSpPr>
            <a:spLocks noGrp="1"/>
          </p:cNvSpPr>
          <p:nvPr/>
        </p:nvSpPr>
        <p:spPr>
          <a:xfrm>
            <a:off x="5029200" y="2900098"/>
            <a:ext cx="8229600" cy="4486803"/>
          </a:xfrm>
          <a:prstGeom prst="rect">
            <a:avLst/>
          </a:prstGeom>
        </p:spPr>
        <p:txBody>
          <a:bodyPr vert="horz" lIns="34290" tIns="17145" rIns="34290" bIns="17145" rtlCol="0" anchor="t">
            <a:normAutofit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en-US" sz="2400" b="1" dirty="0">
                <a:latin typeface="Calibri"/>
                <a:ea typeface="Calibri"/>
                <a:cs typeface="Calibri"/>
              </a:rPr>
              <a:t>Memory management</a:t>
            </a:r>
          </a:p>
          <a:p>
            <a:pPr indent="0" algn="ctr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  <a:p>
            <a:pPr indent="0" algn="ctr">
              <a:buNone/>
            </a:pPr>
            <a:r>
              <a:rPr lang="en-US" sz="1800" b="1" dirty="0">
                <a:latin typeface="Calibri"/>
                <a:ea typeface="Calibri"/>
                <a:cs typeface="Calibri"/>
              </a:rPr>
              <a:t>The static Keyword</a:t>
            </a:r>
          </a:p>
          <a:p>
            <a:pPr indent="0" algn="ctr">
              <a:buNone/>
            </a:pPr>
            <a:r>
              <a:rPr lang="en-US" sz="1800" b="1" dirty="0">
                <a:latin typeface="Calibri"/>
                <a:ea typeface="Calibri"/>
                <a:cs typeface="Calibri"/>
              </a:rPr>
              <a:t>static</a:t>
            </a:r>
            <a:r>
              <a:rPr lang="en-US" sz="1800" dirty="0">
                <a:latin typeface="Calibri"/>
                <a:ea typeface="Calibri"/>
                <a:cs typeface="Calibri"/>
              </a:rPr>
              <a:t> is all about </a:t>
            </a:r>
            <a:r>
              <a:rPr lang="en-US" sz="1800" b="1" dirty="0">
                <a:latin typeface="Calibri"/>
                <a:ea typeface="Calibri"/>
                <a:cs typeface="Calibri"/>
              </a:rPr>
              <a:t>persistence</a:t>
            </a:r>
            <a:r>
              <a:rPr lang="en-US" sz="1800" dirty="0">
                <a:latin typeface="Calibri"/>
                <a:ea typeface="Calibri"/>
                <a:cs typeface="Calibri"/>
              </a:rPr>
              <a:t> and </a:t>
            </a:r>
            <a:r>
              <a:rPr lang="en-US" sz="1800" b="1" dirty="0">
                <a:latin typeface="Calibri"/>
                <a:ea typeface="Calibri"/>
                <a:cs typeface="Calibri"/>
              </a:rPr>
              <a:t>visibility</a:t>
            </a:r>
            <a:r>
              <a:rPr lang="en-US" sz="1800" dirty="0">
                <a:latin typeface="Calibri"/>
                <a:ea typeface="Calibri"/>
                <a:cs typeface="Calibri"/>
              </a:rPr>
              <a:t>. </a:t>
            </a:r>
          </a:p>
          <a:p>
            <a:pPr indent="0" algn="ctr">
              <a:buNone/>
            </a:pPr>
            <a:r>
              <a:rPr lang="en-US" sz="1800" b="1" dirty="0">
                <a:latin typeface="Calibri"/>
                <a:ea typeface="Calibri"/>
                <a:cs typeface="Calibri"/>
              </a:rPr>
              <a:t>For Variables: </a:t>
            </a:r>
          </a:p>
          <a:p>
            <a:pPr marL="342900" algn="ctr">
              <a:buFont typeface="+mj-lt"/>
              <a:buAutoNum type="arabicPeriod"/>
            </a:pPr>
            <a:r>
              <a:rPr lang="en-US" sz="1800" dirty="0">
                <a:latin typeface="Calibri"/>
                <a:ea typeface="Calibri"/>
                <a:cs typeface="Calibri"/>
              </a:rPr>
              <a:t>Inside a function (</a:t>
            </a:r>
            <a:r>
              <a:rPr lang="en-US" sz="1800" b="1" dirty="0">
                <a:latin typeface="Calibri"/>
                <a:ea typeface="Calibri"/>
                <a:cs typeface="Calibri"/>
              </a:rPr>
              <a:t>Local</a:t>
            </a:r>
            <a:r>
              <a:rPr lang="en-US" sz="1800" dirty="0">
                <a:latin typeface="Calibri"/>
                <a:ea typeface="Calibri"/>
                <a:cs typeface="Calibri"/>
              </a:rPr>
              <a:t>): The variable is initialized once and retains its value between function calls. It lives in the data segment of the memory, not the stack.</a:t>
            </a:r>
          </a:p>
          <a:p>
            <a:pPr marL="342900" algn="ctr">
              <a:buFont typeface="+mj-lt"/>
              <a:buAutoNum type="arabicPeriod"/>
            </a:pPr>
            <a:r>
              <a:rPr lang="en-US" sz="1800" dirty="0">
                <a:latin typeface="Calibri"/>
                <a:ea typeface="Calibri"/>
                <a:cs typeface="Calibri"/>
              </a:rPr>
              <a:t>Outside a function (</a:t>
            </a:r>
            <a:r>
              <a:rPr lang="en-US" sz="1800" b="1" dirty="0">
                <a:latin typeface="Calibri"/>
                <a:ea typeface="Calibri"/>
                <a:cs typeface="Calibri"/>
              </a:rPr>
              <a:t>Global</a:t>
            </a:r>
            <a:r>
              <a:rPr lang="en-US" sz="1800" dirty="0">
                <a:latin typeface="Calibri"/>
                <a:ea typeface="Calibri"/>
                <a:cs typeface="Calibri"/>
              </a:rPr>
              <a:t>): It limits the scope of the variable to that specific file (internal linkage). Other files in the same project cannot "see" it.</a:t>
            </a:r>
          </a:p>
          <a:p>
            <a:pPr indent="0" algn="ctr">
              <a:buNone/>
            </a:pPr>
            <a:r>
              <a:rPr lang="en-US" sz="1800" b="1" dirty="0">
                <a:latin typeface="Calibri"/>
                <a:ea typeface="Calibri"/>
                <a:cs typeface="Calibri"/>
              </a:rPr>
              <a:t>For Functions</a:t>
            </a:r>
            <a:r>
              <a:rPr lang="en-US" sz="1800" dirty="0">
                <a:latin typeface="Calibri"/>
                <a:ea typeface="Calibri"/>
                <a:cs typeface="Calibri"/>
              </a:rPr>
              <a:t>: </a:t>
            </a:r>
          </a:p>
          <a:p>
            <a:pPr indent="0" algn="ctr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Limits the function’s scope to the file where it is defined. This is great for "private" helper functions you don't want to expose to the rest of your program.</a:t>
            </a:r>
            <a:endParaRPr lang="en-GB" sz="17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11262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5539D-0100-843F-8CFC-4756CF5E6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0C46D56-82E4-5D90-4529-9D335504AD2E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B010AA4-5B3E-3F47-2B44-08FB652BECC2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BDEE5A5-0CF6-E49E-F0E3-99C3F1452C8D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67414AF-1BA0-2218-D5A0-526B2FC701AB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02349322-DCD6-820A-84F9-1320D46C608E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D7637718-AEF2-E0C8-EAAE-E376BDF51944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C1767688-99F6-B4FB-0FD0-184617BA7DF0}"/>
              </a:ext>
            </a:extLst>
          </p:cNvPr>
          <p:cNvSpPr>
            <a:spLocks noGrp="1"/>
          </p:cNvSpPr>
          <p:nvPr/>
        </p:nvSpPr>
        <p:spPr>
          <a:xfrm>
            <a:off x="5029200" y="2116799"/>
            <a:ext cx="8229600" cy="6053402"/>
          </a:xfrm>
          <a:prstGeom prst="rect">
            <a:avLst/>
          </a:prstGeom>
        </p:spPr>
        <p:txBody>
          <a:bodyPr vert="horz" lIns="34290" tIns="17145" rIns="34290" bIns="17145" rtlCol="0" anchor="t">
            <a:normAutofit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en-US" sz="2400" b="1" dirty="0">
                <a:latin typeface="Calibri"/>
                <a:ea typeface="Calibri"/>
                <a:cs typeface="Calibri"/>
              </a:rPr>
              <a:t>Memory management</a:t>
            </a:r>
          </a:p>
          <a:p>
            <a:pPr indent="0" algn="ctr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  <a:p>
            <a:pPr indent="0" algn="ctr">
              <a:buNone/>
            </a:pPr>
            <a:r>
              <a:rPr lang="en-US" sz="1800" b="1" dirty="0">
                <a:latin typeface="Calibri"/>
                <a:ea typeface="Calibri"/>
                <a:cs typeface="Calibri"/>
              </a:rPr>
              <a:t>The const Keyword</a:t>
            </a:r>
          </a:p>
          <a:p>
            <a:pPr indent="0" algn="ctr">
              <a:buNone/>
            </a:pPr>
            <a:r>
              <a:rPr lang="en-US" sz="1800" b="1" dirty="0">
                <a:latin typeface="Calibri"/>
                <a:ea typeface="Calibri"/>
                <a:cs typeface="Calibri"/>
              </a:rPr>
              <a:t>const</a:t>
            </a:r>
            <a:r>
              <a:rPr lang="en-US" sz="1800" dirty="0">
                <a:latin typeface="Calibri"/>
                <a:ea typeface="Calibri"/>
                <a:cs typeface="Calibri"/>
              </a:rPr>
              <a:t> is a promise that a value will not change after initialization. It's about "Read-Only" access.</a:t>
            </a:r>
          </a:p>
          <a:p>
            <a:pPr indent="0" algn="ctr">
              <a:buNone/>
            </a:pPr>
            <a:r>
              <a:rPr lang="en-US" sz="1800" b="1" dirty="0">
                <a:latin typeface="Calibri"/>
                <a:ea typeface="Calibri"/>
                <a:cs typeface="Calibri"/>
              </a:rPr>
              <a:t>For Variables:</a:t>
            </a:r>
          </a:p>
          <a:p>
            <a:pPr indent="0" algn="ctr">
              <a:buNone/>
            </a:pPr>
            <a:r>
              <a:rPr lang="en-US" sz="1800" b="1" dirty="0">
                <a:latin typeface="Calibri"/>
                <a:ea typeface="Calibri"/>
                <a:cs typeface="Calibri"/>
              </a:rPr>
              <a:t>Basic:</a:t>
            </a:r>
            <a:r>
              <a:rPr lang="en-US" sz="1800" dirty="0">
                <a:latin typeface="Calibri"/>
                <a:ea typeface="Calibri"/>
                <a:cs typeface="Calibri"/>
              </a:rPr>
              <a:t> const int x = 10; (You cannot reassign x).</a:t>
            </a:r>
          </a:p>
          <a:p>
            <a:pPr indent="0" algn="ctr">
              <a:buNone/>
            </a:pPr>
            <a:r>
              <a:rPr lang="en-US" sz="1800" b="1" dirty="0">
                <a:latin typeface="Calibri"/>
                <a:ea typeface="Calibri"/>
                <a:cs typeface="Calibri"/>
              </a:rPr>
              <a:t>Pointers:</a:t>
            </a:r>
            <a:r>
              <a:rPr lang="en-US" sz="1800" dirty="0">
                <a:latin typeface="Calibri"/>
                <a:ea typeface="Calibri"/>
                <a:cs typeface="Calibri"/>
              </a:rPr>
              <a:t> This gets tricky depending on where const sits:</a:t>
            </a:r>
          </a:p>
          <a:p>
            <a:pPr marL="285750" indent="-285750" algn="ctr"/>
            <a:r>
              <a:rPr lang="en-US" sz="1800" dirty="0">
                <a:latin typeface="Calibri"/>
                <a:ea typeface="Calibri"/>
                <a:cs typeface="Calibri"/>
              </a:rPr>
              <a:t>const int *</a:t>
            </a:r>
            <a:r>
              <a:rPr lang="en-US" sz="1800" dirty="0" err="1">
                <a:latin typeface="Calibri"/>
                <a:ea typeface="Calibri"/>
                <a:cs typeface="Calibri"/>
              </a:rPr>
              <a:t>ptr</a:t>
            </a:r>
            <a:r>
              <a:rPr lang="en-US" sz="1800" dirty="0">
                <a:latin typeface="Calibri"/>
                <a:ea typeface="Calibri"/>
                <a:cs typeface="Calibri"/>
              </a:rPr>
              <a:t>: The data is constant (you can't change the value </a:t>
            </a:r>
            <a:r>
              <a:rPr lang="en-US" sz="1800" dirty="0" err="1">
                <a:latin typeface="Calibri"/>
                <a:ea typeface="Calibri"/>
                <a:cs typeface="Calibri"/>
              </a:rPr>
              <a:t>ptr</a:t>
            </a:r>
            <a:r>
              <a:rPr lang="en-US" sz="1800" dirty="0">
                <a:latin typeface="Calibri"/>
                <a:ea typeface="Calibri"/>
                <a:cs typeface="Calibri"/>
              </a:rPr>
              <a:t> points to).</a:t>
            </a:r>
          </a:p>
          <a:p>
            <a:pPr marL="285750" indent="-285750" algn="ctr"/>
            <a:r>
              <a:rPr lang="en-US" sz="1800" dirty="0">
                <a:latin typeface="Calibri"/>
                <a:ea typeface="Calibri"/>
                <a:cs typeface="Calibri"/>
              </a:rPr>
              <a:t>int * const </a:t>
            </a:r>
            <a:r>
              <a:rPr lang="en-US" sz="1800" dirty="0" err="1">
                <a:latin typeface="Calibri"/>
                <a:ea typeface="Calibri"/>
                <a:cs typeface="Calibri"/>
              </a:rPr>
              <a:t>ptr</a:t>
            </a:r>
            <a:r>
              <a:rPr lang="en-US" sz="1800" dirty="0">
                <a:latin typeface="Calibri"/>
                <a:ea typeface="Calibri"/>
                <a:cs typeface="Calibri"/>
              </a:rPr>
              <a:t>: The pointer is constant (you can't point to a different address).</a:t>
            </a:r>
          </a:p>
          <a:p>
            <a:pPr indent="0" algn="ctr">
              <a:buNone/>
            </a:pPr>
            <a:r>
              <a:rPr lang="en-US" sz="1800" b="1" dirty="0">
                <a:latin typeface="Calibri"/>
                <a:ea typeface="Calibri"/>
                <a:cs typeface="Calibri"/>
              </a:rPr>
              <a:t>For Functions:</a:t>
            </a:r>
          </a:p>
          <a:p>
            <a:pPr indent="0" algn="ctr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In standard C, you don't really have "const functions" in the way C++ does (where they promise not to modify object members).However, you often see const used in function parameters (e.g., void print(const char *str)) to guarantee the function won't accidentally modify the input data.</a:t>
            </a:r>
            <a:endParaRPr lang="en-GB" sz="17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33664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E1C58-6E1C-2A9F-A193-7B7BEC79D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66A60AD-8CEE-1485-755C-C076C3A393A7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B7B2921-6B60-6EB7-5216-566DFC28EDBD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764700D2-D9AD-CDE1-0A3E-941216433F5E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1883DEB-9C9D-F11B-A379-188D372186E5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C02CE57-519C-A9B7-7F2F-9BF4E8C5E19B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F226E24E-FE9B-42B3-2FF0-37445625136D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CFE5D99C-971A-A05C-BBF9-142E9C059E80}"/>
              </a:ext>
            </a:extLst>
          </p:cNvPr>
          <p:cNvSpPr>
            <a:spLocks noGrp="1"/>
          </p:cNvSpPr>
          <p:nvPr/>
        </p:nvSpPr>
        <p:spPr>
          <a:xfrm>
            <a:off x="5029200" y="2116799"/>
            <a:ext cx="8229600" cy="6053402"/>
          </a:xfrm>
          <a:prstGeom prst="rect">
            <a:avLst/>
          </a:prstGeom>
        </p:spPr>
        <p:txBody>
          <a:bodyPr vert="horz" lIns="34290" tIns="17145" rIns="34290" bIns="17145" rtlCol="0" anchor="t">
            <a:normAutofit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en-US" sz="2400" b="1" dirty="0">
                <a:latin typeface="Calibri"/>
                <a:ea typeface="Calibri"/>
                <a:cs typeface="Calibri"/>
              </a:rPr>
              <a:t>Memory management</a:t>
            </a:r>
          </a:p>
          <a:p>
            <a:pPr indent="0" algn="ctr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  <a:p>
            <a:pPr indent="0" algn="ctr">
              <a:buNone/>
            </a:pPr>
            <a:r>
              <a:rPr lang="en-US" sz="1800" b="1" dirty="0">
                <a:latin typeface="Calibri"/>
                <a:ea typeface="Calibri"/>
                <a:cs typeface="Calibri"/>
              </a:rPr>
              <a:t>The volatile Keyword</a:t>
            </a:r>
          </a:p>
          <a:p>
            <a:pPr indent="0" algn="ctr">
              <a:buNone/>
            </a:pPr>
            <a:r>
              <a:rPr lang="en-US" sz="1800" b="1" dirty="0">
                <a:latin typeface="Calibri"/>
                <a:ea typeface="Calibri"/>
                <a:cs typeface="Calibri"/>
              </a:rPr>
              <a:t>volatile</a:t>
            </a:r>
            <a:r>
              <a:rPr lang="en-US" sz="1800" dirty="0">
                <a:latin typeface="Calibri"/>
                <a:ea typeface="Calibri"/>
                <a:cs typeface="Calibri"/>
              </a:rPr>
              <a:t> tells the compiler: "Don't try to be clever; this value can change </a:t>
            </a:r>
            <a:r>
              <a:rPr lang="en-US" sz="1800" b="1" dirty="0">
                <a:latin typeface="Calibri"/>
                <a:ea typeface="Calibri"/>
                <a:cs typeface="Calibri"/>
              </a:rPr>
              <a:t>at any moment </a:t>
            </a:r>
            <a:r>
              <a:rPr lang="en-US" sz="1800" dirty="0">
                <a:latin typeface="Calibri"/>
                <a:ea typeface="Calibri"/>
                <a:cs typeface="Calibri"/>
              </a:rPr>
              <a:t>without you knowing.“</a:t>
            </a:r>
          </a:p>
          <a:p>
            <a:pPr indent="0" algn="ctr">
              <a:buNone/>
            </a:pPr>
            <a:r>
              <a:rPr lang="en-US" sz="1800" b="1" dirty="0">
                <a:latin typeface="Calibri"/>
                <a:ea typeface="Calibri"/>
                <a:cs typeface="Calibri"/>
              </a:rPr>
              <a:t>For Variables:</a:t>
            </a:r>
          </a:p>
          <a:p>
            <a:pPr indent="0" algn="ctr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It prevents the compiler from performing </a:t>
            </a:r>
            <a:r>
              <a:rPr lang="en-US" sz="1800" b="1" dirty="0">
                <a:latin typeface="Calibri"/>
                <a:ea typeface="Calibri"/>
                <a:cs typeface="Calibri"/>
              </a:rPr>
              <a:t>optimizations</a:t>
            </a:r>
            <a:r>
              <a:rPr lang="en-US" sz="1800" dirty="0">
                <a:latin typeface="Calibri"/>
                <a:ea typeface="Calibri"/>
                <a:cs typeface="Calibri"/>
              </a:rPr>
              <a:t>. Usually, if a compiler sees you checking a variable in a loop and nothing in that loop changes it, it might "cache" the value in a register. </a:t>
            </a:r>
          </a:p>
          <a:p>
            <a:pPr indent="0" algn="ctr">
              <a:buNone/>
            </a:pPr>
            <a:r>
              <a:rPr lang="en-US" sz="1800" b="1" dirty="0">
                <a:latin typeface="Calibri"/>
                <a:ea typeface="Calibri"/>
                <a:cs typeface="Calibri"/>
              </a:rPr>
              <a:t>When to use it</a:t>
            </a:r>
            <a:r>
              <a:rPr lang="en-US" sz="1800" dirty="0">
                <a:latin typeface="Calibri"/>
                <a:ea typeface="Calibri"/>
                <a:cs typeface="Calibri"/>
              </a:rPr>
              <a:t>:</a:t>
            </a:r>
          </a:p>
          <a:p>
            <a:pPr marL="285750" indent="-285750" algn="ctr"/>
            <a:r>
              <a:rPr lang="en-US" sz="1800" dirty="0">
                <a:latin typeface="Calibri"/>
                <a:ea typeface="Calibri"/>
                <a:cs typeface="Calibri"/>
              </a:rPr>
              <a:t>Memory-mapped I/O: Hardware registers that change based on external events.</a:t>
            </a:r>
          </a:p>
          <a:p>
            <a:pPr marL="285750" indent="-285750" algn="ctr"/>
            <a:r>
              <a:rPr lang="en-US" sz="1800" dirty="0">
                <a:latin typeface="Calibri"/>
                <a:ea typeface="Calibri"/>
                <a:cs typeface="Calibri"/>
              </a:rPr>
              <a:t>Interrupt Service Routines (ISRs): Variables modified by an interrupt.</a:t>
            </a:r>
          </a:p>
          <a:p>
            <a:pPr marL="285750" indent="-285750" algn="ctr"/>
            <a:r>
              <a:rPr lang="en-US" sz="1800" dirty="0">
                <a:latin typeface="Calibri"/>
                <a:ea typeface="Calibri"/>
                <a:cs typeface="Calibri"/>
              </a:rPr>
              <a:t>Multi-threaded apps: Variables shared across threads.</a:t>
            </a:r>
          </a:p>
          <a:p>
            <a:pPr indent="0" algn="ctr">
              <a:buNone/>
            </a:pPr>
            <a:r>
              <a:rPr lang="en-US" sz="1800" b="1" dirty="0">
                <a:latin typeface="Calibri"/>
                <a:ea typeface="Calibri"/>
                <a:cs typeface="Calibri"/>
              </a:rPr>
              <a:t>For Functions</a:t>
            </a:r>
            <a:r>
              <a:rPr lang="en-US" sz="1800" dirty="0">
                <a:latin typeface="Calibri"/>
                <a:ea typeface="Calibri"/>
                <a:cs typeface="Calibri"/>
              </a:rPr>
              <a:t>:</a:t>
            </a:r>
          </a:p>
          <a:p>
            <a:pPr indent="0" algn="ctr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Strictly speaking, C doesn't have "volatile functions." However, you can have a function return a volatile value or use volatile pointers within a function to ensure every read/write hits actual memory.</a:t>
            </a:r>
            <a:endParaRPr lang="en-GB" sz="17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77420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93962-0A9E-B5E8-3096-FDE8C1838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B1ABB90-C279-22CC-BB31-4DD7BD2B3514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85298DC-6F01-A6B7-C299-9490EC212EC8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451CBAB2-6B8D-30B6-C992-3AD2A3721DEA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320D116-DBAB-25B1-7573-E0A9C7E46B89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1E3893DB-9196-3C63-FEF1-48B8E2896FA2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7F7482E2-C1F1-4246-F813-ED64607C33A0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1632D50-B3FA-3DC5-0FFE-82C595E0A8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490442"/>
              </p:ext>
            </p:extLst>
          </p:nvPr>
        </p:nvGraphicFramePr>
        <p:xfrm>
          <a:off x="3048000" y="2070100"/>
          <a:ext cx="12192000" cy="2316480"/>
        </p:xfrm>
        <a:graphic>
          <a:graphicData uri="http://schemas.openxmlformats.org/drawingml/2006/table">
            <a:tbl>
              <a:tblPr firstRow="1" firstCol="1" bandRow="1">
                <a:tableStyleId>{18603FDC-E32A-4AB5-989C-0864C3EAD2B8}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08705062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08817223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92959167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1175396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Keyword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</a:rPr>
                        <a:t>Primary Goal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</a:rPr>
                        <a:t>Memory Lifetime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</a:rPr>
                        <a:t>Scope/Visibility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2776265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444746"/>
                          </a:solidFill>
                          <a:effectLst/>
                        </a:rPr>
                        <a:t>static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Persistence/Privacy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Lifetime of program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Limited to file/block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1817927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444746"/>
                          </a:solidFill>
                          <a:effectLst/>
                        </a:rPr>
                        <a:t>const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Read-only safety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Defined by context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Standard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1870768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444746"/>
                          </a:solidFill>
                          <a:effectLst/>
                        </a:rPr>
                        <a:t>volatile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Prevent Optimization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Standard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</a:rPr>
                        <a:t>Standard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171066952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FAFE443-64C6-784A-3C1E-887BE094EA70}"/>
              </a:ext>
            </a:extLst>
          </p:cNvPr>
          <p:cNvSpPr txBox="1"/>
          <p:nvPr/>
        </p:nvSpPr>
        <p:spPr>
          <a:xfrm>
            <a:off x="3048000" y="5143500"/>
            <a:ext cx="10547631" cy="21133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Fun fact: You can use them together! </a:t>
            </a:r>
          </a:p>
          <a:p>
            <a:endParaRPr lang="en-US" dirty="0"/>
          </a:p>
          <a:p>
            <a:pPr>
              <a:lnSpc>
                <a:spcPts val="1425"/>
              </a:lnSpc>
              <a:buNone/>
            </a:pPr>
            <a:r>
              <a:rPr lang="fr-F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volatile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sensor_port</a:t>
            </a:r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fr-F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US" dirty="0"/>
          </a:p>
          <a:p>
            <a:r>
              <a:rPr lang="en-US" dirty="0"/>
              <a:t>This would mean: A variable visible only to this file (</a:t>
            </a:r>
            <a:r>
              <a:rPr lang="en-US" b="1" dirty="0"/>
              <a:t>static</a:t>
            </a:r>
            <a:r>
              <a:rPr lang="en-US" dirty="0"/>
              <a:t>), that the program shouldn't change (</a:t>
            </a:r>
            <a:r>
              <a:rPr lang="en-US" b="1" dirty="0"/>
              <a:t>const</a:t>
            </a:r>
            <a:r>
              <a:rPr lang="en-US" dirty="0"/>
              <a:t>), but the </a:t>
            </a:r>
          </a:p>
          <a:p>
            <a:r>
              <a:rPr lang="en-US" dirty="0"/>
              <a:t>hardware might change it at any time (</a:t>
            </a:r>
            <a:r>
              <a:rPr lang="en-US" b="1" dirty="0"/>
              <a:t>volatile</a:t>
            </a:r>
            <a:r>
              <a:rPr lang="en-US" dirty="0"/>
              <a:t>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545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94635-54EA-8201-115D-EE3CAF0A3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0235770-2B67-196E-F587-D2F069D429FE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CB12A34-973F-2A60-DDD5-713AFEE89842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30242DE-51E7-D50A-7605-FA6E95487272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F17BEDC-E1AA-A2AC-6459-1F57DF94D296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74C175F-2539-0CD7-6CE5-00836C9C8349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34F89815-680E-6D27-FBA2-B8A75744196A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3E114D-1004-D374-F52E-7FC212502288}"/>
              </a:ext>
            </a:extLst>
          </p:cNvPr>
          <p:cNvSpPr/>
          <p:nvPr/>
        </p:nvSpPr>
        <p:spPr>
          <a:xfrm>
            <a:off x="7849837" y="4404836"/>
            <a:ext cx="2588326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401281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90382-5C18-AB42-6DA8-A8EB6181B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3278A19-E974-5767-447F-F2836C000884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5007A6F-474F-6472-8C01-3EA5DCA8D03C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9D0129BA-C643-5089-7184-872D76FC3E0C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8DCB9BD-8EBC-0F9A-2D3B-6DCCD28CA556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D9A6AE7-B074-D4B3-FC3D-105E8E0F97A8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F5CF5DEE-C097-06EA-3556-7D290EF0E316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4B340B03-7617-B5C3-5A99-AF18D4BBAC32}"/>
              </a:ext>
            </a:extLst>
          </p:cNvPr>
          <p:cNvSpPr>
            <a:spLocks noGrp="1"/>
          </p:cNvSpPr>
          <p:nvPr/>
        </p:nvSpPr>
        <p:spPr>
          <a:xfrm>
            <a:off x="5029200" y="3630149"/>
            <a:ext cx="8229600" cy="3418351"/>
          </a:xfrm>
          <a:prstGeom prst="rect">
            <a:avLst/>
          </a:prstGeom>
        </p:spPr>
        <p:txBody>
          <a:bodyPr vert="horz" lIns="34290" tIns="17145" rIns="34290" bIns="17145" rtlCol="0" anchor="t">
            <a:normAutofit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en-US" sz="2400" b="1" dirty="0">
                <a:latin typeface="Calibri"/>
                <a:ea typeface="Calibri"/>
                <a:cs typeface="Calibri"/>
              </a:rPr>
              <a:t>Code </a:t>
            </a:r>
            <a:r>
              <a:rPr lang="en-US" sz="2400" b="1" dirty="0" err="1">
                <a:latin typeface="Calibri"/>
                <a:ea typeface="Calibri"/>
                <a:cs typeface="Calibri"/>
              </a:rPr>
              <a:t>optimisations</a:t>
            </a:r>
            <a:endParaRPr lang="en-US" sz="2400" b="1" dirty="0">
              <a:latin typeface="Calibri"/>
              <a:ea typeface="Calibri"/>
              <a:cs typeface="Calibri"/>
            </a:endParaRPr>
          </a:p>
          <a:p>
            <a:pPr indent="0" algn="ctr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  <a:p>
            <a:pPr indent="0" algn="ctr">
              <a:buNone/>
            </a:pPr>
            <a:r>
              <a:rPr lang="en-US" sz="1800" b="1" dirty="0">
                <a:latin typeface="Calibri"/>
                <a:ea typeface="Calibri"/>
                <a:cs typeface="Calibri"/>
              </a:rPr>
              <a:t>Pre-processor Directives &amp; Macros</a:t>
            </a:r>
          </a:p>
          <a:p>
            <a:pPr indent="0" algn="ctr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The pre-processor is essentially a "</a:t>
            </a:r>
            <a:r>
              <a:rPr lang="en-US" sz="1800" b="1" dirty="0">
                <a:latin typeface="Calibri"/>
                <a:ea typeface="Calibri"/>
                <a:cs typeface="Calibri"/>
              </a:rPr>
              <a:t>search and replace</a:t>
            </a:r>
            <a:r>
              <a:rPr lang="en-US" sz="1800" dirty="0">
                <a:latin typeface="Calibri"/>
                <a:ea typeface="Calibri"/>
                <a:cs typeface="Calibri"/>
              </a:rPr>
              <a:t>" engine that runs before the actual compiler even sees your code.</a:t>
            </a:r>
          </a:p>
          <a:p>
            <a:pPr indent="0" algn="ctr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  <a:p>
            <a:pPr indent="0" algn="ctr">
              <a:buNone/>
            </a:pPr>
            <a:r>
              <a:rPr lang="en-US" sz="1800" b="1" dirty="0">
                <a:latin typeface="Calibri"/>
                <a:ea typeface="Calibri"/>
                <a:cs typeface="Calibri"/>
              </a:rPr>
              <a:t>Mechanism:</a:t>
            </a:r>
            <a:r>
              <a:rPr lang="en-US" sz="1800" dirty="0">
                <a:latin typeface="Calibri"/>
                <a:ea typeface="Calibri"/>
                <a:cs typeface="Calibri"/>
              </a:rPr>
              <a:t> When you use #define MAX(a, b) ((a) &gt; (b) ? (a) : (b)), the pre-processor swaps the text MAX(x, y) with the ternary logic throughout your source file. </a:t>
            </a:r>
          </a:p>
          <a:p>
            <a:pPr indent="0" algn="ctr">
              <a:buNone/>
            </a:pPr>
            <a:r>
              <a:rPr lang="en-US" sz="1800" b="1" dirty="0">
                <a:latin typeface="Calibri"/>
                <a:ea typeface="Calibri"/>
                <a:cs typeface="Calibri"/>
              </a:rPr>
              <a:t>Compiler Behavior:</a:t>
            </a:r>
            <a:r>
              <a:rPr lang="en-US" sz="1800" dirty="0">
                <a:latin typeface="Calibri"/>
                <a:ea typeface="Calibri"/>
                <a:cs typeface="Calibri"/>
              </a:rPr>
              <a:t> The compiler never sees the macro name; it only sees the expanded code. This means there is no function call overhead (no pushing to the stack).</a:t>
            </a:r>
            <a:endParaRPr lang="en-GB" sz="17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650138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9E07E-B530-6BDC-D1BF-49A010F62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AC262B2-B87B-C0B4-C4D9-78081972F036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CFDF431-6C95-E641-F42B-9F4CBBCE6A03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70F916EB-32E8-EF22-0C91-161019F589A8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5137CCE-2645-DFB9-EAE9-C58168A7D953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0C22A37-0ED1-29AA-2E88-B69A2A9598A4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3C32B2FF-8A45-C20C-1401-841F35A548A8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ECCAF285-8BDE-B81F-D23A-9781193AD217}"/>
              </a:ext>
            </a:extLst>
          </p:cNvPr>
          <p:cNvSpPr>
            <a:spLocks noGrp="1"/>
          </p:cNvSpPr>
          <p:nvPr/>
        </p:nvSpPr>
        <p:spPr>
          <a:xfrm>
            <a:off x="5029200" y="3630149"/>
            <a:ext cx="8229600" cy="3646951"/>
          </a:xfrm>
          <a:prstGeom prst="rect">
            <a:avLst/>
          </a:prstGeom>
        </p:spPr>
        <p:txBody>
          <a:bodyPr vert="horz" lIns="34290" tIns="17145" rIns="34290" bIns="17145" rtlCol="0" anchor="t">
            <a:normAutofit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en-US" sz="2400" b="1" dirty="0">
                <a:latin typeface="Calibri"/>
                <a:ea typeface="Calibri"/>
                <a:cs typeface="Calibri"/>
              </a:rPr>
              <a:t>Code optimizations</a:t>
            </a:r>
          </a:p>
          <a:p>
            <a:pPr indent="0" algn="ctr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  <a:p>
            <a:pPr indent="0" algn="ctr">
              <a:buNone/>
            </a:pPr>
            <a:r>
              <a:rPr lang="en-US" sz="1800" b="1" dirty="0">
                <a:latin typeface="Calibri"/>
                <a:ea typeface="Calibri"/>
                <a:cs typeface="Calibri"/>
              </a:rPr>
              <a:t>Inline Functions</a:t>
            </a:r>
          </a:p>
          <a:p>
            <a:pPr indent="0" algn="ctr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The inline keyword is a hint, not a command. You are telling the compiler, "I think it’s cheaper to copy the body of this function here than to jump to a different memory address.“</a:t>
            </a:r>
          </a:p>
          <a:p>
            <a:pPr indent="0" algn="ctr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  <a:p>
            <a:pPr indent="0" algn="ctr">
              <a:buNone/>
            </a:pPr>
            <a:r>
              <a:rPr lang="en-US" sz="1800" b="1" dirty="0">
                <a:latin typeface="Calibri"/>
                <a:ea typeface="Calibri"/>
                <a:cs typeface="Calibri"/>
              </a:rPr>
              <a:t>Mechanism: </a:t>
            </a:r>
            <a:r>
              <a:rPr lang="en-US" sz="1800" dirty="0">
                <a:latin typeface="Calibri"/>
                <a:ea typeface="Calibri"/>
                <a:cs typeface="Calibri"/>
              </a:rPr>
              <a:t>The compiler replaces the function call with the actual code of the function.</a:t>
            </a:r>
          </a:p>
          <a:p>
            <a:pPr indent="0" algn="ctr">
              <a:buNone/>
            </a:pPr>
            <a:r>
              <a:rPr lang="en-US" sz="1800" b="1" dirty="0">
                <a:latin typeface="Calibri"/>
                <a:ea typeface="Calibri"/>
                <a:cs typeface="Calibri"/>
              </a:rPr>
              <a:t>Compiler Behavior: </a:t>
            </a:r>
            <a:r>
              <a:rPr lang="en-US" sz="1800" dirty="0">
                <a:latin typeface="Calibri"/>
                <a:ea typeface="Calibri"/>
                <a:cs typeface="Calibri"/>
              </a:rPr>
              <a:t>Unlike macros, inline functions are processed during the compilation phase. The compiler performs type checking and respects scope.</a:t>
            </a:r>
            <a:endParaRPr lang="en-GB" sz="17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37518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A69B2-3C70-6ECF-35A9-A014B68AF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41AFE65-D807-D2BF-BDC7-E9F26E2DA712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ED82A23-3579-2B63-99E5-3C0D7F6FCEC4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A3F3B5CA-6C70-377D-F837-84C4CED15123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680033D-A142-D7F7-338B-6D761A89D390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D97E6A5-54D3-7C3B-6262-8FB5401CD8AD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3CDAD07F-7684-647E-B0EF-57897911E274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E5FEEEB-1B1B-B600-504E-058B448AFC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2886791"/>
              </p:ext>
            </p:extLst>
          </p:nvPr>
        </p:nvGraphicFramePr>
        <p:xfrm>
          <a:off x="5029200" y="3131820"/>
          <a:ext cx="8229600" cy="4023360"/>
        </p:xfrm>
        <a:graphic>
          <a:graphicData uri="http://schemas.openxmlformats.org/drawingml/2006/table">
            <a:tbl>
              <a:tblPr firstRow="1" firstCol="1" bandRow="1">
                <a:tableStyleId>{18603FDC-E32A-4AB5-989C-0864C3EAD2B8}</a:tableStyleId>
              </a:tblPr>
              <a:tblGrid>
                <a:gridCol w="2836718">
                  <a:extLst>
                    <a:ext uri="{9D8B030D-6E8A-4147-A177-3AD203B41FA5}">
                      <a16:colId xmlns:a16="http://schemas.microsoft.com/office/drawing/2014/main" val="2859591362"/>
                    </a:ext>
                  </a:extLst>
                </a:gridCol>
                <a:gridCol w="2836718">
                  <a:extLst>
                    <a:ext uri="{9D8B030D-6E8A-4147-A177-3AD203B41FA5}">
                      <a16:colId xmlns:a16="http://schemas.microsoft.com/office/drawing/2014/main" val="258689922"/>
                    </a:ext>
                  </a:extLst>
                </a:gridCol>
                <a:gridCol w="2556164">
                  <a:extLst>
                    <a:ext uri="{9D8B030D-6E8A-4147-A177-3AD203B41FA5}">
                      <a16:colId xmlns:a16="http://schemas.microsoft.com/office/drawing/2014/main" val="10120591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</a:rPr>
                        <a:t>Feature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</a:rPr>
                        <a:t>Pre-processor Macro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</a:rPr>
                        <a:t>Inline Function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5658983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</a:rPr>
                        <a:t>Stage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Pre-processing (Textual)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Compilation (Semantic)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470092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</a:rPr>
                        <a:t>Type Safety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None (Dangerous)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Full Type Checking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2218668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</a:rPr>
                        <a:t>Debugging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Difficult (Names disappear)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Easier (Symbols exist)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62705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</a:rPr>
                        <a:t>Evaluation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</a:rPr>
                        <a:t>May evaluate arguments multiple times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Evaluates arguments once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3701773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</a:rPr>
                        <a:t>Best For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Constants, Header Guards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</a:rPr>
                        <a:t>Small, frequently called logic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16331038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4863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2A367-1636-5416-4DDB-7F86E749E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DCEF966-9C26-E870-8C5A-C8AE26908859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E49F26D-3509-AF80-66EB-B04197C48999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01FAFC0F-2689-C34D-16F9-CB5D082D50AD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E2F74E8-2B32-45F7-C040-80844A04FFF8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1883AA8-A2BC-B774-9E22-C4AC990ACBBC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8B0EA98A-8607-74D4-7685-CE281CA21FE5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D0A921EE-1248-2581-6841-593B50BD5F97}"/>
              </a:ext>
            </a:extLst>
          </p:cNvPr>
          <p:cNvSpPr>
            <a:spLocks noGrp="1"/>
          </p:cNvSpPr>
          <p:nvPr/>
        </p:nvSpPr>
        <p:spPr>
          <a:xfrm>
            <a:off x="4572000" y="4238097"/>
            <a:ext cx="7300919" cy="1743603"/>
          </a:xfrm>
          <a:prstGeom prst="rect">
            <a:avLst/>
          </a:prstGeom>
        </p:spPr>
        <p:txBody>
          <a:bodyPr vert="horz" lIns="34290" tIns="17145" rIns="34290" bIns="17145" rtlCol="0" anchor="ctr">
            <a:normAutofit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en-US" sz="5000" dirty="0">
                <a:latin typeface="Calibri"/>
                <a:ea typeface="Calibri"/>
                <a:cs typeface="Calibri"/>
              </a:rPr>
              <a:t>Thank you!</a:t>
            </a:r>
            <a:endParaRPr lang="en-GB" sz="50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18684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LH_LOG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0AD2E"/>
      </a:accent1>
      <a:accent2>
        <a:srgbClr val="EECF6A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2091</TotalTime>
  <Words>820</Words>
  <Application>Microsoft Office PowerPoint</Application>
  <PresentationFormat>Custom</PresentationFormat>
  <Paragraphs>97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Calibri</vt:lpstr>
      <vt:lpstr>Arial</vt:lpstr>
      <vt:lpstr>Poppins Bold</vt:lpstr>
      <vt:lpstr>Wingdings</vt:lpstr>
      <vt:lpstr>Consolas</vt:lpstr>
      <vt:lpstr>Google Sans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IDPS</dc:title>
  <cp:lastModifiedBy>Iosif Eugen</cp:lastModifiedBy>
  <cp:revision>27</cp:revision>
  <dcterms:created xsi:type="dcterms:W3CDTF">2006-08-16T00:00:00Z</dcterms:created>
  <dcterms:modified xsi:type="dcterms:W3CDTF">2026-03-10T17:00:55Z</dcterms:modified>
  <dc:identifier>DAGCdlFyf5Y</dc:identifier>
</cp:coreProperties>
</file>