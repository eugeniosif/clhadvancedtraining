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sldIdLst>
    <p:sldId id="256" r:id="rId5"/>
    <p:sldId id="258" r:id="rId6"/>
    <p:sldId id="259" r:id="rId7"/>
    <p:sldId id="261" r:id="rId8"/>
    <p:sldId id="260" r:id="rId9"/>
    <p:sldId id="270" r:id="rId10"/>
    <p:sldId id="27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 autoAdjust="0"/>
    <p:restoredTop sz="94629" autoAdjust="0"/>
  </p:normalViewPr>
  <p:slideViewPr>
    <p:cSldViewPr>
      <p:cViewPr varScale="1">
        <p:scale>
          <a:sx n="100" d="100"/>
          <a:sy n="100" d="100"/>
        </p:scale>
        <p:origin x="3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02DCC-9720-4D01-AAD3-E935FAF9F82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45E93-C3C4-4565-9FDD-690A7A74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Memory:</a:t>
            </a:r>
            <a:r>
              <a:rPr lang="en-US" dirty="0"/>
              <a:t> The total size is the sum of the sizes of its members (plus some padding for alignment).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45E93-C3C4-4565-9FDD-690A7A74E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39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A3BE-9D0F-841D-8FB9-FEDAD630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06497-8931-2102-7B40-B22652BCA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EE3F2-6893-9424-BCF6-F1A46B834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Memory:</a:t>
            </a:r>
            <a:r>
              <a:rPr lang="en-US" dirty="0"/>
              <a:t> The size of the union is equal to the size of its </a:t>
            </a:r>
            <a:r>
              <a:rPr lang="en-US" b="1" dirty="0"/>
              <a:t>largest</a:t>
            </a:r>
            <a:r>
              <a:rPr lang="en-US" dirty="0"/>
              <a:t> member.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3C512-9C5F-2D06-D366-8ED5EDCDB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45E93-C3C4-4565-9FDD-690A7A74E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67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47ED-1FC8-3786-479D-03179FDB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7F2DB-FBE0-516B-73A4-C5EBEBAD4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96CFC-65AC-74B5-4DAF-1CD9701DA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Memory:</a:t>
            </a:r>
            <a:r>
              <a:rPr lang="en-US" dirty="0"/>
              <a:t> The size of the union is equal to the size of its </a:t>
            </a:r>
            <a:r>
              <a:rPr lang="en-US" b="1" dirty="0"/>
              <a:t>largest</a:t>
            </a:r>
            <a:r>
              <a:rPr lang="en-US" dirty="0"/>
              <a:t> member.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5A46-FB5A-4E17-AA4C-56C182B79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45E93-C3C4-4565-9FDD-690A7A74E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3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3278" y="2615657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3243554" y="-1718684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28800" y="2396116"/>
            <a:ext cx="7315200" cy="3604399"/>
          </a:xfrm>
          <a:custGeom>
            <a:avLst/>
            <a:gdLst/>
            <a:ahLst/>
            <a:cxnLst/>
            <a:rect l="l" t="t" r="r" b="b"/>
            <a:pathLst>
              <a:path w="7315200" h="3604399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8"/>
          <p:cNvSpPr txBox="1"/>
          <p:nvPr/>
        </p:nvSpPr>
        <p:spPr>
          <a:xfrm>
            <a:off x="2228216" y="6154626"/>
            <a:ext cx="6915784" cy="50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1" dirty="0">
                <a:solidFill>
                  <a:srgbClr val="1D1D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Bold"/>
              </a:rPr>
              <a:t>Your partner for vehicle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4B340B03-7617-B5C3-5A99-AF18D4BBAC32}"/>
              </a:ext>
            </a:extLst>
          </p:cNvPr>
          <p:cNvSpPr>
            <a:spLocks noGrp="1"/>
          </p:cNvSpPr>
          <p:nvPr/>
        </p:nvSpPr>
        <p:spPr>
          <a:xfrm>
            <a:off x="5029200" y="4259006"/>
            <a:ext cx="8229600" cy="1768988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"user-defined" data types.</a:t>
            </a: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 user-defined data type is a data “</a:t>
            </a:r>
            <a:r>
              <a:rPr lang="en-US" sz="1800" b="1" dirty="0">
                <a:latin typeface="Calibri"/>
                <a:ea typeface="Calibri"/>
                <a:cs typeface="Calibri"/>
              </a:rPr>
              <a:t>collection</a:t>
            </a:r>
            <a:r>
              <a:rPr lang="en-US" sz="1800" dirty="0">
                <a:latin typeface="Calibri"/>
                <a:ea typeface="Calibri"/>
                <a:cs typeface="Calibri"/>
              </a:rPr>
              <a:t>” that can be used to group items of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possibly</a:t>
            </a:r>
            <a:r>
              <a:rPr lang="en-US" sz="1800" dirty="0">
                <a:latin typeface="Calibri"/>
                <a:ea typeface="Calibri"/>
                <a:cs typeface="Calibri"/>
              </a:rPr>
              <a:t> different types into a single type, </a:t>
            </a:r>
            <a:r>
              <a:rPr lang="en-US" sz="1800" dirty="0"/>
              <a:t>in ways that standard integers or floats can't handle on their own</a:t>
            </a:r>
            <a:r>
              <a:rPr lang="en-US" sz="1800" dirty="0"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10" name="Picture 9" descr="A cartoon character sitting and reading a book&#10;&#10;AI-generated content may be incorrect.">
            <a:extLst>
              <a:ext uri="{FF2B5EF4-FFF2-40B4-BE49-F238E27FC236}">
                <a16:creationId xmlns:a16="http://schemas.microsoft.com/office/drawing/2014/main" id="{1982BA28-8FBE-DC1C-0511-710318D3D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5143500"/>
            <a:ext cx="2895600" cy="30890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126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7F274A-0403-E2D1-71A3-ADD15216C1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4076700"/>
            <a:ext cx="3163529" cy="2971800"/>
          </a:xfrm>
          <a:prstGeom prst="rect">
            <a:avLst/>
          </a:prstGeom>
        </p:spPr>
      </p:pic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7437B530-92B1-2726-1976-3F305AFA545E}"/>
              </a:ext>
            </a:extLst>
          </p:cNvPr>
          <p:cNvSpPr>
            <a:spLocks noGrp="1"/>
          </p:cNvSpPr>
          <p:nvPr/>
        </p:nvSpPr>
        <p:spPr>
          <a:xfrm>
            <a:off x="1981200" y="3311546"/>
            <a:ext cx="3505200" cy="1768988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"user-defined" data types.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/>
              <a:t>Structures </a:t>
            </a:r>
            <a:r>
              <a:rPr lang="en-US" sz="1800" dirty="0">
                <a:latin typeface="Calibri"/>
                <a:ea typeface="Calibri"/>
                <a:cs typeface="Calibri"/>
              </a:rPr>
              <a:t>(struct)</a:t>
            </a:r>
          </a:p>
          <a:p>
            <a:pPr indent="0" algn="ctr">
              <a:buNone/>
            </a:pPr>
            <a:r>
              <a:rPr lang="en-US" sz="1800" dirty="0"/>
              <a:t>Unions (union)</a:t>
            </a:r>
          </a:p>
          <a:p>
            <a:pPr indent="0" algn="ctr">
              <a:buNone/>
            </a:pPr>
            <a:r>
              <a:rPr lang="en-US" sz="1800" dirty="0"/>
              <a:t>Enumerations (</a:t>
            </a:r>
            <a:r>
              <a:rPr lang="en-US" sz="1800" dirty="0" err="1"/>
              <a:t>enum</a:t>
            </a:r>
            <a:r>
              <a:rPr lang="en-US" sz="1800" dirty="0"/>
              <a:t>)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54831-363F-EE21-E55B-3A8EA96D2FAF}"/>
              </a:ext>
            </a:extLst>
          </p:cNvPr>
          <p:cNvSpPr txBox="1"/>
          <p:nvPr/>
        </p:nvSpPr>
        <p:spPr>
          <a:xfrm>
            <a:off x="7364271" y="2038350"/>
            <a:ext cx="2576512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alibri" panose="020F0502020204030204" pitchFamily="34" charset="0"/>
              </a:rPr>
              <a:t>Student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char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50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alibri" panose="020F0502020204030204" pitchFamily="34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float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alibri" panose="020F0502020204030204" pitchFamily="34" charset="0"/>
              </a:rPr>
              <a:t>grade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64BEE6-E891-9BE0-92EB-EEB8C29AC93E}"/>
              </a:ext>
            </a:extLst>
          </p:cNvPr>
          <p:cNvSpPr txBox="1"/>
          <p:nvPr/>
        </p:nvSpPr>
        <p:spPr>
          <a:xfrm>
            <a:off x="8236744" y="3372125"/>
            <a:ext cx="2347912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union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alibri" panose="020F0502020204030204" pitchFamily="34" charset="0"/>
              </a:rPr>
              <a:t>Data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float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f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char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str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20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77C85-E3B6-02E3-6A30-C8F9370A2BD7}"/>
              </a:ext>
            </a:extLst>
          </p:cNvPr>
          <p:cNvSpPr txBox="1"/>
          <p:nvPr/>
        </p:nvSpPr>
        <p:spPr>
          <a:xfrm>
            <a:off x="6918467" y="4708059"/>
            <a:ext cx="2286000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enum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alibri" panose="020F0502020204030204" pitchFamily="34" charset="0"/>
              </a:rPr>
              <a:t>Level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4FC1FF"/>
                </a:solidFill>
                <a:effectLst/>
                <a:latin typeface="Calibri" panose="020F0502020204030204" pitchFamily="34" charset="0"/>
              </a:rPr>
              <a:t>LOW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,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   // 0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4FC1FF"/>
                </a:solidFill>
                <a:effectLst/>
                <a:latin typeface="Calibri" panose="020F0502020204030204" pitchFamily="34" charset="0"/>
              </a:rPr>
              <a:t>MEDIUM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,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1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4FC1FF"/>
                </a:solidFill>
                <a:effectLst/>
                <a:latin typeface="Calibri" panose="020F0502020204030204" pitchFamily="34" charset="0"/>
              </a:rPr>
              <a:t>HIGH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   // 2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};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B766EB-2C64-3626-6558-A3EEC01603D7}"/>
              </a:ext>
            </a:extLst>
          </p:cNvPr>
          <p:cNvSpPr txBox="1"/>
          <p:nvPr/>
        </p:nvSpPr>
        <p:spPr>
          <a:xfrm>
            <a:off x="1981200" y="6196765"/>
            <a:ext cx="8901112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alibri" panose="020F0502020204030204" pitchFamily="34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"the size of the struct is: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%</a:t>
            </a:r>
            <a:r>
              <a:rPr lang="en-US" b="0" dirty="0" err="1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lu</a:t>
            </a:r>
            <a:r>
              <a:rPr lang="en-US" b="0" dirty="0">
                <a:solidFill>
                  <a:srgbClr val="D7BA7D"/>
                </a:solidFill>
                <a:effectLst/>
                <a:latin typeface="Calibri" panose="020F0502020204030204" pitchFamily="34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sizeof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alibri" panose="020F0502020204030204" pitchFamily="34" charset="0"/>
              </a:rPr>
              <a:t>Student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alibri" panose="020F0502020204030204" pitchFamily="34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"the size of the union is: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%</a:t>
            </a:r>
            <a:r>
              <a:rPr lang="en-US" b="0" dirty="0" err="1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lu</a:t>
            </a:r>
            <a:r>
              <a:rPr lang="en-US" b="0" dirty="0">
                <a:solidFill>
                  <a:srgbClr val="D7BA7D"/>
                </a:solidFill>
                <a:effectLst/>
                <a:latin typeface="Calibri" panose="020F0502020204030204" pitchFamily="34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sizeof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union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alibri" panose="020F0502020204030204" pitchFamily="34" charset="0"/>
              </a:rPr>
              <a:t>Data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alibri" panose="020F0502020204030204" pitchFamily="34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"the value of </a:t>
            </a:r>
            <a:r>
              <a:rPr lang="en-US" b="0" dirty="0" err="1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myVar</a:t>
            </a:r>
            <a:r>
              <a:rPr lang="en-US" b="0" dirty="0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 is: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%d</a:t>
            </a:r>
            <a:r>
              <a:rPr lang="en-US" b="0" dirty="0">
                <a:solidFill>
                  <a:srgbClr val="D7BA7D"/>
                </a:solidFill>
                <a:effectLst/>
                <a:latin typeface="Calibri" panose="020F0502020204030204" pitchFamily="34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alibri" panose="020F0502020204030204" pitchFamily="34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myVar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);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F42FB2B-5F1F-B5B5-0615-6DAB0BB52B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919" y="7181549"/>
            <a:ext cx="3134162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4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6137-9F0B-DDAA-AB5E-3B293C4E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F8F642-C7A6-6281-66A3-53E08200082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4CCB1C6-BE9F-46ED-4E97-A405C36C03B4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3912CF6-9319-4424-E705-9EF721C335E9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D73B6B6-926A-9DD5-0256-6D7E0960EF4C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AB0070F-639F-EA55-23A0-B2147E73AA4A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75F4D5D-2DAE-A138-88A4-F82B0D5291F7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CC854C-56C5-F452-1769-5995E2BE3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716475"/>
              </p:ext>
            </p:extLst>
          </p:nvPr>
        </p:nvGraphicFramePr>
        <p:xfrm>
          <a:off x="5043295" y="2875350"/>
          <a:ext cx="8201409" cy="4536300"/>
        </p:xfrm>
        <a:graphic>
          <a:graphicData uri="http://schemas.openxmlformats.org/drawingml/2006/table">
            <a:tbl>
              <a:tblPr firstRow="1" firstCol="1" lastCol="1" bandRow="1">
                <a:tableStyleId>{284E427A-3D55-4303-BF80-6455036E1DE7}</a:tableStyleId>
              </a:tblPr>
              <a:tblGrid>
                <a:gridCol w="2102333">
                  <a:extLst>
                    <a:ext uri="{9D8B030D-6E8A-4147-A177-3AD203B41FA5}">
                      <a16:colId xmlns:a16="http://schemas.microsoft.com/office/drawing/2014/main" val="267011061"/>
                    </a:ext>
                  </a:extLst>
                </a:gridCol>
                <a:gridCol w="2102333">
                  <a:extLst>
                    <a:ext uri="{9D8B030D-6E8A-4147-A177-3AD203B41FA5}">
                      <a16:colId xmlns:a16="http://schemas.microsoft.com/office/drawing/2014/main" val="1903197168"/>
                    </a:ext>
                  </a:extLst>
                </a:gridCol>
                <a:gridCol w="2102333">
                  <a:extLst>
                    <a:ext uri="{9D8B030D-6E8A-4147-A177-3AD203B41FA5}">
                      <a16:colId xmlns:a16="http://schemas.microsoft.com/office/drawing/2014/main" val="434586358"/>
                    </a:ext>
                  </a:extLst>
                </a:gridCol>
                <a:gridCol w="1894410">
                  <a:extLst>
                    <a:ext uri="{9D8B030D-6E8A-4147-A177-3AD203B41FA5}">
                      <a16:colId xmlns:a16="http://schemas.microsoft.com/office/drawing/2014/main" val="3618721465"/>
                    </a:ext>
                  </a:extLst>
                </a:gridCol>
              </a:tblGrid>
              <a:tr h="5771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Member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Size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Running Total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Alignment Rule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91127" marT="151878" marB="151878" anchor="ctr"/>
                </a:tc>
                <a:extLst>
                  <a:ext uri="{0D108BD9-81ED-4DB2-BD59-A6C34878D82A}">
                    <a16:rowId xmlns:a16="http://schemas.microsoft.com/office/drawing/2014/main" val="1527586023"/>
                  </a:ext>
                </a:extLst>
              </a:tr>
              <a:tr h="11238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</a:rPr>
                        <a:t>char name[50]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50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50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Starts at offset 0 (chars can start anywhere).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91127" marT="151878" marB="151878" anchor="ctr"/>
                </a:tc>
                <a:extLst>
                  <a:ext uri="{0D108BD9-81ED-4DB2-BD59-A6C34878D82A}">
                    <a16:rowId xmlns:a16="http://schemas.microsoft.com/office/drawing/2014/main" val="121169399"/>
                  </a:ext>
                </a:extLst>
              </a:tr>
              <a:tr h="11238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Padding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2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52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Added so the next </a:t>
                      </a: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</a:rPr>
                        <a:t>int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starts on a multiple of 4.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91127" marT="151878" marB="151878" anchor="ctr"/>
                </a:tc>
                <a:extLst>
                  <a:ext uri="{0D108BD9-81ED-4DB2-BD59-A6C34878D82A}">
                    <a16:rowId xmlns:a16="http://schemas.microsoft.com/office/drawing/2014/main" val="3620952375"/>
                  </a:ext>
                </a:extLst>
              </a:tr>
              <a:tr h="8505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</a:rPr>
                        <a:t>int id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4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56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Starts at offset 52 (divisible by 4).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91127" marT="151878" marB="151878" anchor="ctr"/>
                </a:tc>
                <a:extLst>
                  <a:ext uri="{0D108BD9-81ED-4DB2-BD59-A6C34878D82A}">
                    <a16:rowId xmlns:a16="http://schemas.microsoft.com/office/drawing/2014/main" val="4283922131"/>
                  </a:ext>
                </a:extLst>
              </a:tr>
              <a:tr h="8505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</a:rPr>
                        <a:t>float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</a:rPr>
                        <a:t>gpa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4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60 bytes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113908" marT="151878" marB="15187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Starts at offset 56 (divisible by 4).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127" marR="91127" marT="151878" marB="151878" anchor="ctr"/>
                </a:tc>
                <a:extLst>
                  <a:ext uri="{0D108BD9-81ED-4DB2-BD59-A6C34878D82A}">
                    <a16:rowId xmlns:a16="http://schemas.microsoft.com/office/drawing/2014/main" val="97971424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7CD29B0-6698-4803-D057-0D3C5EC24BA2}"/>
              </a:ext>
            </a:extLst>
          </p:cNvPr>
          <p:cNvSpPr txBox="1"/>
          <p:nvPr/>
        </p:nvSpPr>
        <p:spPr>
          <a:xfrm>
            <a:off x="3376172" y="2057400"/>
            <a:ext cx="2391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Structures </a:t>
            </a:r>
          </a:p>
        </p:txBody>
      </p:sp>
    </p:spTree>
    <p:extLst>
      <p:ext uri="{BB962C8B-B14F-4D97-AF65-F5344CB8AC3E}">
        <p14:creationId xmlns:p14="http://schemas.microsoft.com/office/powerpoint/2010/main" val="310844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7ECC-4151-7AB0-84BA-B3CA7D2F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E5B0B8-30FB-89BC-90EA-8DF66374572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367D2C0-0B3D-9617-C868-00559F688FC5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003A035-B23B-2B81-614E-2607EAE0FB0A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33F4665-9451-E125-EC40-150E7C90D1A8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8FFBA86-B545-8B8B-8B57-B074681D2E7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E1CADAE-5294-10F6-8833-74F06BC2483C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363DDE71-B93D-0BBC-CD0C-6C04A7F057FF}"/>
              </a:ext>
            </a:extLst>
          </p:cNvPr>
          <p:cNvSpPr>
            <a:spLocks noGrp="1"/>
          </p:cNvSpPr>
          <p:nvPr/>
        </p:nvSpPr>
        <p:spPr>
          <a:xfrm>
            <a:off x="5029200" y="3434325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 fontScale="92500" lnSpcReduction="20000"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Memory </a:t>
            </a:r>
            <a:r>
              <a:rPr lang="en-US" sz="2400" b="1" dirty="0" err="1">
                <a:latin typeface="Calibri"/>
                <a:ea typeface="Calibri"/>
                <a:cs typeface="Calibri"/>
              </a:rPr>
              <a:t>Allignment</a:t>
            </a: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Memory alignment means placing variables in memory at addresses that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match their size</a:t>
            </a:r>
            <a:r>
              <a:rPr lang="en-US" sz="2400" dirty="0">
                <a:latin typeface="Calibri"/>
                <a:ea typeface="Calibri"/>
                <a:cs typeface="Calibri"/>
              </a:rPr>
              <a:t>.</a:t>
            </a:r>
          </a:p>
          <a:p>
            <a:pPr indent="0" algn="ctr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For example:</a:t>
            </a:r>
          </a:p>
          <a:p>
            <a:pPr indent="0" algn="ctr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- A 4-byte int should be placed at a memory address divisible by 4</a:t>
            </a:r>
          </a:p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- An 8-byte double at an address divisible by 8</a:t>
            </a:r>
          </a:p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Accessing unaligned memory can slow down performance.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C25A3-1050-10AA-F37C-BB24DB37D22D}"/>
              </a:ext>
            </a:extLst>
          </p:cNvPr>
          <p:cNvSpPr txBox="1"/>
          <p:nvPr/>
        </p:nvSpPr>
        <p:spPr>
          <a:xfrm>
            <a:off x="3376172" y="2057400"/>
            <a:ext cx="2391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Structures </a:t>
            </a:r>
          </a:p>
        </p:txBody>
      </p:sp>
    </p:spTree>
    <p:extLst>
      <p:ext uri="{BB962C8B-B14F-4D97-AF65-F5344CB8AC3E}">
        <p14:creationId xmlns:p14="http://schemas.microsoft.com/office/powerpoint/2010/main" val="327531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A48A-8154-9614-9DC0-19608431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3F92C8-D49C-1077-6BB6-18E8EE48FA9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DB2D8E-B970-EB03-058C-B8FBC53E2687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718D64-5755-93E1-9D72-A90FA359ABD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87C2819-BD0F-BD47-5F78-BE0605A86E65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9592ED3-E905-2F23-4892-C90F3C4D7DDE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1649DB1-BBB6-3901-D080-DA216C92726A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06FC7-FAD2-4D3B-EFCC-9233DC489602}"/>
              </a:ext>
            </a:extLst>
          </p:cNvPr>
          <p:cNvSpPr txBox="1"/>
          <p:nvPr/>
        </p:nvSpPr>
        <p:spPr>
          <a:xfrm>
            <a:off x="3376172" y="2057400"/>
            <a:ext cx="1500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Unions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CDC3BE0F-2107-0E56-E1AA-9186060C63C1}"/>
              </a:ext>
            </a:extLst>
          </p:cNvPr>
          <p:cNvSpPr>
            <a:spLocks noGrp="1"/>
          </p:cNvSpPr>
          <p:nvPr/>
        </p:nvSpPr>
        <p:spPr>
          <a:xfrm>
            <a:off x="5029200" y="4365112"/>
            <a:ext cx="8229600" cy="1556775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A union looks exactly like a struct, but it works very differently. All members in a union share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the same memory location</a:t>
            </a:r>
            <a:r>
              <a:rPr lang="en-US" sz="2400" dirty="0">
                <a:latin typeface="Calibri"/>
                <a:ea typeface="Calibri"/>
                <a:cs typeface="Calibri"/>
              </a:rPr>
              <a:t>. You can define many members, but you can only store a value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in one of them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at any given time</a:t>
            </a:r>
            <a:r>
              <a:rPr lang="en-US" sz="2400" dirty="0">
                <a:latin typeface="Calibri"/>
                <a:ea typeface="Calibri"/>
                <a:cs typeface="Calibri"/>
              </a:rPr>
              <a:t>.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239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38AB-431C-4610-57E2-BD00041C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64F9A1-B9CB-9CB6-A246-F8C207969F1D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D02A4D-24FB-AF30-1B69-CF762482ADB5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E432257-798B-6DEF-E389-28195ABF190E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6B06EC0-87AF-6B55-CC68-F2D9E848BBE4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704BCAF-E24F-5E7A-AEEE-40B5C308C337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317D01F-F9C0-DA36-1A4C-502A7D9579A9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6A4C4-872B-F5A9-4789-74A39798289A}"/>
              </a:ext>
            </a:extLst>
          </p:cNvPr>
          <p:cNvSpPr txBox="1"/>
          <p:nvPr/>
        </p:nvSpPr>
        <p:spPr>
          <a:xfrm>
            <a:off x="3376172" y="2057400"/>
            <a:ext cx="1500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Unions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91899940-AB6D-410B-8075-677766D8BE9E}"/>
              </a:ext>
            </a:extLst>
          </p:cNvPr>
          <p:cNvSpPr>
            <a:spLocks noGrp="1"/>
          </p:cNvSpPr>
          <p:nvPr/>
        </p:nvSpPr>
        <p:spPr>
          <a:xfrm>
            <a:off x="3286779" y="3619500"/>
            <a:ext cx="9972021" cy="4267200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5E56C-99E2-87E0-97BA-C8C8C3264289}"/>
              </a:ext>
            </a:extLst>
          </p:cNvPr>
          <p:cNvSpPr txBox="1"/>
          <p:nvPr/>
        </p:nvSpPr>
        <p:spPr>
          <a:xfrm>
            <a:off x="4126486" y="3115188"/>
            <a:ext cx="5314950" cy="405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typedef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union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alibri" panose="020F0502020204030204" pitchFamily="34" charset="0"/>
              </a:rPr>
              <a:t>reg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b0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0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1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b2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2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b3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3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b4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4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b5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5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b6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6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b7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7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b8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8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b9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 9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b10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bit10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b11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bit11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b12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bit12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b13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bit13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b14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bit14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b15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 : </a:t>
            </a:r>
            <a:r>
              <a:rPr lang="en-US" b="0" dirty="0">
                <a:solidFill>
                  <a:srgbClr val="B5CEA8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alibri" panose="020F0502020204030204" pitchFamily="34" charset="0"/>
              </a:rPr>
              <a:t> // bit15</a:t>
            </a:r>
            <a:endParaRPr lang="en-US" b="0" dirty="0">
              <a:solidFill>
                <a:srgbClr val="D4D4D4"/>
              </a:solidFill>
              <a:effectLst/>
              <a:latin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    } </a:t>
            </a:r>
            <a:r>
              <a:rPr lang="en-US" b="0" dirty="0">
                <a:solidFill>
                  <a:srgbClr val="9CDCFE"/>
                </a:solidFill>
                <a:effectLst/>
                <a:latin typeface="Calibri" panose="020F0502020204030204" pitchFamily="34" charset="0"/>
              </a:rPr>
              <a:t>bits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} </a:t>
            </a:r>
            <a:r>
              <a:rPr lang="en-US" b="0" dirty="0">
                <a:solidFill>
                  <a:srgbClr val="4EC9B0"/>
                </a:solidFill>
                <a:effectLst/>
                <a:latin typeface="Calibri" panose="020F0502020204030204" pitchFamily="34" charset="0"/>
              </a:rPr>
              <a:t>reg</a:t>
            </a:r>
            <a:r>
              <a:rPr lang="en-US" b="0" dirty="0">
                <a:solidFill>
                  <a:srgbClr val="D4D4D4"/>
                </a:solidFill>
                <a:effectLst/>
                <a:latin typeface="Calibri" panose="020F050202020403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9014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B518-79D2-0EC2-6473-2194A0BED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E4C7C2B-4016-B6D9-DC3F-908C111B56E2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14545F-DF75-295A-48BA-1B266F2159C9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40526F8-3F5B-CD0E-51B4-5E26EFE4CFE8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AE4CA07-156A-CF50-3BA3-E4BF0AD81851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1DC46FB-F17D-0E98-6493-06A7707035E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4C04119-EE5B-99C6-71D7-FE8E8C49B6C2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E757C-92C5-8F6F-4E41-D1538BB5B8FE}"/>
              </a:ext>
            </a:extLst>
          </p:cNvPr>
          <p:cNvSpPr txBox="1"/>
          <p:nvPr/>
        </p:nvSpPr>
        <p:spPr>
          <a:xfrm>
            <a:off x="3376172" y="2057400"/>
            <a:ext cx="2872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Enumerations 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6FB17F7-9B87-BA78-3655-F24B501A38C3}"/>
              </a:ext>
            </a:extLst>
          </p:cNvPr>
          <p:cNvSpPr>
            <a:spLocks noGrp="1"/>
          </p:cNvSpPr>
          <p:nvPr/>
        </p:nvSpPr>
        <p:spPr>
          <a:xfrm>
            <a:off x="5029200" y="4365112"/>
            <a:ext cx="8229600" cy="1556775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In C, an enumeration (or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enum</a:t>
            </a:r>
            <a:r>
              <a:rPr lang="en-US" sz="2400" dirty="0">
                <a:latin typeface="Calibri"/>
                <a:ea typeface="Calibri"/>
                <a:cs typeface="Calibri"/>
              </a:rPr>
              <a:t>) is a user-defined data type that contains a set of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named integer constants</a:t>
            </a:r>
            <a:r>
              <a:rPr lang="en-US" sz="2400" dirty="0">
                <a:latin typeface="Calibri"/>
                <a:ea typeface="Calibri"/>
                <a:cs typeface="Calibri"/>
              </a:rPr>
              <a:t>. It is used to assign meaningful names to integer values, which makes a program easy to read and maintain.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057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484D9-8049-A732-83E9-0939D4EA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EF204B-E7ED-F7C8-F4A3-C2DA6DDD74FA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F01DD88-A279-8959-BD47-61434C8D96B0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32E176E-66F3-3F39-4E3D-CE23170348DF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B6CF045-2736-C782-15E9-C0B4E68501A0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9ED3E36-37DC-1668-7780-1EBFF9A59F31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678AA76-BE75-DBCF-E287-351FCD5B7334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981319-BFAC-4828-91CA-EEFD036F3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937408"/>
              </p:ext>
            </p:extLst>
          </p:nvPr>
        </p:nvGraphicFramePr>
        <p:xfrm>
          <a:off x="5029200" y="3009900"/>
          <a:ext cx="8229599" cy="426720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2109559">
                  <a:extLst>
                    <a:ext uri="{9D8B030D-6E8A-4147-A177-3AD203B41FA5}">
                      <a16:colId xmlns:a16="http://schemas.microsoft.com/office/drawing/2014/main" val="342481370"/>
                    </a:ext>
                  </a:extLst>
                </a:gridCol>
                <a:gridCol w="2109559">
                  <a:extLst>
                    <a:ext uri="{9D8B030D-6E8A-4147-A177-3AD203B41FA5}">
                      <a16:colId xmlns:a16="http://schemas.microsoft.com/office/drawing/2014/main" val="1166393294"/>
                    </a:ext>
                  </a:extLst>
                </a:gridCol>
                <a:gridCol w="2109559">
                  <a:extLst>
                    <a:ext uri="{9D8B030D-6E8A-4147-A177-3AD203B41FA5}">
                      <a16:colId xmlns:a16="http://schemas.microsoft.com/office/drawing/2014/main" val="3703434002"/>
                    </a:ext>
                  </a:extLst>
                </a:gridCol>
                <a:gridCol w="1900922">
                  <a:extLst>
                    <a:ext uri="{9D8B030D-6E8A-4147-A177-3AD203B41FA5}">
                      <a16:colId xmlns:a16="http://schemas.microsoft.com/office/drawing/2014/main" val="3253212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Structure (struct)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Union (union)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Enum (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</a:rPr>
                        <a:t>enum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78295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Keyword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</a:rPr>
                        <a:t>struct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</a:rPr>
                        <a:t>union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444746"/>
                          </a:solidFill>
                          <a:effectLst/>
                        </a:rPr>
                        <a:t>enum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540776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Memory Allocation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Each member gets its own space.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All members share the same space.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Only enough for one integer.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859810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Access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All members can be accessed at once.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Only one member can be used at a time.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Used to select one constant from a list.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93422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Typical Use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Modeling complex objects.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Memory optimization/Type punning.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Improving code readability.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834964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29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H_LOG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0AD2E"/>
      </a:accent1>
      <a:accent2>
        <a:srgbClr val="EECF6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14345C18FC194E88E43B05A6AF2B0D" ma:contentTypeVersion="9" ma:contentTypeDescription="Create a new document." ma:contentTypeScope="" ma:versionID="87a79e9d2a755d3af92897c072b5d2bf">
  <xsd:schema xmlns:xsd="http://www.w3.org/2001/XMLSchema" xmlns:xs="http://www.w3.org/2001/XMLSchema" xmlns:p="http://schemas.microsoft.com/office/2006/metadata/properties" xmlns:ns3="042b6842-58fe-4bd7-a47d-faaa1d4b276a" targetNamespace="http://schemas.microsoft.com/office/2006/metadata/properties" ma:root="true" ma:fieldsID="4b9893e7f259ca9f52de925f9f64aba1" ns3:_="">
    <xsd:import namespace="042b6842-58fe-4bd7-a47d-faaa1d4b276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b6842-58fe-4bd7-a47d-faaa1d4b276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2b6842-58fe-4bd7-a47d-faaa1d4b276a" xsi:nil="true"/>
  </documentManagement>
</p:properties>
</file>

<file path=customXml/itemProps1.xml><?xml version="1.0" encoding="utf-8"?>
<ds:datastoreItem xmlns:ds="http://schemas.openxmlformats.org/officeDocument/2006/customXml" ds:itemID="{20D35952-9828-4A71-90DA-2DC64BCD8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2b6842-58fe-4bd7-a47d-faaa1d4b27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65AD00-6C69-4EE7-8CA2-142F900286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2766D3-D423-42F8-8589-08CB73B735BA}">
  <ds:schemaRefs>
    <ds:schemaRef ds:uri="http://schemas.microsoft.com/office/2006/metadata/properties"/>
    <ds:schemaRef ds:uri="http://schemas.microsoft.com/office/infopath/2007/PartnerControls"/>
    <ds:schemaRef ds:uri="042b6842-58fe-4bd7-a47d-faaa1d4b276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708</Words>
  <Application>Microsoft Office PowerPoint</Application>
  <PresentationFormat>Custom</PresentationFormat>
  <Paragraphs>111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IDPS</dc:title>
  <cp:lastModifiedBy>Iosif Eugen</cp:lastModifiedBy>
  <cp:revision>47</cp:revision>
  <dcterms:created xsi:type="dcterms:W3CDTF">2006-08-16T00:00:00Z</dcterms:created>
  <dcterms:modified xsi:type="dcterms:W3CDTF">2026-04-20T14:39:28Z</dcterms:modified>
  <dc:identifier>DAGCdlFyf5Y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0x010100D314345C18FC194E88E43B05A6AF2B0D</vt:lpwstr>
  </property>
</Properties>
</file>