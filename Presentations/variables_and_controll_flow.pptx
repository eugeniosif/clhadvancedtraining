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60" r:id="rId3"/>
    <p:sldId id="272" r:id="rId4"/>
    <p:sldId id="284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85" r:id="rId16"/>
    <p:sldId id="281" r:id="rId17"/>
    <p:sldId id="300" r:id="rId18"/>
    <p:sldId id="296" r:id="rId19"/>
    <p:sldId id="301" r:id="rId20"/>
    <p:sldId id="302" r:id="rId21"/>
    <p:sldId id="303" r:id="rId22"/>
    <p:sldId id="304" r:id="rId23"/>
    <p:sldId id="271" r:id="rId24"/>
  </p:sldIdLst>
  <p:sldSz cx="18288000" cy="10287000"/>
  <p:notesSz cx="6858000" cy="9144000"/>
  <p:embeddedFontLst>
    <p:embeddedFont>
      <p:font typeface="Poppins Bold" panose="020B0604020202020204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76897" autoAdjust="0"/>
  </p:normalViewPr>
  <p:slideViewPr>
    <p:cSldViewPr>
      <p:cViewPr varScale="1">
        <p:scale>
          <a:sx n="81" d="100"/>
          <a:sy n="81" d="100"/>
        </p:scale>
        <p:origin x="205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E0C29-013A-419F-9BC5-3FDF1FB0896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2B5CF-739A-4B92-A015-9323EA3A6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19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/data-types-in-c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allows us to use the memory without having to memorize the exact memory address.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create a variable in C, we have to specify a name and the type of data it is going to store.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provides different </a:t>
            </a:r>
            <a:r>
              <a:rPr lang="en-US" sz="1200" b="1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data types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can store almost all kinds of data. For example, int, char, float, double, etc.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variable must be declared before it is used.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11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Important Insight</a:t>
            </a:r>
          </a:p>
          <a:p>
            <a:r>
              <a:rPr lang="en-US" dirty="0"/>
              <a:t>Because local variables are stored on the stack:</a:t>
            </a:r>
          </a:p>
          <a:p>
            <a:r>
              <a:rPr lang="en-US" dirty="0"/>
              <a:t>Deep recursion can cause </a:t>
            </a:r>
            <a:r>
              <a:rPr lang="en-US" b="1" dirty="0"/>
              <a:t>stack overflow</a:t>
            </a:r>
            <a:endParaRPr lang="en-US" dirty="0"/>
          </a:p>
          <a:p>
            <a:r>
              <a:rPr lang="en-US" dirty="0"/>
              <a:t>Large local arrays can crash program</a:t>
            </a:r>
          </a:p>
          <a:p>
            <a:endParaRPr lang="en-US" dirty="0"/>
          </a:p>
          <a:p>
            <a:r>
              <a:rPr lang="en-US" dirty="0"/>
              <a:t>Because global variables are stored in the data segment:</a:t>
            </a:r>
          </a:p>
          <a:p>
            <a:r>
              <a:rPr lang="en-US" dirty="0"/>
              <a:t>They increase overall program memory usage permanently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95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Attack surface </a:t>
            </a:r>
          </a:p>
          <a:p>
            <a:r>
              <a:rPr lang="en-US" b="1" dirty="0"/>
              <a:t>🔴 Global Variables</a:t>
            </a:r>
          </a:p>
          <a:p>
            <a:r>
              <a:rPr lang="en-US" dirty="0"/>
              <a:t>Accessible from anywhere in the program</a:t>
            </a:r>
          </a:p>
          <a:p>
            <a:r>
              <a:rPr lang="en-US" dirty="0"/>
              <a:t>Easier to accidentally expose sensitive data</a:t>
            </a:r>
          </a:p>
          <a:p>
            <a:r>
              <a:rPr lang="en-US" dirty="0"/>
              <a:t>If memory corruption occurs, </a:t>
            </a:r>
            <a:r>
              <a:rPr lang="en-US" dirty="0" err="1"/>
              <a:t>globals</a:t>
            </a:r>
            <a:r>
              <a:rPr lang="en-US" dirty="0"/>
              <a:t> are attractive targets</a:t>
            </a:r>
          </a:p>
          <a:p>
            <a:r>
              <a:rPr lang="en-US" dirty="0"/>
              <a:t>If an attacker exploits a buffer overflow, they may overwrite:</a:t>
            </a:r>
          </a:p>
          <a:p>
            <a:r>
              <a:rPr lang="en-US" dirty="0"/>
              <a:t>	Authentication flags</a:t>
            </a:r>
          </a:p>
          <a:p>
            <a:r>
              <a:rPr lang="en-US" dirty="0"/>
              <a:t>	Permission variables</a:t>
            </a:r>
          </a:p>
          <a:p>
            <a:r>
              <a:rPr lang="en-US" dirty="0"/>
              <a:t>	Configuration states</a:t>
            </a:r>
          </a:p>
          <a:p>
            <a:r>
              <a:rPr lang="en-US" b="1" dirty="0"/>
              <a:t>🟢 Local Variables</a:t>
            </a:r>
          </a:p>
          <a:p>
            <a:r>
              <a:rPr lang="en-US" dirty="0"/>
              <a:t>Limited scope</a:t>
            </a:r>
          </a:p>
          <a:p>
            <a:r>
              <a:rPr lang="en-US" dirty="0"/>
              <a:t>Harder to tamper with from unrelated parts of code</a:t>
            </a:r>
          </a:p>
          <a:p>
            <a:r>
              <a:rPr lang="en-US" dirty="0"/>
              <a:t>Reduced exposure</a:t>
            </a:r>
          </a:p>
          <a:p>
            <a:r>
              <a:rPr lang="en-US" dirty="0"/>
              <a:t>✔ Smaller attack surface</a:t>
            </a:r>
          </a:p>
          <a:p>
            <a:endParaRPr lang="en-US" dirty="0"/>
          </a:p>
          <a:p>
            <a:r>
              <a:rPr lang="en-US" dirty="0"/>
              <a:t>2) Buffer Overflow Impact</a:t>
            </a:r>
          </a:p>
          <a:p>
            <a:r>
              <a:rPr lang="en-US" dirty="0"/>
              <a:t>Local variables are stored on the </a:t>
            </a:r>
            <a:r>
              <a:rPr lang="en-US" b="1" dirty="0"/>
              <a:t>stack</a:t>
            </a:r>
            <a:r>
              <a:rPr lang="en-US" dirty="0"/>
              <a:t>.</a:t>
            </a:r>
          </a:p>
          <a:p>
            <a:r>
              <a:rPr lang="en-US" dirty="0"/>
              <a:t>If a buffer overflow occurs:</a:t>
            </a:r>
          </a:p>
          <a:p>
            <a:r>
              <a:rPr lang="en-US" dirty="0"/>
              <a:t>Adjacent local variables can be overwritten</a:t>
            </a:r>
          </a:p>
          <a:p>
            <a:r>
              <a:rPr lang="en-US" dirty="0"/>
              <a:t>Return address can be overwritten</a:t>
            </a:r>
          </a:p>
          <a:p>
            <a:r>
              <a:rPr lang="en-US" dirty="0"/>
              <a:t>Leads to </a:t>
            </a:r>
            <a:r>
              <a:rPr lang="en-US" b="1" dirty="0"/>
              <a:t>code execution attacks</a:t>
            </a:r>
          </a:p>
          <a:p>
            <a:endParaRPr lang="en-US" b="1" dirty="0"/>
          </a:p>
          <a:p>
            <a:r>
              <a:rPr lang="en-US" b="1" dirty="0"/>
              <a:t>3) </a:t>
            </a:r>
            <a:r>
              <a:rPr lang="en-US" dirty="0"/>
              <a:t>Race Conditions</a:t>
            </a:r>
          </a:p>
          <a:p>
            <a:r>
              <a:rPr lang="en-US" dirty="0"/>
              <a:t>🔴 </a:t>
            </a:r>
            <a:r>
              <a:rPr lang="en-US" dirty="0" err="1"/>
              <a:t>Globals</a:t>
            </a:r>
            <a:r>
              <a:rPr lang="en-US" dirty="0"/>
              <a:t> are Shared by All Threads</a:t>
            </a:r>
          </a:p>
          <a:p>
            <a:r>
              <a:rPr lang="en-US" dirty="0"/>
              <a:t>Two threads updating it without locks can cause:</a:t>
            </a:r>
          </a:p>
          <a:p>
            <a:r>
              <a:rPr lang="en-US" dirty="0"/>
              <a:t>Inconsistent state</a:t>
            </a:r>
          </a:p>
          <a:p>
            <a:r>
              <a:rPr lang="en-US" dirty="0"/>
              <a:t>Privilege escalation</a:t>
            </a:r>
          </a:p>
          <a:p>
            <a:endParaRPr lang="en-US" dirty="0"/>
          </a:p>
          <a:p>
            <a:r>
              <a:rPr lang="en-US" b="1" dirty="0"/>
              <a:t>🟢 Locals are Thread-Safe by Default</a:t>
            </a:r>
          </a:p>
          <a:p>
            <a:r>
              <a:rPr lang="en-US" dirty="0"/>
              <a:t>Each thread has its own stack.</a:t>
            </a:r>
          </a:p>
          <a:p>
            <a:r>
              <a:rPr lang="en-US" dirty="0"/>
              <a:t>✔ Local variables are naturally isolated</a:t>
            </a:r>
            <a:br>
              <a:rPr lang="en-US" dirty="0"/>
            </a:br>
            <a:r>
              <a:rPr lang="en-US" dirty="0"/>
              <a:t>✔ Much safer in concurrent programs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4) </a:t>
            </a:r>
            <a:r>
              <a:rPr lang="en-US" b="1" dirty="0"/>
              <a:t>Information Leakage</a:t>
            </a:r>
          </a:p>
          <a:p>
            <a:r>
              <a:rPr lang="en-US" b="1" dirty="0"/>
              <a:t>🔴 Global Variables</a:t>
            </a:r>
          </a:p>
          <a:p>
            <a:r>
              <a:rPr lang="en-US" dirty="0"/>
              <a:t>Stay in memory for entire program lifetime</a:t>
            </a:r>
          </a:p>
          <a:p>
            <a:r>
              <a:rPr lang="en-US" dirty="0"/>
              <a:t>Sensitive data remains longer than necessary</a:t>
            </a:r>
          </a:p>
          <a:p>
            <a:r>
              <a:rPr lang="en-US" dirty="0"/>
              <a:t>Even after use:</a:t>
            </a:r>
          </a:p>
          <a:p>
            <a:r>
              <a:rPr lang="en-US" dirty="0"/>
              <a:t>Password remains in memory</a:t>
            </a:r>
          </a:p>
          <a:p>
            <a:r>
              <a:rPr lang="en-US" dirty="0"/>
              <a:t>Could be dumped via memory disclosure attack</a:t>
            </a:r>
          </a:p>
          <a:p>
            <a:r>
              <a:rPr lang="en-US" b="1" dirty="0"/>
              <a:t>🟢 Local Variables</a:t>
            </a:r>
          </a:p>
          <a:p>
            <a:r>
              <a:rPr lang="en-US" dirty="0"/>
              <a:t>Destroyed when function exits</a:t>
            </a:r>
          </a:p>
          <a:p>
            <a:r>
              <a:rPr lang="en-US" dirty="0"/>
              <a:t>Sensitive data exists for shorter time</a:t>
            </a:r>
          </a:p>
          <a:p>
            <a:r>
              <a:rPr lang="en-US" dirty="0"/>
              <a:t>✔ Reduces memory exposure window</a:t>
            </a:r>
          </a:p>
          <a:p>
            <a:r>
              <a:rPr lang="en-US" dirty="0"/>
              <a:t>(Though still should manually clear sensitive buffers.)</a:t>
            </a:r>
          </a:p>
          <a:p>
            <a:endParaRPr lang="en-US" dirty="0"/>
          </a:p>
          <a:p>
            <a:r>
              <a:rPr lang="en-US" dirty="0"/>
              <a:t>!!!!!!!!!!!!!!!!!!!!!!!!!!!!!!!!! EXEMPLU: D:\CLH\Projects\examples\SimpleCProgramming\src\memoryFaults.c !!!!!!!!!!!!!!!!!!!!!!!!!!!!!!!!!</a:t>
            </a:r>
          </a:p>
          <a:p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53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vast majority of serious software vulnerabilities in C/C++ and similar languages are caused by unsafe array handling.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!!!!!!!!!!!!!!!!!!!!!!!!!!!!!!!!! EXEMPLU: D:\CLH\Projects\examples\SimpleCProgramming\src\bufferOverflow.c !!!!!!!!!!!!!!!!!!!!!!!!!!!!!!!!!</a:t>
            </a:r>
          </a:p>
          <a:p>
            <a:endParaRPr lang="en-US" dirty="0"/>
          </a:p>
          <a:p>
            <a:r>
              <a:rPr lang="en-US" dirty="0"/>
              <a:t>Most exploited array weaknesses involve:</a:t>
            </a:r>
          </a:p>
          <a:p>
            <a:r>
              <a:rPr lang="en-US" dirty="0"/>
              <a:t>Writing past array boundaries</a:t>
            </a:r>
          </a:p>
          <a:p>
            <a:r>
              <a:rPr lang="en-US" dirty="0"/>
              <a:t>Reading past array boundaries</a:t>
            </a:r>
          </a:p>
          <a:p>
            <a:r>
              <a:rPr lang="en-US" dirty="0"/>
              <a:t>Miscalculating array size</a:t>
            </a:r>
          </a:p>
          <a:p>
            <a:r>
              <a:rPr lang="en-US" dirty="0"/>
              <a:t>Failing to validate user input</a:t>
            </a:r>
          </a:p>
          <a:p>
            <a:r>
              <a:rPr lang="en-US" dirty="0"/>
              <a:t>Unsafe C functions</a:t>
            </a:r>
          </a:p>
          <a:p>
            <a:endParaRPr lang="en-US" dirty="0"/>
          </a:p>
          <a:p>
            <a:r>
              <a:rPr lang="en-US" dirty="0"/>
              <a:t>1️⃣ Stack Buffer Overflow - Writing more data into a stack array than it can hold.</a:t>
            </a:r>
          </a:p>
          <a:p>
            <a:r>
              <a:rPr lang="en-US" b="1" dirty="0"/>
              <a:t>What attackers do:</a:t>
            </a:r>
          </a:p>
          <a:p>
            <a:r>
              <a:rPr lang="en-US" dirty="0"/>
              <a:t>Overwrite adjacent memory</a:t>
            </a:r>
          </a:p>
          <a:p>
            <a:r>
              <a:rPr lang="en-US" dirty="0"/>
              <a:t>Overwrite return address</a:t>
            </a:r>
          </a:p>
          <a:p>
            <a:r>
              <a:rPr lang="en-US" dirty="0"/>
              <a:t>Redirect execution to malicious code</a:t>
            </a:r>
          </a:p>
          <a:p>
            <a:r>
              <a:rPr lang="en-US" b="1" dirty="0"/>
              <a:t>This was used in:</a:t>
            </a:r>
          </a:p>
          <a:p>
            <a:r>
              <a:rPr lang="en-US" dirty="0"/>
              <a:t>Early Windows exploits</a:t>
            </a:r>
          </a:p>
          <a:p>
            <a:r>
              <a:rPr lang="en-US" dirty="0"/>
              <a:t>IoT device hacks</a:t>
            </a:r>
          </a:p>
          <a:p>
            <a:r>
              <a:rPr lang="en-US" dirty="0"/>
              <a:t>2️⃣ Heap Buffer Overflow – we don’t really care in automotive as it is forbidden by MISRA to use dynamic memory allocation</a:t>
            </a:r>
          </a:p>
          <a:p>
            <a:r>
              <a:rPr lang="en-US" dirty="0"/>
              <a:t>3️⃣ Integer Overflow → Array Overflow - Integer math causes incorrect array size allocation.</a:t>
            </a:r>
          </a:p>
          <a:p>
            <a:r>
              <a:rPr lang="en-US" b="1" dirty="0"/>
              <a:t>Real-world impact:</a:t>
            </a:r>
          </a:p>
          <a:p>
            <a:r>
              <a:rPr lang="en-US" dirty="0"/>
              <a:t>Bypass input validation</a:t>
            </a:r>
          </a:p>
          <a:p>
            <a:r>
              <a:rPr lang="en-US" dirty="0"/>
              <a:t>Trigger controlled memory corruption</a:t>
            </a:r>
          </a:p>
          <a:p>
            <a:r>
              <a:rPr lang="en-US" dirty="0"/>
              <a:t>Common in file parsers and image libraries</a:t>
            </a:r>
          </a:p>
          <a:p>
            <a:r>
              <a:rPr lang="en-US" dirty="0"/>
              <a:t>Very common in:</a:t>
            </a:r>
          </a:p>
          <a:p>
            <a:r>
              <a:rPr lang="en-US" dirty="0"/>
              <a:t>Image processing vulnerabilities</a:t>
            </a:r>
          </a:p>
          <a:p>
            <a:r>
              <a:rPr lang="en-US" dirty="0"/>
              <a:t>Network protocol handlers</a:t>
            </a:r>
          </a:p>
          <a:p>
            <a:r>
              <a:rPr lang="en-US" dirty="0"/>
              <a:t>4️⃣ Out-of-Bounds Read </a:t>
            </a:r>
          </a:p>
          <a:p>
            <a:r>
              <a:rPr lang="en-US" b="1" dirty="0"/>
              <a:t>What attackers do:</a:t>
            </a:r>
          </a:p>
          <a:p>
            <a:r>
              <a:rPr lang="en-US" dirty="0"/>
              <a:t>Leak memory contents</a:t>
            </a:r>
          </a:p>
          <a:p>
            <a:r>
              <a:rPr lang="en-US" dirty="0"/>
              <a:t>Extract passwords</a:t>
            </a:r>
          </a:p>
          <a:p>
            <a:r>
              <a:rPr lang="en-US" dirty="0"/>
              <a:t>Leak encryption keys</a:t>
            </a:r>
          </a:p>
          <a:p>
            <a:r>
              <a:rPr lang="en-US" dirty="0"/>
              <a:t>5️⃣ Global Buffer Overflow - Overflowing global arrays stored in the data segment.</a:t>
            </a:r>
          </a:p>
          <a:p>
            <a:r>
              <a:rPr lang="en-US" dirty="0"/>
              <a:t>If overflowed:</a:t>
            </a:r>
          </a:p>
          <a:p>
            <a:r>
              <a:rPr lang="en-US" dirty="0"/>
              <a:t>Modify global flags</a:t>
            </a:r>
          </a:p>
          <a:p>
            <a:r>
              <a:rPr lang="en-US" dirty="0"/>
              <a:t>Change authentication state</a:t>
            </a:r>
          </a:p>
          <a:p>
            <a:r>
              <a:rPr lang="en-US" dirty="0"/>
              <a:t>Overwrite global function pointers</a:t>
            </a:r>
          </a:p>
          <a:p>
            <a:r>
              <a:rPr lang="en-US" dirty="0"/>
              <a:t>6️⃣ Off-by-One Errors -  Writing exactly 1 byte beyond the array.</a:t>
            </a:r>
          </a:p>
          <a:p>
            <a:r>
              <a:rPr lang="en-US" dirty="0"/>
              <a:t>7️⃣ Format String + Array Exploits</a:t>
            </a:r>
          </a:p>
          <a:p>
            <a:endParaRPr lang="en-US" dirty="0"/>
          </a:p>
          <a:p>
            <a:r>
              <a:rPr lang="en-US" b="1" dirty="0"/>
              <a:t>Why Array Exploits Are So Popular</a:t>
            </a:r>
          </a:p>
          <a:p>
            <a:r>
              <a:rPr lang="en-US" dirty="0"/>
              <a:t>They allow attackers to achieve:</a:t>
            </a:r>
          </a:p>
          <a:p>
            <a:r>
              <a:rPr lang="en-US" dirty="0"/>
              <a:t>Remote Code Execution</a:t>
            </a:r>
          </a:p>
          <a:p>
            <a:r>
              <a:rPr lang="en-US" dirty="0"/>
              <a:t>Privilege Escalation</a:t>
            </a:r>
          </a:p>
          <a:p>
            <a:r>
              <a:rPr lang="en-US" dirty="0"/>
              <a:t>Data Exfiltration</a:t>
            </a:r>
          </a:p>
          <a:p>
            <a:r>
              <a:rPr lang="en-US" dirty="0"/>
              <a:t>Sandbox Escape</a:t>
            </a:r>
          </a:p>
          <a:p>
            <a:r>
              <a:rPr lang="en-US" dirty="0"/>
              <a:t>Full system compromise</a:t>
            </a:r>
          </a:p>
          <a:p>
            <a:r>
              <a:rPr lang="en-US" dirty="0"/>
              <a:t>They are powerful because C/C++:</a:t>
            </a:r>
          </a:p>
          <a:p>
            <a:r>
              <a:rPr lang="en-US" dirty="0"/>
              <a:t>Do not enforce bounds checking</a:t>
            </a:r>
          </a:p>
          <a:p>
            <a:r>
              <a:rPr lang="en-US" dirty="0"/>
              <a:t>Allow direct memory access</a:t>
            </a:r>
          </a:p>
          <a:p>
            <a:r>
              <a:rPr lang="en-US" dirty="0"/>
              <a:t>Trust the programmer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!!!!!!!!!!!!!!!!!!!!!!!!!!!!!!!!! EXEMPLU: D:\CLH\Projects\examples\SimpleCProgramming\src\vulnerable.c !!!!!!!!!!!!!!!!!!!!!!!!!!!!!!!!!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13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!!!!!!!!!!!!!!!!!!!!!!!!!!!!!!!!! EXEMPLU: D:\CLH\Projects\examples\SimpleCProgramming\src\memoryFaults.c !!!!!!!!!!!!!!!!!!!!!!!!!!!!!!!!!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25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https://godbolt.org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53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pointers:</a:t>
            </a:r>
          </a:p>
          <a:p>
            <a:r>
              <a:rPr lang="en-US" dirty="0"/>
              <a:t>A function pointer is a type of pointer that stores the address of a function, allowing functions to be passed as arguments and invoked dynamically. It is useful in techniques such as callback functions, event-driven programs.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45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7C61C-3D7D-2D79-C371-EE575C85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01F07-9238-DE07-F130-2F7B3CC69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81BDD-1BD4-3F0D-AC34-F26D20984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Important Insight</a:t>
            </a:r>
          </a:p>
          <a:p>
            <a:r>
              <a:rPr lang="en-US" dirty="0"/>
              <a:t>Because local variables are stored on the stack:</a:t>
            </a:r>
          </a:p>
          <a:p>
            <a:r>
              <a:rPr lang="en-US" dirty="0"/>
              <a:t>Deep recursion can cause </a:t>
            </a:r>
            <a:r>
              <a:rPr lang="en-US" b="1" dirty="0"/>
              <a:t>stack overflow</a:t>
            </a:r>
            <a:endParaRPr lang="en-US" dirty="0"/>
          </a:p>
          <a:p>
            <a:r>
              <a:rPr lang="en-US" dirty="0"/>
              <a:t>Large local arrays can crash program</a:t>
            </a:r>
          </a:p>
          <a:p>
            <a:endParaRPr lang="en-US" dirty="0"/>
          </a:p>
          <a:p>
            <a:r>
              <a:rPr lang="en-US" dirty="0"/>
              <a:t>Because global variables are stored in the data segment:</a:t>
            </a:r>
          </a:p>
          <a:p>
            <a:r>
              <a:rPr lang="en-US" dirty="0"/>
              <a:t>They increase overall program memory usage permanently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07126-63FD-B24D-9863-148267490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3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B3B7-3D10-B17A-DE77-6FE06FB94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B508E-E1D3-659D-BC32-E2EBD3A42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4D932-D318-F253-E3FF-252B00C7A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pointers:</a:t>
            </a:r>
          </a:p>
          <a:p>
            <a:r>
              <a:rPr lang="en-US" dirty="0"/>
              <a:t>A function pointer is a type of pointer that stores the address of a function, allowing functions to be passed as arguments and invoked dynamically. It is useful in techniques such as callback functions, event-driven programs.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Performance example: </a:t>
            </a:r>
            <a:r>
              <a:rPr lang="en-US" sz="1200" dirty="0">
                <a:latin typeface="Calibri"/>
                <a:ea typeface="Calibri"/>
                <a:cs typeface="Calibri"/>
              </a:rPr>
              <a:t>For a table with 100 cases, a jump table is significantly faster than 100 if/else checks.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4837E-9AC9-3F48-2CD5-7B3188050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82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C, </a:t>
            </a:r>
            <a:r>
              <a:rPr lang="en-US" b="1" dirty="0"/>
              <a:t>control flow</a:t>
            </a:r>
            <a:r>
              <a:rPr lang="en-US" dirty="0"/>
              <a:t> is the engine that determines the order in which statements are executed. Without it, your code would just be a static list of instructions running from top to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43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23C14-251E-E2AD-96A8-0C6804C3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04963-6F44-789E-84F3-AC8C3F5EF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710CC-3AC8-8DAA-E1ED-98AFD6D71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8158A-9484-F075-4087-937609784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32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A679-C02B-0DD1-DE80-21C41128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D03C2-FAB8-77E4-8375-9C0DBE3EF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F37DF-FB7D-BF4E-37FF-232F2F2D7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B1A33-9577-316D-E47B-0C0AADF97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75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E9B12-2A7B-D0A2-4BE0-80C1DAFF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860D7-96CE-48E9-FE92-99C1084535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AF010-96BE-C9FD-25FB-915E3AE41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 checks! = instead of ==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C0B59-F448-373B-602C-F9BBD940A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20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EBC4-AAF1-6615-0AD8-7C3D949A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A83C9-EF49-4A88-A705-6C246A54F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6A330-FB16-83F3-E12C-94761493B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A20FA-8089-1BC0-4395-E57F164F3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325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022A-0534-5CD7-4D21-331BF821A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236E1-E8E4-F278-EE0F-039726CD5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02BA7-A5EF-F24D-1C36-E83A424AB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62291-C936-41D5-6C9E-55E31F5B5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2B5CF-739A-4B92-A015-9323EA3A630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53278" y="2615657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3243554" y="-1718684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828800" y="2396116"/>
            <a:ext cx="7315200" cy="3604399"/>
          </a:xfrm>
          <a:custGeom>
            <a:avLst/>
            <a:gdLst/>
            <a:ahLst/>
            <a:cxnLst/>
            <a:rect l="l" t="t" r="r" b="b"/>
            <a:pathLst>
              <a:path w="7315200" h="3604399">
                <a:moveTo>
                  <a:pt x="0" y="0"/>
                </a:moveTo>
                <a:lnTo>
                  <a:pt x="7315200" y="0"/>
                </a:lnTo>
                <a:lnTo>
                  <a:pt x="7315200" y="3604399"/>
                </a:lnTo>
                <a:lnTo>
                  <a:pt x="0" y="3604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TextBox 8"/>
          <p:cNvSpPr txBox="1"/>
          <p:nvPr/>
        </p:nvSpPr>
        <p:spPr>
          <a:xfrm>
            <a:off x="2228216" y="6154626"/>
            <a:ext cx="6915784" cy="539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699" b="1">
                <a:solidFill>
                  <a:srgbClr val="1D1D1F"/>
                </a:solidFill>
                <a:latin typeface="Poppins Bold"/>
                <a:ea typeface="Poppins Bold"/>
                <a:cs typeface="Poppins Bold"/>
                <a:sym typeface="Poppins Bold"/>
              </a:rPr>
              <a:t>Your partner for vehicle cybersecurity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/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Title 10">
            <a:extLst>
              <a:ext uri="{FF2B5EF4-FFF2-40B4-BE49-F238E27FC236}">
                <a16:creationId xmlns:a16="http://schemas.microsoft.com/office/drawing/2014/main" id="{A48B67C3-C2A8-A3BA-AEDE-9A61B263A4B4}"/>
              </a:ext>
            </a:extLst>
          </p:cNvPr>
          <p:cNvSpPr>
            <a:spLocks noGrp="1"/>
          </p:cNvSpPr>
          <p:nvPr/>
        </p:nvSpPr>
        <p:spPr>
          <a:xfrm>
            <a:off x="4327324" y="3083251"/>
            <a:ext cx="7300919" cy="13520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>
                <a:latin typeface="Calibri"/>
                <a:ea typeface="Calibri"/>
                <a:cs typeface="Calibri"/>
              </a:rPr>
              <a:t>Course structure</a:t>
            </a:r>
            <a:endParaRPr lang="en-GB" sz="18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3BCA02C6-34AD-DFDB-0F34-3E09E95016A7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029477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en-GB" sz="1500" b="1" dirty="0">
                <a:ea typeface="Calibri"/>
                <a:cs typeface="Calibri"/>
              </a:rPr>
              <a:t>Week</a:t>
            </a:r>
            <a:r>
              <a:rPr lang="en-GB" sz="1500" dirty="0">
                <a:ea typeface="Calibri"/>
                <a:cs typeface="Calibri"/>
              </a:rPr>
              <a:t> </a:t>
            </a:r>
            <a:r>
              <a:rPr lang="en-GB" sz="1500" b="1" dirty="0">
                <a:ea typeface="Calibri"/>
                <a:cs typeface="Calibri"/>
              </a:rPr>
              <a:t>1: </a:t>
            </a:r>
            <a:r>
              <a:rPr lang="en-US" sz="1500" b="1" dirty="0">
                <a:ea typeface="Calibri"/>
                <a:cs typeface="Calibri"/>
              </a:rPr>
              <a:t>Foundations of C and memory — from programming to vulnerability thinking</a:t>
            </a:r>
            <a:endParaRPr lang="en-GB" sz="1500" b="1" dirty="0">
              <a:ea typeface="Calibri"/>
              <a:cs typeface="Calibri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latin typeface="Calibri"/>
                <a:ea typeface="+mn-lt"/>
                <a:cs typeface="+mn-lt"/>
              </a:rPr>
              <a:t>day 1:</a:t>
            </a:r>
            <a:r>
              <a:rPr lang="en-GB" sz="1500" dirty="0">
                <a:ea typeface="+mn-lt"/>
                <a:cs typeface="+mn-lt"/>
              </a:rPr>
              <a:t> INTRO + Theory day I</a:t>
            </a:r>
            <a:endParaRPr lang="en-GB" sz="1500" dirty="0">
              <a:latin typeface="Calibri"/>
              <a:ea typeface="+mn-lt"/>
              <a:cs typeface="+mn-lt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b="1" dirty="0">
                <a:latin typeface="Calibri"/>
                <a:ea typeface="+mn-lt"/>
                <a:cs typeface="+mn-lt"/>
              </a:rPr>
              <a:t>day 2:</a:t>
            </a:r>
            <a:r>
              <a:rPr lang="en-GB" sz="1500" b="1" dirty="0">
                <a:ea typeface="+mn-lt"/>
                <a:cs typeface="+mn-lt"/>
              </a:rPr>
              <a:t> Theory day II</a:t>
            </a:r>
            <a:endParaRPr lang="en-GB" sz="1500" b="1" dirty="0">
              <a:latin typeface="Calibri"/>
              <a:ea typeface="Calibri"/>
              <a:cs typeface="Calibri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ea typeface="+mn-lt"/>
                <a:cs typeface="+mn-lt"/>
              </a:rPr>
              <a:t>day</a:t>
            </a:r>
            <a:r>
              <a:rPr lang="en-GB" sz="1500" dirty="0">
                <a:latin typeface="Calibri"/>
                <a:ea typeface="+mn-lt"/>
                <a:cs typeface="+mn-lt"/>
              </a:rPr>
              <a:t> 3: </a:t>
            </a:r>
            <a:r>
              <a:rPr lang="en-GB" sz="1500" dirty="0">
                <a:ea typeface="+mn-lt"/>
                <a:cs typeface="+mn-lt"/>
              </a:rPr>
              <a:t>Theory day III</a:t>
            </a:r>
            <a:endParaRPr lang="en-GB" sz="1500" dirty="0">
              <a:latin typeface="Calibri"/>
              <a:ea typeface="+mn-lt"/>
              <a:cs typeface="+mn-lt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ea typeface="+mn-lt"/>
                <a:cs typeface="+mn-lt"/>
              </a:rPr>
              <a:t>day</a:t>
            </a:r>
            <a:r>
              <a:rPr lang="en-GB" sz="1500" dirty="0">
                <a:latin typeface="Calibri"/>
                <a:ea typeface="+mn-lt"/>
                <a:cs typeface="+mn-lt"/>
              </a:rPr>
              <a:t> 4: </a:t>
            </a:r>
            <a:r>
              <a:rPr lang="en-US" sz="1500" dirty="0">
                <a:ea typeface="+mn-lt"/>
                <a:cs typeface="+mn-lt"/>
              </a:rPr>
              <a:t>When C Goes Wrong — Memory Vulnerabilities</a:t>
            </a:r>
            <a:endParaRPr lang="en-GB" sz="1500" dirty="0">
              <a:latin typeface="Calibri"/>
              <a:ea typeface="+mn-lt"/>
              <a:cs typeface="+mn-lt"/>
            </a:endParaRPr>
          </a:p>
          <a:p>
            <a:pPr marL="383540" lvl="2">
              <a:buFont typeface="Wingdings" pitchFamily="34" charset="0"/>
              <a:buChar char="§"/>
            </a:pPr>
            <a:r>
              <a:rPr lang="en-GB" sz="1500" dirty="0">
                <a:ea typeface="+mn-lt"/>
                <a:cs typeface="+mn-lt"/>
              </a:rPr>
              <a:t>day</a:t>
            </a:r>
            <a:r>
              <a:rPr lang="en-GB" sz="1500" dirty="0">
                <a:latin typeface="Calibri"/>
                <a:ea typeface="+mn-lt"/>
                <a:cs typeface="+mn-lt"/>
              </a:rPr>
              <a:t> 5: </a:t>
            </a:r>
            <a:r>
              <a:rPr lang="en-US" sz="1500" dirty="0">
                <a:ea typeface="+mn-lt"/>
                <a:cs typeface="+mn-lt"/>
              </a:rPr>
              <a:t>From Bug to Exploit — Defensive Thinking</a:t>
            </a:r>
            <a:endParaRPr lang="en-GB" sz="15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3184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0A483-D13F-262A-2F6C-012B4FDA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AC4FA7-0551-5654-BBA9-E6558E3D6F6E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32BC785-E073-AF62-4B3E-88A049114EA7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6F27DF5-7C1E-856D-F5F3-AEEC8F386D59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008BAD3-390D-2DAE-A65F-F70C56057AC4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A71C242-9B73-C484-2343-2F889D9B9EB9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87DA44B-F651-7492-7996-E7AF17A4BAA3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A847AB5-DCF2-399E-C1EA-D844A689415E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029477"/>
          </a:xfrm>
          <a:prstGeom prst="rect">
            <a:avLst/>
          </a:prstGeom>
        </p:spPr>
        <p:txBody>
          <a:bodyPr vert="horz" lIns="34290" tIns="17145" rIns="34290" bIns="17145" rtlCol="0" anchor="t">
            <a:no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GB" sz="1800" dirty="0">
                <a:ea typeface="Calibri"/>
                <a:cs typeface="Calibri"/>
              </a:rPr>
              <a:t>A) </a:t>
            </a:r>
          </a:p>
          <a:p>
            <a:pPr marL="285750" indent="-285750"/>
            <a:r>
              <a:rPr lang="en-US" sz="1800" dirty="0">
                <a:ea typeface="Calibri"/>
                <a:cs typeface="Calibri"/>
              </a:rPr>
              <a:t>Variables: global/local, memory placement, arrays, pointers. </a:t>
            </a:r>
          </a:p>
          <a:p>
            <a:pPr marL="285750" indent="-285750"/>
            <a:r>
              <a:rPr lang="en-US" sz="1800" dirty="0">
                <a:ea typeface="Calibri"/>
                <a:cs typeface="Calibri"/>
              </a:rPr>
              <a:t>Functions in C: parameters, return, function pointers</a:t>
            </a:r>
          </a:p>
          <a:p>
            <a:pPr indent="0">
              <a:buNone/>
            </a:pPr>
            <a:r>
              <a:rPr lang="en-US" sz="1800" dirty="0">
                <a:ea typeface="Calibri"/>
                <a:cs typeface="Calibri"/>
              </a:rPr>
              <a:t>B) </a:t>
            </a:r>
          </a:p>
          <a:p>
            <a:pPr marL="285750" indent="-285750"/>
            <a:r>
              <a:rPr lang="en-US" sz="1800" dirty="0">
                <a:ea typeface="Calibri"/>
                <a:cs typeface="Calibri"/>
              </a:rPr>
              <a:t>Control flow: if/else, switch, while, do while, goto, break, continue. </a:t>
            </a:r>
          </a:p>
          <a:p>
            <a:pPr marL="285750" indent="-285750"/>
            <a:r>
              <a:rPr lang="en-US" sz="1800" dirty="0">
                <a:ea typeface="Calibri"/>
                <a:cs typeface="Calibri"/>
              </a:rPr>
              <a:t>Pre-processor commands</a:t>
            </a:r>
            <a:endParaRPr lang="en-GB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630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E3A4-D591-9CBB-AC74-40D96086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B7B9E3-1F3C-8C93-45D6-75C00B916EFF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D4BBBD6-A5BF-F430-448C-BCCF48DBEDF4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6D00EF9-C6DA-E54F-D8EA-3530A9F0293D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7A07F0-FEC5-4C17-B2BE-E00070E68FA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0603215-3510-C522-B337-16DD45254CC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9DD2A01-6813-8828-71DC-5C0C905BC70C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1942FB-1091-E86B-8454-98294B8BE757}"/>
              </a:ext>
            </a:extLst>
          </p:cNvPr>
          <p:cNvSpPr/>
          <p:nvPr/>
        </p:nvSpPr>
        <p:spPr>
          <a:xfrm>
            <a:off x="7849837" y="4404836"/>
            <a:ext cx="258832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88229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6FF1-0783-5DC4-830B-E76C8CF8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A5BB90-BA6A-AF0D-548B-94F4EAC1C0AF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7F09EEE-E5EF-F00A-9BCD-638E033A4227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73B6ACB-E565-CB54-014C-33E215D8422F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5BABA05-8490-FB69-48F2-9113700EA36C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C5C0607-A5C8-BD13-83BF-188816497049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1585EBD-711B-7177-0A29-FCD6F4C47A41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841EF4AC-49B3-FE98-DEB1-A0753D2BEE4B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1743603"/>
          </a:xfrm>
          <a:prstGeom prst="rect">
            <a:avLst/>
          </a:prstGeom>
        </p:spPr>
        <p:txBody>
          <a:bodyPr vert="horz" lIns="34290" tIns="17145" rIns="34290" bIns="17145" rtlCol="0" anchor="t">
            <a:normAutofit fontScale="92500" lnSpcReduction="20000"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Variables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 variable is a named piece of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memory</a:t>
            </a:r>
            <a:r>
              <a:rPr lang="en-US" sz="1800" dirty="0">
                <a:latin typeface="Calibri"/>
                <a:ea typeface="Calibri"/>
                <a:cs typeface="Calibri"/>
              </a:rPr>
              <a:t> which is used to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store</a:t>
            </a:r>
            <a:r>
              <a:rPr lang="en-US" sz="1800" dirty="0">
                <a:latin typeface="Calibri"/>
                <a:ea typeface="Calibri"/>
                <a:cs typeface="Calibri"/>
              </a:rPr>
              <a:t> data and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access</a:t>
            </a:r>
            <a:r>
              <a:rPr lang="en-US" sz="1800" dirty="0">
                <a:latin typeface="Calibri"/>
                <a:ea typeface="Calibri"/>
                <a:cs typeface="Calibri"/>
              </a:rPr>
              <a:t> it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whenever</a:t>
            </a:r>
            <a:r>
              <a:rPr lang="en-US" sz="1800" dirty="0">
                <a:latin typeface="Calibri"/>
                <a:ea typeface="Calibri"/>
                <a:cs typeface="Calibri"/>
              </a:rPr>
              <a:t> required. </a:t>
            </a:r>
          </a:p>
          <a:p>
            <a:pPr indent="0" algn="ctr">
              <a:buNone/>
            </a:pPr>
            <a:r>
              <a:rPr lang="en-US" sz="1700" dirty="0">
                <a:latin typeface="Calibri"/>
                <a:ea typeface="Calibri"/>
                <a:cs typeface="Calibri"/>
              </a:rPr>
              <a:t>Every variable in C language has some specific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type</a:t>
            </a:r>
            <a:r>
              <a:rPr lang="en-US" sz="1700" dirty="0">
                <a:latin typeface="Calibri"/>
                <a:ea typeface="Calibri"/>
                <a:cs typeface="Calibri"/>
              </a:rPr>
              <a:t> that determines the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layout</a:t>
            </a:r>
            <a:r>
              <a:rPr lang="en-US" sz="1700" dirty="0">
                <a:latin typeface="Calibri"/>
                <a:ea typeface="Calibri"/>
                <a:cs typeface="Calibri"/>
              </a:rPr>
              <a:t> and the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size</a:t>
            </a:r>
            <a:r>
              <a:rPr lang="en-US" sz="1700" dirty="0">
                <a:latin typeface="Calibri"/>
                <a:ea typeface="Calibri"/>
                <a:cs typeface="Calibri"/>
              </a:rPr>
              <a:t> of the memory of the variable, the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range of values </a:t>
            </a:r>
            <a:r>
              <a:rPr lang="en-US" sz="1700" dirty="0">
                <a:latin typeface="Calibri"/>
                <a:ea typeface="Calibri"/>
                <a:cs typeface="Calibri"/>
              </a:rPr>
              <a:t>that the memory can hold, and the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set of operations </a:t>
            </a:r>
            <a:r>
              <a:rPr lang="en-US" sz="1700" dirty="0">
                <a:latin typeface="Calibri"/>
                <a:ea typeface="Calibri"/>
                <a:cs typeface="Calibri"/>
              </a:rPr>
              <a:t>that one can perform on that variable.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3944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97FB9-F8C8-DA29-1221-D9DB455F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78A62C-7DE1-D960-3742-3108F8FC03ED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4C7ECAD-C0FB-8635-6EC1-7F0D002020C8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9DD3B6D-E26C-FC54-7423-CFAC40C9C5A4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E3D5625-0AFF-E023-3AC8-3E2F47DF89E4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045C1BF-55F8-3EA7-5EC7-6F5745329F9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115EB5D-BA8F-6257-960B-A42DC4D3E8F8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D50B7B-5719-F10B-7AD6-752A83C28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676097"/>
              </p:ext>
            </p:extLst>
          </p:nvPr>
        </p:nvGraphicFramePr>
        <p:xfrm>
          <a:off x="1447800" y="3083251"/>
          <a:ext cx="12192000" cy="412496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878342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405729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0864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Variable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Global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07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Scope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Declared inside a function or block</a:t>
                      </a:r>
                    </a:p>
                    <a:p>
                      <a:pPr algn="ctr"/>
                      <a:r>
                        <a:rPr lang="en-US" dirty="0"/>
                        <a:t>Can only be accessed within that function or block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Declared outside all functions</a:t>
                      </a:r>
                    </a:p>
                    <a:p>
                      <a:pPr algn="ctr"/>
                      <a:r>
                        <a:rPr lang="en-US" dirty="0"/>
                        <a:t>Can be accessed by all functions in the file (and even other files using extern)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75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Lifetime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Created when the block is entered</a:t>
                      </a:r>
                    </a:p>
                    <a:p>
                      <a:pPr algn="ctr"/>
                      <a:r>
                        <a:rPr lang="en-US" dirty="0"/>
                        <a:t>Destroyed when the block exits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Exist for the entire runtime</a:t>
                      </a:r>
                    </a:p>
                    <a:p>
                      <a:pPr algn="ctr"/>
                      <a:r>
                        <a:rPr lang="en-US" dirty="0"/>
                        <a:t>Created when program starts</a:t>
                      </a:r>
                    </a:p>
                    <a:p>
                      <a:pPr algn="ctr"/>
                      <a:r>
                        <a:rPr lang="en-US" dirty="0"/>
                        <a:t>Destroyed when program ends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63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Default Initialization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automatically initialized</a:t>
                      </a:r>
                    </a:p>
                    <a:p>
                      <a:pPr algn="ctr"/>
                      <a:r>
                        <a:rPr lang="en-US" dirty="0"/>
                        <a:t>Contain garbage values if not assigned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Automatically initialized to </a:t>
                      </a:r>
                      <a:r>
                        <a:rPr lang="en-US" b="1" dirty="0"/>
                        <a:t>0</a:t>
                      </a:r>
                      <a:r>
                        <a:rPr lang="en-US" dirty="0"/>
                        <a:t> if not explicitly initialized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68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Memory 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Stored in the </a:t>
                      </a:r>
                      <a:r>
                        <a:rPr lang="en-US" b="1" dirty="0"/>
                        <a:t>stack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Stored in the </a:t>
                      </a:r>
                      <a:r>
                        <a:rPr lang="en-US" b="1" dirty="0"/>
                        <a:t>data segment</a:t>
                      </a:r>
                      <a:r>
                        <a:rPr lang="en-US" dirty="0"/>
                        <a:t> of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959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Accessibility &amp; Modifiability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Restricted access</a:t>
                      </a:r>
                    </a:p>
                    <a:p>
                      <a:pPr algn="ctr"/>
                      <a:r>
                        <a:rPr lang="en-US" dirty="0"/>
                        <a:t>Safer and easier to debug</a:t>
                      </a:r>
                    </a:p>
                    <a:p>
                      <a:pPr algn="ctr"/>
                      <a:r>
                        <a:rPr lang="en-US" dirty="0"/>
                        <a:t>Encourages clean program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 be modified by any function</a:t>
                      </a:r>
                    </a:p>
                    <a:p>
                      <a:pPr algn="ctr"/>
                      <a:r>
                        <a:rPr lang="en-US" dirty="0"/>
                        <a:t>Makes debugging harder</a:t>
                      </a:r>
                    </a:p>
                    <a:p>
                      <a:pPr algn="ctr"/>
                      <a:r>
                        <a:rPr lang="en-US" dirty="0"/>
                        <a:t>Reduces modularity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562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4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C4ADE-17FA-F428-AD6D-9316689C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1A65CC-EC22-5118-2D8B-3EF603D2E412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17C0E4B-EFE6-EEC0-8769-A31A8B15E6C3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A2749CD-1401-43F4-AD79-A86BEF6FA819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7C3D26-E422-54D3-A189-BEF11C8B2D0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6C1B567-C1FD-1692-E915-B71A9E2A27E3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11C5AD6-DBBC-BC1B-A1DA-E25DF0216591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A3887C30-CBAE-9D23-E70C-9EE3EDAB3767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0390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/>
              <a:t>Cybersecurity implications</a:t>
            </a:r>
            <a:r>
              <a:rPr lang="en-US" sz="1800" dirty="0"/>
              <a:t> of choosing </a:t>
            </a:r>
            <a:r>
              <a:rPr lang="en-US" sz="1800" b="1" dirty="0"/>
              <a:t>global</a:t>
            </a:r>
            <a:r>
              <a:rPr lang="en-US" sz="1800" dirty="0"/>
              <a:t> vs </a:t>
            </a:r>
            <a:r>
              <a:rPr lang="en-US" sz="1800" b="1" dirty="0"/>
              <a:t>local</a:t>
            </a:r>
            <a:r>
              <a:rPr lang="en-US" sz="1800" dirty="0"/>
              <a:t> variables</a:t>
            </a:r>
          </a:p>
          <a:p>
            <a:pPr indent="0" algn="ctr">
              <a:buNone/>
            </a:pPr>
            <a:endParaRPr lang="en-US" sz="1800" dirty="0"/>
          </a:p>
          <a:p>
            <a:pPr marL="342900">
              <a:buFont typeface="+mj-lt"/>
              <a:buAutoNum type="arabicPeriod"/>
            </a:pPr>
            <a:r>
              <a:rPr lang="en-US" sz="1800" dirty="0"/>
              <a:t>Attack Surface &amp; Unauthorized Access</a:t>
            </a:r>
          </a:p>
          <a:p>
            <a:pPr marL="342900">
              <a:buFont typeface="+mj-lt"/>
              <a:buAutoNum type="arabicPeriod"/>
            </a:pPr>
            <a:r>
              <a:rPr lang="en-US" sz="1800" dirty="0"/>
              <a:t>Buffer Overflow Impact</a:t>
            </a:r>
          </a:p>
          <a:p>
            <a:pPr marL="342900">
              <a:buFont typeface="+mj-lt"/>
              <a:buAutoNum type="arabicPeriod"/>
            </a:pPr>
            <a:r>
              <a:rPr lang="en-US" sz="1800" dirty="0"/>
              <a:t>Race Conditions</a:t>
            </a:r>
          </a:p>
          <a:p>
            <a:pPr marL="342900">
              <a:buFont typeface="+mj-lt"/>
              <a:buAutoNum type="arabicPeriod"/>
            </a:pPr>
            <a:r>
              <a:rPr lang="en-US" sz="1800" dirty="0"/>
              <a:t>Information Leakage</a:t>
            </a:r>
          </a:p>
          <a:p>
            <a:pPr marL="342900">
              <a:buFont typeface="+mj-lt"/>
              <a:buAutoNum type="arabicPeriod"/>
            </a:pPr>
            <a:r>
              <a:rPr lang="en-US" sz="1800" dirty="0"/>
              <a:t>Maintainability &amp; Secure Design</a:t>
            </a:r>
            <a:endParaRPr lang="en-US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212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88CE-FC60-3B33-2BFB-6D525DA3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9BB926-295E-DB12-B4FF-FA193330BA8E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7D2D9E-FDDB-C1A0-96FB-0E6902FB5B85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FBEC828-86A3-295C-E702-1653B6CFD11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362E3B2-7DF8-590D-FBBB-D4BA3C130968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EAC8BF7-C837-A463-CF3F-A577432CD660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6480420-1C72-C405-33F4-6D73C6A988D9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7CB0B1B2-3D10-B619-12BC-0B49D7267EBA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1743603"/>
          </a:xfrm>
          <a:prstGeom prst="rect">
            <a:avLst/>
          </a:prstGeom>
        </p:spPr>
        <p:txBody>
          <a:bodyPr vert="horz" lIns="34290" tIns="17145" rIns="34290" bIns="17145" rtlCol="0" anchor="t">
            <a:normAutofit lnSpcReduction="10000"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Arrays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An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array</a:t>
            </a:r>
            <a:r>
              <a:rPr lang="en-US" sz="1800" dirty="0">
                <a:latin typeface="Calibri"/>
                <a:ea typeface="Calibri"/>
                <a:cs typeface="Calibri"/>
              </a:rPr>
              <a:t> is a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linear data structure </a:t>
            </a:r>
            <a:r>
              <a:rPr lang="en-US" sz="1800" dirty="0">
                <a:latin typeface="Calibri"/>
                <a:ea typeface="Calibri"/>
                <a:cs typeface="Calibri"/>
              </a:rPr>
              <a:t>that stores a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fixed-size sequence </a:t>
            </a:r>
            <a:r>
              <a:rPr lang="en-US" sz="1800" dirty="0">
                <a:latin typeface="Calibri"/>
                <a:ea typeface="Calibri"/>
                <a:cs typeface="Calibri"/>
              </a:rPr>
              <a:t>of elements of the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same data type </a:t>
            </a:r>
            <a:r>
              <a:rPr lang="en-US" sz="1800" dirty="0">
                <a:latin typeface="Calibri"/>
                <a:ea typeface="Calibri"/>
                <a:cs typeface="Calibri"/>
              </a:rPr>
              <a:t>in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contiguous</a:t>
            </a:r>
            <a:r>
              <a:rPr lang="en-US" sz="1800" dirty="0">
                <a:latin typeface="Calibri"/>
                <a:ea typeface="Calibri"/>
                <a:cs typeface="Calibri"/>
              </a:rPr>
              <a:t> memory locations. 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Each element can be accessed directly using its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index</a:t>
            </a:r>
            <a:r>
              <a:rPr lang="en-US" sz="1800" dirty="0">
                <a:latin typeface="Calibri"/>
                <a:ea typeface="Calibri"/>
                <a:cs typeface="Calibri"/>
              </a:rPr>
              <a:t>, which allows for efficient retrieval and modification.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935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CAF8-1F08-6549-9837-8156AE4B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BAEDC4-3A7E-9152-FB34-899F7DCFE765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2F31C9-E73D-7D51-8916-153046BC00A6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DFDF55F-6653-06DA-2233-A5B12CEE17D6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2E581A9-716E-997D-0E0C-7B4C0A7279E2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E584979-04E0-C4F4-1098-EF5021AFE604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4FDF51A-C9D7-6B26-213D-AE667CDD79B8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CF398AA-8E30-423D-5532-17F5AD181833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Functions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 function is a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named block of code </a:t>
            </a:r>
            <a:r>
              <a:rPr lang="en-US" sz="1800" dirty="0">
                <a:latin typeface="Calibri"/>
                <a:ea typeface="Calibri"/>
                <a:cs typeface="Calibri"/>
              </a:rPr>
              <a:t>that performs a specific task. 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 function can take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inputs</a:t>
            </a:r>
            <a:r>
              <a:rPr lang="en-US" sz="1800" dirty="0">
                <a:latin typeface="Calibri"/>
                <a:ea typeface="Calibri"/>
                <a:cs typeface="Calibri"/>
              </a:rPr>
              <a:t> (called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parameters</a:t>
            </a:r>
            <a:r>
              <a:rPr lang="en-US" sz="1800" dirty="0">
                <a:latin typeface="Calibri"/>
                <a:ea typeface="Calibri"/>
                <a:cs typeface="Calibri"/>
              </a:rPr>
              <a:t>), execute a block of statements, and optionally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return</a:t>
            </a:r>
            <a:r>
              <a:rPr lang="en-US" sz="1800" dirty="0">
                <a:latin typeface="Calibri"/>
                <a:ea typeface="Calibri"/>
                <a:cs typeface="Calibri"/>
              </a:rPr>
              <a:t> a result.</a:t>
            </a:r>
          </a:p>
          <a:p>
            <a:pPr indent="0" algn="ctr">
              <a:buNone/>
            </a:pPr>
            <a:r>
              <a:rPr lang="en-US" sz="1700" dirty="0">
                <a:latin typeface="Calibri"/>
                <a:ea typeface="Calibri"/>
                <a:cs typeface="Calibri"/>
              </a:rPr>
              <a:t>When a function is called, memory for its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variables</a:t>
            </a:r>
            <a:r>
              <a:rPr lang="en-US" sz="1700" dirty="0">
                <a:latin typeface="Calibri"/>
                <a:ea typeface="Calibri"/>
                <a:cs typeface="Calibri"/>
              </a:rPr>
              <a:t> and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other data </a:t>
            </a:r>
            <a:r>
              <a:rPr lang="en-US" sz="1700" dirty="0">
                <a:latin typeface="Calibri"/>
                <a:ea typeface="Calibri"/>
                <a:cs typeface="Calibri"/>
              </a:rPr>
              <a:t>is allocated in a separate block in a stack called a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stack frame</a:t>
            </a:r>
            <a:r>
              <a:rPr lang="en-US" sz="1700" dirty="0">
                <a:latin typeface="Calibri"/>
                <a:ea typeface="Calibri"/>
                <a:cs typeface="Calibri"/>
              </a:rPr>
              <a:t>. The stack in which it is created is called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function call stack</a:t>
            </a:r>
            <a:r>
              <a:rPr lang="en-US" sz="1700" dirty="0">
                <a:latin typeface="Calibri"/>
                <a:ea typeface="Calibri"/>
                <a:cs typeface="Calibri"/>
              </a:rPr>
              <a:t>. When the function completes its execution, its stack frame is </a:t>
            </a:r>
            <a:r>
              <a:rPr lang="en-US" sz="1700" b="1" dirty="0">
                <a:latin typeface="Calibri"/>
                <a:ea typeface="Calibri"/>
                <a:cs typeface="Calibri"/>
              </a:rPr>
              <a:t>deleted</a:t>
            </a:r>
            <a:r>
              <a:rPr lang="en-US" sz="1700" dirty="0">
                <a:latin typeface="Calibri"/>
                <a:ea typeface="Calibri"/>
                <a:cs typeface="Calibri"/>
              </a:rPr>
              <a:t> from the stack, </a:t>
            </a:r>
            <a:r>
              <a:rPr lang="en-US" sz="1700" b="1" u="sng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freeing up the memory</a:t>
            </a:r>
            <a:r>
              <a:rPr lang="en-US" sz="1700" dirty="0">
                <a:latin typeface="Calibri"/>
                <a:ea typeface="Calibri"/>
                <a:cs typeface="Calibri"/>
              </a:rPr>
              <a:t>.</a:t>
            </a:r>
            <a:endParaRPr lang="en-GB" sz="17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9863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BF805-8597-B139-5B90-C24433CFD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278F6D-4603-9C93-C342-2A4A5BB1BFD1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43DF842-0D0A-9FE1-D351-6686E2ADCAC6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EBE77F3-5F91-23ED-E913-C228285AC522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4301047-8BCF-4724-8398-26BC27AD88D6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7A43CE0-83BB-FEEB-19FB-5C15C15228D3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55598D8-5DA0-F3B2-9E9D-46BDE32DDA19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67A68FCB-A025-66BD-B538-A5983D6B9BB3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5724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endParaRPr lang="en-GB" sz="17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4FBB19-54C1-9E3D-7A37-41F422E77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040125"/>
              </p:ext>
            </p:extLst>
          </p:nvPr>
        </p:nvGraphicFramePr>
        <p:xfrm>
          <a:off x="4107659" y="2979420"/>
          <a:ext cx="8229600" cy="432816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2836718">
                  <a:extLst>
                    <a:ext uri="{9D8B030D-6E8A-4147-A177-3AD203B41FA5}">
                      <a16:colId xmlns:a16="http://schemas.microsoft.com/office/drawing/2014/main" val="3858453485"/>
                    </a:ext>
                  </a:extLst>
                </a:gridCol>
                <a:gridCol w="2836718">
                  <a:extLst>
                    <a:ext uri="{9D8B030D-6E8A-4147-A177-3AD203B41FA5}">
                      <a16:colId xmlns:a16="http://schemas.microsoft.com/office/drawing/2014/main" val="2378915981"/>
                    </a:ext>
                  </a:extLst>
                </a:gridCol>
                <a:gridCol w="2556164">
                  <a:extLst>
                    <a:ext uri="{9D8B030D-6E8A-4147-A177-3AD203B41FA5}">
                      <a16:colId xmlns:a16="http://schemas.microsoft.com/office/drawing/2014/main" val="3211670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Memory Address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Content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Responsibility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274363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High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Arguments for Function A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Caller of A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215404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Return Address to Main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Caller of A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690907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Function A's Local Variables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Function A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674340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Arguments for Function B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Function A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01741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Return Address to Function A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Function A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833431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Low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Function B's Local Variables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+mj-lt"/>
                        </a:rPr>
                        <a:t>Function B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290022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0940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92F91-A4FB-6794-F7A7-D2BF819CD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FC069E-9FE7-FB62-199A-39E9100FF0D9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0C65CD-552C-9CB6-6E07-2975C3B3545B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A430A1A-C89B-22C9-700B-FDF9FD5BBE20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AE97321-152E-16E6-E441-806514BBA185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072AAAB-0824-B184-8FA9-8FBAABCA02D5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6912F9E-80FF-9A6A-CDBB-ADC9CEA44DDA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6B635C34-FE8D-431D-C31C-07B9997D223D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Pointers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A pointer is a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variable</a:t>
            </a:r>
            <a:r>
              <a:rPr lang="en-US" sz="1800" dirty="0">
                <a:latin typeface="Calibri"/>
                <a:ea typeface="Calibri"/>
                <a:cs typeface="Calibri"/>
              </a:rPr>
              <a:t> that stores the memory address of another variable. Instead of holding a direct value, it holds the address where the value is stored in memory. It is the backbone of low-level memory manipulation in C.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Advantages of Pointers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Pointers are used for dynamic memory allocation and deallocation.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An Array or a structure can be accessed efficiently with pointers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Pointers are useful for accessing memory locations.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Pointers are used to form complex data structures such as linked lists, graphs, trees, etc.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Pointers reduce the length of the program and its execution time as well.</a:t>
            </a:r>
          </a:p>
        </p:txBody>
      </p:sp>
    </p:spTree>
    <p:extLst>
      <p:ext uri="{BB962C8B-B14F-4D97-AF65-F5344CB8AC3E}">
        <p14:creationId xmlns:p14="http://schemas.microsoft.com/office/powerpoint/2010/main" val="4289018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1DCF-5945-8EBC-D60C-56074C92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40AF4B-013F-4693-FB5D-41F5FB1E0971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E37C9CB-2A97-2ADF-C476-305E1F0F6A52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1DEFE3E-13CF-8F30-71B9-F783BD69C1A9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0CA5BB3-7FFB-6A1E-06F4-B5A7716EB567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8FE3F07-6171-EF34-265C-18BBCA8E847D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5FD1A8B-0E04-99B8-2A20-D30A57FA1B9A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6238D7EB-FE81-8194-7CDD-6EFD5DE27A83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Pointers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Issues with Pointers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Memory corruption can occur if an incorrect value is provided to pointers.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Pointers are a little bit complex to understand.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Pointers are majorly responsible for memory leaks in C.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Accessing using pointers are comparatively slower than variables in C.</a:t>
            </a:r>
          </a:p>
          <a:p>
            <a:pPr marL="285750" indent="-285750" algn="ctr"/>
            <a:r>
              <a:rPr lang="en-US" sz="1800" dirty="0">
                <a:latin typeface="Calibri"/>
                <a:ea typeface="Calibri"/>
                <a:cs typeface="Calibri"/>
              </a:rPr>
              <a:t>Uninitialized pointers might cause a segmentation fault.</a:t>
            </a:r>
          </a:p>
        </p:txBody>
      </p:sp>
    </p:spTree>
    <p:extLst>
      <p:ext uri="{BB962C8B-B14F-4D97-AF65-F5344CB8AC3E}">
        <p14:creationId xmlns:p14="http://schemas.microsoft.com/office/powerpoint/2010/main" val="2922797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5B08D-965C-D091-A3F4-123C2BC9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24ED5F5-A20A-378F-EAD2-CEDB7F83771C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C60F816-2EF3-9DE7-1C6B-FA4229D03D06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F083F6C-36B5-9E58-235F-2948DA16C65B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CB111CF-D63B-10A1-EA11-CB4E10DDC404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07C3953-0C07-1750-1014-3D0337DDA8FE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0B83DE3-E269-AE7C-E6A1-C8FB13A0470E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A9FCB7-6C74-BF69-0F93-37430B7AA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179595"/>
              </p:ext>
            </p:extLst>
          </p:nvPr>
        </p:nvGraphicFramePr>
        <p:xfrm>
          <a:off x="2590800" y="4401820"/>
          <a:ext cx="10591800" cy="148336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2463800">
                  <a:extLst>
                    <a:ext uri="{9D8B030D-6E8A-4147-A177-3AD203B41FA5}">
                      <a16:colId xmlns:a16="http://schemas.microsoft.com/office/drawing/2014/main" val="22878342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4057295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08647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Pointer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Pointer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 Pointer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07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Points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Variable address (Stack/Heap)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Code address (Text Segment)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75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Can Modify?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Yes* (change 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 (code is read-only)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463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Arithmetic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ptr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++ moves to next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Arithmetic is generally illegal/undefined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5688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844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9512-916C-E7E3-C05F-35603A463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B67123-A965-DE35-8DE1-1E3F3E57E5CE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BE65323-7114-242A-2E05-694B2ABA213F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9B7D50B-1A6B-33C8-AE14-FEE9B53229A5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117B3A0-5F09-7BE4-65B4-E054EDCF688F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039FC3-6E52-CC5E-22A9-81781EEFCAF1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47FA7FC-D5E1-8A34-4F86-B03D1BED7C86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6E42E2D3-5FB3-0E3E-ACF4-B5F030E200E0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Why function pointers?</a:t>
            </a:r>
          </a:p>
          <a:p>
            <a:pPr indent="0" algn="ctr">
              <a:buNone/>
            </a:pPr>
            <a:endParaRPr lang="en-US" sz="18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Performance</a:t>
            </a:r>
            <a:r>
              <a:rPr lang="en-US" sz="1800" dirty="0">
                <a:latin typeface="Calibri"/>
                <a:ea typeface="Calibri"/>
                <a:cs typeface="Calibri"/>
              </a:rPr>
              <a:t>: It's a direct lookup table. 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Clean Code</a:t>
            </a:r>
            <a:r>
              <a:rPr lang="en-US" sz="1800" dirty="0">
                <a:latin typeface="Calibri"/>
                <a:ea typeface="Calibri"/>
                <a:cs typeface="Calibri"/>
              </a:rPr>
              <a:t>: The logic for "what to do" is separated from the "how to do it."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Extensibility</a:t>
            </a:r>
            <a:r>
              <a:rPr lang="en-US" sz="1800" dirty="0">
                <a:latin typeface="Calibri"/>
                <a:ea typeface="Calibri"/>
                <a:cs typeface="Calibri"/>
              </a:rPr>
              <a:t>: You can add new functions to the array with minimal changes to the existing code.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527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4635-54EA-8201-115D-EE3CAF0A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235770-2B67-196E-F587-D2F069D429FE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B12A34-973F-2A60-DDD5-713AFEE89842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30242DE-51E7-D50A-7605-FA6E95487272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F17BEDC-E1AA-A2AC-6459-1F57DF94D296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74C175F-2539-0CD7-6CE5-00836C9C8349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4F89815-680E-6D27-FBA2-B8A75744196A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E114D-1004-D374-F52E-7FC212502288}"/>
              </a:ext>
            </a:extLst>
          </p:cNvPr>
          <p:cNvSpPr/>
          <p:nvPr/>
        </p:nvSpPr>
        <p:spPr>
          <a:xfrm>
            <a:off x="7849837" y="4404836"/>
            <a:ext cx="2588326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20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0128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63A7-AEAC-FD84-6E32-5B058F19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358FB73-90E6-543C-FC0C-D58111D504C9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EDD5595-644A-213A-C767-3DE219801E91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CCE219D-4890-DB2B-9871-3D7ADC49BB8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7F93ACB-FB8C-4EE5-D425-6821ACD73B84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431E802-9EED-CE90-A42E-B3BD703F972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957350B-83D4-F3D6-89BC-D938D99626C7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9D0154BC-1689-0D06-16AB-D0BCF426977A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Control Flow</a:t>
            </a:r>
          </a:p>
          <a:p>
            <a:pPr indent="0" algn="ctr">
              <a:buNone/>
            </a:pPr>
            <a:endParaRPr lang="en-US" sz="1800" b="1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/>
              <a:t>In C, </a:t>
            </a:r>
            <a:r>
              <a:rPr lang="en-US" sz="1800" b="1" dirty="0"/>
              <a:t>control flow</a:t>
            </a:r>
            <a:r>
              <a:rPr lang="en-US" sz="1800" dirty="0"/>
              <a:t> is the engine that determines the order in which statements are executed. Without it, your code would just be a static list of instructions running from top to bottom.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2813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2872-AB1E-7F14-9208-A4182F9DF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E9A670-CBAB-799C-E75B-C47B554DDF0D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3D29448-A157-0962-0D9E-F2EC543A7EFD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024B11F-01D2-A9D0-9C82-4B27080FB9FB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AB60BD0-2498-BA62-FE8B-8DDD064C6189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7238AC1-6A51-D341-4C64-082AB976832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F90DFC5-8503-0E3C-F62C-E0C9890D9A08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E4C26828-CCAA-7B28-A672-3341A6B8FCD7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Decision Making:</a:t>
            </a:r>
            <a:r>
              <a:rPr lang="en-US" sz="1800" dirty="0">
                <a:latin typeface="Calibri"/>
                <a:ea typeface="Calibri"/>
                <a:cs typeface="Calibri"/>
              </a:rPr>
              <a:t> if/else vs. switch</a:t>
            </a:r>
          </a:p>
          <a:p>
            <a:pPr marL="342900" algn="ctr">
              <a:buAutoNum type="arabicPeriod"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The most flexible way to branch is if-else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if-else</a:t>
            </a:r>
            <a:r>
              <a:rPr lang="en-US" sz="1800" dirty="0">
                <a:latin typeface="Calibri"/>
                <a:ea typeface="Calibri"/>
                <a:cs typeface="Calibri"/>
              </a:rPr>
              <a:t>. 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It evaluates </a:t>
            </a:r>
            <a:r>
              <a:rPr lang="en-US" sz="1800" b="1" dirty="0" err="1">
                <a:latin typeface="Calibri"/>
                <a:ea typeface="Calibri"/>
                <a:cs typeface="Calibri"/>
              </a:rPr>
              <a:t>boolean</a:t>
            </a:r>
            <a:r>
              <a:rPr lang="en-US" sz="1800" dirty="0">
                <a:latin typeface="Calibri"/>
                <a:ea typeface="Calibri"/>
                <a:cs typeface="Calibri"/>
              </a:rPr>
              <a:t> expressions (true/no-zero vs. false/zero).Best for: Ranges (e.g., x &gt; 100), complex logical conditions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(&amp;&amp;, ||)</a:t>
            </a:r>
            <a:r>
              <a:rPr lang="en-US" sz="1800" dirty="0">
                <a:latin typeface="Calibri"/>
                <a:ea typeface="Calibri"/>
                <a:cs typeface="Calibri"/>
              </a:rPr>
              <a:t>, or floating-point comparisons.</a:t>
            </a:r>
          </a:p>
        </p:txBody>
      </p:sp>
    </p:spTree>
    <p:extLst>
      <p:ext uri="{BB962C8B-B14F-4D97-AF65-F5344CB8AC3E}">
        <p14:creationId xmlns:p14="http://schemas.microsoft.com/office/powerpoint/2010/main" val="397356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DB92-5213-6620-50C7-5511ABF34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79C119-0C8A-7B5A-F337-47B3507033E0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E61FB8-9705-9C97-4302-FB8499156D91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6140146-4A20-0733-BCE4-AFB4A2D1023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538D543-5AEF-725F-3F9B-5D647855A39E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8240793-1B9C-C99A-1397-BBDCBC1F2383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A8D15FD-7337-5B4A-A1D2-758256DA98BB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C849A2-B0A0-5F25-2939-49EF05AD3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171887"/>
              </p:ext>
            </p:extLst>
          </p:nvPr>
        </p:nvGraphicFramePr>
        <p:xfrm>
          <a:off x="5029200" y="3162300"/>
          <a:ext cx="8229599" cy="396240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6187869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90806674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37795812"/>
                    </a:ext>
                  </a:extLst>
                </a:gridCol>
                <a:gridCol w="2590799">
                  <a:extLst>
                    <a:ext uri="{9D8B030D-6E8A-4147-A177-3AD203B41FA5}">
                      <a16:colId xmlns:a16="http://schemas.microsoft.com/office/drawing/2014/main" val="548505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Loop Type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Check Condition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Guaranteed Runs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Use Case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97132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444746"/>
                          </a:solidFill>
                          <a:effectLst/>
                        </a:rPr>
                        <a:t>while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Before loop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When you don't know how many iterations you need.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064648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444746"/>
                          </a:solidFill>
                          <a:effectLst/>
                        </a:rPr>
                        <a:t>do while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After loop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When you need to run the body at least once (e.g., a menu).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30317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444746"/>
                          </a:solidFill>
                          <a:effectLst/>
                        </a:rPr>
                        <a:t>for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Before loop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When the number of iterations is known (counting).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7020248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4405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5BD3-278A-95F5-73D8-85DEE292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5DB4D7-497E-E848-3BCB-26B28653EC3B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1CCE752-3AC5-B135-94F4-2274F0AF63F9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3AFD17B-FCBE-C826-1A71-E3489236BDC3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9BF2DB8-DF4D-4A5E-45A8-8C1C4009FB85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0F240CB-49AC-3EFD-C756-C59563782DAF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D021A33-4DC9-562E-58B2-FD4EDBD569F0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02E8034-BC8C-80A4-5307-9681A1A6A798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Jumping: 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goto</a:t>
            </a:r>
            <a:r>
              <a:rPr lang="en-US" sz="1800" dirty="0">
                <a:latin typeface="Calibri"/>
                <a:ea typeface="Calibri"/>
                <a:cs typeface="Calibri"/>
              </a:rPr>
              <a:t>, break, and continue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break:</a:t>
            </a:r>
            <a:r>
              <a:rPr lang="en-US" sz="1800" dirty="0">
                <a:latin typeface="Calibri"/>
                <a:ea typeface="Calibri"/>
                <a:cs typeface="Calibri"/>
              </a:rPr>
              <a:t> Immediately exits the innermost loop or switch statement.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continue:</a:t>
            </a:r>
            <a:r>
              <a:rPr lang="en-US" sz="1800" dirty="0">
                <a:latin typeface="Calibri"/>
                <a:ea typeface="Calibri"/>
                <a:cs typeface="Calibri"/>
              </a:rPr>
              <a:t> Skips the rest of the current loop iteration and jumps straight to the next condition check.</a:t>
            </a:r>
          </a:p>
          <a:p>
            <a:pPr indent="0" algn="ctr">
              <a:buNone/>
            </a:pPr>
            <a:r>
              <a:rPr lang="en-US" sz="1800" b="1" dirty="0" err="1">
                <a:latin typeface="Calibri"/>
                <a:ea typeface="Calibri"/>
                <a:cs typeface="Calibri"/>
              </a:rPr>
              <a:t>goto</a:t>
            </a:r>
            <a:r>
              <a:rPr lang="en-US" sz="1800" b="1" dirty="0">
                <a:latin typeface="Calibri"/>
                <a:ea typeface="Calibri"/>
                <a:cs typeface="Calibri"/>
              </a:rPr>
              <a:t>:</a:t>
            </a:r>
            <a:r>
              <a:rPr lang="en-US" sz="1800" dirty="0">
                <a:latin typeface="Calibri"/>
                <a:ea typeface="Calibri"/>
                <a:cs typeface="Calibri"/>
              </a:rPr>
              <a:t> Jumps to a labeled part of the code (</a:t>
            </a:r>
            <a:r>
              <a:rPr lang="en-US" sz="1800" b="1" dirty="0">
                <a:latin typeface="Calibri"/>
                <a:ea typeface="Calibri"/>
                <a:cs typeface="Calibri"/>
              </a:rPr>
              <a:t>label:</a:t>
            </a:r>
            <a:r>
              <a:rPr lang="en-US" sz="1800" dirty="0">
                <a:latin typeface="Calibri"/>
                <a:ea typeface="Calibri"/>
                <a:cs typeface="Calibri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77513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E222-55BD-C96D-6D22-710E7497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FBABA7-E296-640F-5DAF-D1E53DEB5464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E6D9AA-D38C-9A03-020E-407D8F643C06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319D06E-FDC3-A739-827B-7C2916C87BBB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A7BE6C7-BE0B-D974-5D51-BABB61674114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A879ECF4-6A0C-935C-A27A-C395FF0BDBD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DD728A4-5C0E-BA38-FB6E-74AD2ECD0E9F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E2443BA6-3066-94A1-3314-C6DC0705F4E0}"/>
              </a:ext>
            </a:extLst>
          </p:cNvPr>
          <p:cNvSpPr>
            <a:spLocks noGrp="1"/>
          </p:cNvSpPr>
          <p:nvPr/>
        </p:nvSpPr>
        <p:spPr>
          <a:xfrm>
            <a:off x="8763000" y="2057400"/>
            <a:ext cx="762000" cy="433394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if vs #if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83F2D7-717D-57BA-75F2-8DBC97A08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325424"/>
              </p:ext>
            </p:extLst>
          </p:nvPr>
        </p:nvGraphicFramePr>
        <p:xfrm>
          <a:off x="3048000" y="2635455"/>
          <a:ext cx="9436608" cy="3169920"/>
        </p:xfrm>
        <a:graphic>
          <a:graphicData uri="http://schemas.openxmlformats.org/drawingml/2006/table">
            <a:tbl>
              <a:tblPr firstRow="1" firstCol="1" bandRow="1">
                <a:tableStyleId>{18603FDC-E32A-4AB5-989C-0864C3EAD2B8}</a:tableStyleId>
              </a:tblPr>
              <a:tblGrid>
                <a:gridCol w="3145536">
                  <a:extLst>
                    <a:ext uri="{9D8B030D-6E8A-4147-A177-3AD203B41FA5}">
                      <a16:colId xmlns:a16="http://schemas.microsoft.com/office/drawing/2014/main" val="1062802125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3120003478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4206431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Feature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Standard if/else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Pre-processor #if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48932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Evaluated by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CPU (Runtime)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Pre-processor (Compile-time)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46846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Variable Access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Can use any variable.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Can only use #define constants.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60506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Binary Size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Includes all branches.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Includes only the "true" branch.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3687084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Main Goal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Logic flow.</a:t>
                      </a: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Portability and Configuration.</a:t>
                      </a: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22216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187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3F932-0C19-DAE9-0C86-62011640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A7E4B42-CADD-4ED9-E052-06DEFEDA03F0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BA9088-2E09-B288-507C-3F6827477BC6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55D81E9-3722-5436-4D8E-0951EBD3A036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96C95D-6C1F-2D57-B33E-82E48048981D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A6E2001-70C3-2779-8E7F-86A069ECEC72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5EE3D08-8CC5-25EE-E197-BE2CEAD84BD7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920D59A7-4177-19D9-E132-C2F1A9645B35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Side-Channel Attacks</a:t>
            </a:r>
          </a:p>
          <a:p>
            <a:pPr indent="0" algn="ctr">
              <a:buNone/>
            </a:pPr>
            <a:r>
              <a:rPr lang="en-US" sz="1800" dirty="0">
                <a:latin typeface="Calibri"/>
                <a:ea typeface="Calibri"/>
                <a:cs typeface="Calibri"/>
              </a:rPr>
              <a:t>Control flow statements can inadvertently leak "secret" information based on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how long </a:t>
            </a:r>
            <a:r>
              <a:rPr lang="en-US" sz="1800" dirty="0">
                <a:latin typeface="Calibri"/>
                <a:ea typeface="Calibri"/>
                <a:cs typeface="Calibri"/>
              </a:rPr>
              <a:t>they take to execute or how they affect the CPU's hardware.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Timing Attacks</a:t>
            </a:r>
            <a:r>
              <a:rPr lang="en-US" sz="1800" dirty="0">
                <a:latin typeface="Calibri"/>
                <a:ea typeface="Calibri"/>
                <a:cs typeface="Calibri"/>
              </a:rPr>
              <a:t>: If a password comparison loop exits early when it finds a wrong character (if (input[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dirty="0">
                <a:latin typeface="Calibri"/>
                <a:ea typeface="Calibri"/>
                <a:cs typeface="Calibri"/>
              </a:rPr>
              <a:t>] != key[</a:t>
            </a:r>
            <a:r>
              <a:rPr lang="en-US" sz="1800" dirty="0" err="1">
                <a:latin typeface="Calibri"/>
                <a:ea typeface="Calibri"/>
                <a:cs typeface="Calibri"/>
              </a:rPr>
              <a:t>i</a:t>
            </a:r>
            <a:r>
              <a:rPr lang="en-US" sz="1800" dirty="0">
                <a:latin typeface="Calibri"/>
                <a:ea typeface="Calibri"/>
                <a:cs typeface="Calibri"/>
              </a:rPr>
              <a:t>])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break</a:t>
            </a:r>
            <a:r>
              <a:rPr lang="en-US" sz="1800" dirty="0">
                <a:latin typeface="Calibri"/>
                <a:ea typeface="Calibri"/>
                <a:cs typeface="Calibri"/>
              </a:rPr>
              <a:t>;), an attacker can measure the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execution time</a:t>
            </a:r>
            <a:r>
              <a:rPr lang="en-US" sz="1800" dirty="0">
                <a:latin typeface="Calibri"/>
                <a:ea typeface="Calibri"/>
                <a:cs typeface="Calibri"/>
              </a:rPr>
              <a:t> to </a:t>
            </a:r>
            <a:r>
              <a:rPr lang="en-US" sz="1800" b="1" dirty="0">
                <a:latin typeface="Calibri"/>
                <a:ea typeface="Calibri"/>
                <a:cs typeface="Calibri"/>
              </a:rPr>
              <a:t>guess</a:t>
            </a:r>
            <a:r>
              <a:rPr lang="en-US" sz="1800" dirty="0">
                <a:latin typeface="Calibri"/>
                <a:ea typeface="Calibri"/>
                <a:cs typeface="Calibri"/>
              </a:rPr>
              <a:t> the password character by character.</a:t>
            </a:r>
          </a:p>
        </p:txBody>
      </p:sp>
    </p:spTree>
    <p:extLst>
      <p:ext uri="{BB962C8B-B14F-4D97-AF65-F5344CB8AC3E}">
        <p14:creationId xmlns:p14="http://schemas.microsoft.com/office/powerpoint/2010/main" val="846139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EFEB5-737F-84BD-E8F3-0061682B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2B5631-4C34-03AB-9FFC-01E78BB51A82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37DF91-73BB-7A89-A751-4CC9148458B0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9CFA993-69AD-F31B-78E9-3560F877F83C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11A276B-D39D-2450-E54D-B5CEC187377C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BE15DB1-0357-5F50-B1C0-C57DBADD21D7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1F002DA-80FC-6CAF-8B31-6F5F78CB81FB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CFF74837-C395-8CD5-0FA9-12F5465E32B0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3877203"/>
          </a:xfrm>
          <a:prstGeom prst="rect">
            <a:avLst/>
          </a:prstGeom>
        </p:spPr>
        <p:txBody>
          <a:bodyPr vert="horz" lIns="34290" tIns="17145" rIns="34290" bIns="17145" rtlCol="0" anchor="t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How to Defend Against These Threats</a:t>
            </a: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Control-Flow Integrity </a:t>
            </a:r>
            <a:r>
              <a:rPr lang="en-US" sz="1800" dirty="0">
                <a:latin typeface="Calibri"/>
                <a:ea typeface="Calibri"/>
                <a:cs typeface="Calibri"/>
              </a:rPr>
              <a:t>(CFI): A security policy that ensures the program only follows a pre-defined "map" of valid jumps and calls.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Address Space Layout Randomization </a:t>
            </a:r>
            <a:r>
              <a:rPr lang="en-US" sz="1800" dirty="0">
                <a:latin typeface="Calibri"/>
                <a:ea typeface="Calibri"/>
                <a:cs typeface="Calibri"/>
              </a:rPr>
              <a:t>(ASLR): Randomizes where code is stored in memory, making it harder for attackers to find ROP gadgets.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  <a:p>
            <a:pPr indent="0" algn="ctr">
              <a:buNone/>
            </a:pPr>
            <a:r>
              <a:rPr lang="en-US" sz="1800" b="1" dirty="0">
                <a:latin typeface="Calibri"/>
                <a:ea typeface="Calibri"/>
                <a:cs typeface="Calibri"/>
              </a:rPr>
              <a:t>Constant-Time Programming</a:t>
            </a:r>
            <a:r>
              <a:rPr lang="en-US" sz="1800" dirty="0">
                <a:latin typeface="Calibri"/>
                <a:ea typeface="Calibri"/>
                <a:cs typeface="Calibri"/>
              </a:rPr>
              <a:t>: Ensuring that security-sensitive code (like cryptography) takes the same amount of time to run regardless of the input, preventing timing attacks.</a:t>
            </a:r>
          </a:p>
          <a:p>
            <a:pPr indent="0" algn="ctr">
              <a:buNone/>
            </a:pP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6670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A367-1636-5416-4DDB-7F86E749E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CEF966-9C26-E870-8C5A-C8AE26908859}"/>
              </a:ext>
            </a:extLst>
          </p:cNvPr>
          <p:cNvSpPr/>
          <p:nvPr/>
        </p:nvSpPr>
        <p:spPr>
          <a:xfrm>
            <a:off x="13937966" y="3083251"/>
            <a:ext cx="10946941" cy="8896877"/>
          </a:xfrm>
          <a:custGeom>
            <a:avLst/>
            <a:gdLst/>
            <a:ahLst/>
            <a:cxnLst/>
            <a:rect l="l" t="t" r="r" b="b"/>
            <a:pathLst>
              <a:path w="10946941" h="8896877">
                <a:moveTo>
                  <a:pt x="0" y="0"/>
                </a:moveTo>
                <a:lnTo>
                  <a:pt x="10946941" y="0"/>
                </a:lnTo>
                <a:lnTo>
                  <a:pt x="10946941" y="8896877"/>
                </a:lnTo>
                <a:lnTo>
                  <a:pt x="0" y="88968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E49F26D-3509-AF80-66EB-B04197C48999}"/>
              </a:ext>
            </a:extLst>
          </p:cNvPr>
          <p:cNvSpPr/>
          <p:nvPr/>
        </p:nvSpPr>
        <p:spPr>
          <a:xfrm>
            <a:off x="-4615041" y="-2057400"/>
            <a:ext cx="5643741" cy="4114800"/>
          </a:xfrm>
          <a:custGeom>
            <a:avLst/>
            <a:gdLst/>
            <a:ahLst/>
            <a:cxnLst/>
            <a:rect l="l" t="t" r="r" b="b"/>
            <a:pathLst>
              <a:path w="5643741" h="4114800">
                <a:moveTo>
                  <a:pt x="0" y="0"/>
                </a:moveTo>
                <a:lnTo>
                  <a:pt x="5643741" y="0"/>
                </a:lnTo>
                <a:lnTo>
                  <a:pt x="56437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1FAFC0F-2689-C34D-16F9-CB5D082D50AD}"/>
              </a:ext>
            </a:extLst>
          </p:cNvPr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E2F74E8-2B32-45F7-C040-80844A04FFF8}"/>
                </a:ext>
              </a:extLst>
            </p:cNvPr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E1AD27"/>
            </a:solidFill>
          </p:spPr>
          <p:txBody>
            <a:bodyPr/>
            <a:lstStyle/>
            <a:p>
              <a:endParaRPr lang="en-RO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1883AA8-A2BC-B774-9E22-C4AC990ACBBC}"/>
                </a:ext>
              </a:extLst>
            </p:cNvPr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B0EA98A-8607-74D4-7685-CE281CA21FE5}"/>
              </a:ext>
            </a:extLst>
          </p:cNvPr>
          <p:cNvSpPr/>
          <p:nvPr/>
        </p:nvSpPr>
        <p:spPr>
          <a:xfrm>
            <a:off x="15276987" y="190500"/>
            <a:ext cx="2817637" cy="1388327"/>
          </a:xfrm>
          <a:custGeom>
            <a:avLst/>
            <a:gdLst/>
            <a:ahLst/>
            <a:cxnLst/>
            <a:rect l="l" t="t" r="r" b="b"/>
            <a:pathLst>
              <a:path w="2817637" h="1388327">
                <a:moveTo>
                  <a:pt x="0" y="0"/>
                </a:moveTo>
                <a:lnTo>
                  <a:pt x="2817637" y="0"/>
                </a:lnTo>
                <a:lnTo>
                  <a:pt x="2817637" y="1388327"/>
                </a:lnTo>
                <a:lnTo>
                  <a:pt x="0" y="13883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RO"/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D0A921EE-1248-2581-6841-593B50BD5F97}"/>
              </a:ext>
            </a:extLst>
          </p:cNvPr>
          <p:cNvSpPr>
            <a:spLocks noGrp="1"/>
          </p:cNvSpPr>
          <p:nvPr/>
        </p:nvSpPr>
        <p:spPr>
          <a:xfrm>
            <a:off x="4572000" y="4238097"/>
            <a:ext cx="7300919" cy="1743603"/>
          </a:xfrm>
          <a:prstGeom prst="rect">
            <a:avLst/>
          </a:prstGeom>
        </p:spPr>
        <p:txBody>
          <a:bodyPr vert="horz" lIns="34290" tIns="17145" rIns="34290" bIns="17145" rtlCol="0" anchor="ctr">
            <a:normAutofit/>
          </a:bodyPr>
          <a:lstStyle>
            <a:defPPr>
              <a:defRPr lang="en-US"/>
            </a:defPPr>
            <a:lvl1pPr marL="0" indent="-3429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8575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indent="-228600" algn="l" defTabSz="4572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>
              <a:buNone/>
            </a:pPr>
            <a:r>
              <a:rPr lang="en-US" sz="5000" dirty="0">
                <a:latin typeface="Calibri"/>
                <a:ea typeface="Calibri"/>
                <a:cs typeface="Calibri"/>
              </a:rPr>
              <a:t>Thank you!</a:t>
            </a:r>
            <a:endParaRPr lang="en-GB" sz="5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684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LH_LOG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0AD2E"/>
      </a:accent1>
      <a:accent2>
        <a:srgbClr val="EECF6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3822</TotalTime>
  <Words>2077</Words>
  <Application>Microsoft Office PowerPoint</Application>
  <PresentationFormat>Custom</PresentationFormat>
  <Paragraphs>313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Poppins Bold</vt:lpstr>
      <vt:lpstr>Calibri</vt:lpstr>
      <vt:lpstr>Arial</vt:lpstr>
      <vt:lpstr>Google Sans Text</vt:lpstr>
      <vt:lpstr>Wingdings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IDPS</dc:title>
  <cp:lastModifiedBy>Iosif Eugen</cp:lastModifiedBy>
  <cp:revision>65</cp:revision>
  <dcterms:created xsi:type="dcterms:W3CDTF">2006-08-16T00:00:00Z</dcterms:created>
  <dcterms:modified xsi:type="dcterms:W3CDTF">2026-03-25T20:44:46Z</dcterms:modified>
  <dc:identifier>DAGCdlFyf5Y</dc:identifier>
</cp:coreProperties>
</file>