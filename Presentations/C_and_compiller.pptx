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6" r:id="rId2"/>
    <p:sldId id="258" r:id="rId3"/>
    <p:sldId id="259" r:id="rId4"/>
    <p:sldId id="272" r:id="rId5"/>
    <p:sldId id="263" r:id="rId6"/>
    <p:sldId id="260" r:id="rId7"/>
    <p:sldId id="261" r:id="rId8"/>
    <p:sldId id="262" r:id="rId9"/>
    <p:sldId id="264" r:id="rId10"/>
    <p:sldId id="265" r:id="rId11"/>
    <p:sldId id="266" r:id="rId12"/>
    <p:sldId id="267" r:id="rId13"/>
    <p:sldId id="268" r:id="rId14"/>
    <p:sldId id="269" r:id="rId15"/>
    <p:sldId id="273" r:id="rId16"/>
    <p:sldId id="270" r:id="rId17"/>
    <p:sldId id="271" r:id="rId18"/>
  </p:sldIdLst>
  <p:sldSz cx="18288000" cy="10287000"/>
  <p:notesSz cx="6858000" cy="9144000"/>
  <p:embeddedFontLst>
    <p:embeddedFont>
      <p:font typeface="Poppins Bold" panose="00000800000000000000" charset="0"/>
      <p:regular r:id="rId20"/>
      <p:bold r:id="rId21"/>
    </p:embeddedFont>
    <p:embeddedFont>
      <p:font typeface="Roboto Slab" pitchFamily="2" charset="0"/>
      <p:regular r:id="rId22"/>
      <p:bold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AAB42"/>
    <a:srgbClr val="F4CE51"/>
    <a:srgbClr val="C2A43F"/>
    <a:srgbClr val="F3CD50"/>
    <a:srgbClr val="F0D165"/>
    <a:srgbClr val="E1AD27"/>
    <a:srgbClr val="E9ED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78" autoAdjust="0"/>
    <p:restoredTop sz="73187" autoAdjust="0"/>
  </p:normalViewPr>
  <p:slideViewPr>
    <p:cSldViewPr>
      <p:cViewPr varScale="1">
        <p:scale>
          <a:sx n="77" d="100"/>
          <a:sy n="77" d="100"/>
        </p:scale>
        <p:origin x="216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709B2B-A38F-4CF5-91CA-35B81FBA853F}" type="datetimeFigureOut">
              <a:rPr lang="en-US" smtClean="0"/>
              <a:t>3/6/2026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BD3ABC-CF0F-42F9-B775-725C472B46FE}" type="slidenum">
              <a:rPr lang="en-US" smtClean="0"/>
              <a:t>‹#›</a:t>
            </a:fld>
            <a:endParaRPr lang="en-US"/>
          </a:p>
        </p:txBody>
      </p:sp>
    </p:spTree>
    <p:extLst>
      <p:ext uri="{BB962C8B-B14F-4D97-AF65-F5344CB8AC3E}">
        <p14:creationId xmlns:p14="http://schemas.microsoft.com/office/powerpoint/2010/main" val="2386068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open4tech.com/memory-layout-embedded-c-programs/#footnote"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1" i="0" kern="1200" dirty="0">
                <a:solidFill>
                  <a:schemeClr val="tx1"/>
                </a:solidFill>
                <a:effectLst/>
                <a:latin typeface="+mn-lt"/>
                <a:ea typeface="+mn-ea"/>
                <a:cs typeface="+mn-cs"/>
              </a:rPr>
              <a:t>Embedded Systems</a:t>
            </a:r>
            <a:endParaRPr lang="en-US" sz="1200" b="0" i="0" kern="1200" dirty="0">
              <a:solidFill>
                <a:schemeClr val="tx1"/>
              </a:solidFill>
              <a:effectLst/>
              <a:latin typeface="+mn-lt"/>
              <a:ea typeface="+mn-ea"/>
              <a:cs typeface="+mn-cs"/>
            </a:endParaRPr>
          </a:p>
          <a:p>
            <a:pPr rtl="0" fontAlgn="base"/>
            <a:r>
              <a:rPr lang="en-US" sz="1200" b="0" i="0" kern="1200" dirty="0">
                <a:solidFill>
                  <a:schemeClr val="tx1"/>
                </a:solidFill>
                <a:effectLst/>
                <a:latin typeface="+mn-lt"/>
                <a:ea typeface="+mn-ea"/>
                <a:cs typeface="+mn-cs"/>
              </a:rPr>
              <a:t>C is heavily used in embedded systems programming, in large part due to its ability to interact directly with hardware. Microcontrollers in products such as Arduino, automotive control units, and IoT devices are all implemented using C to provide a program the ability to use limited resources, associated with real-time programming.</a:t>
            </a:r>
          </a:p>
          <a:p>
            <a:endParaRPr lang="en-US" dirty="0"/>
          </a:p>
        </p:txBody>
      </p:sp>
      <p:sp>
        <p:nvSpPr>
          <p:cNvPr id="4" name="Slide Number Placeholder 3"/>
          <p:cNvSpPr>
            <a:spLocks noGrp="1"/>
          </p:cNvSpPr>
          <p:nvPr>
            <p:ph type="sldNum" sz="quarter" idx="5"/>
          </p:nvPr>
        </p:nvSpPr>
        <p:spPr/>
        <p:txBody>
          <a:bodyPr/>
          <a:lstStyle/>
          <a:p>
            <a:fld id="{5FBD3ABC-CF0F-42F9-B775-725C472B46FE}" type="slidenum">
              <a:rPr lang="en-US" smtClean="0"/>
              <a:t>6</a:t>
            </a:fld>
            <a:endParaRPr lang="en-US"/>
          </a:p>
        </p:txBody>
      </p:sp>
    </p:spTree>
    <p:extLst>
      <p:ext uri="{BB962C8B-B14F-4D97-AF65-F5344CB8AC3E}">
        <p14:creationId xmlns:p14="http://schemas.microsoft.com/office/powerpoint/2010/main" val="1814381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Deterministic performance – if we are careful about the way we implement the applications – we are going to take care about some of the main vulnerabilities in this training program.</a:t>
            </a:r>
          </a:p>
        </p:txBody>
      </p:sp>
      <p:sp>
        <p:nvSpPr>
          <p:cNvPr id="4" name="Slide Number Placeholder 3"/>
          <p:cNvSpPr>
            <a:spLocks noGrp="1"/>
          </p:cNvSpPr>
          <p:nvPr>
            <p:ph type="sldNum" sz="quarter" idx="5"/>
          </p:nvPr>
        </p:nvSpPr>
        <p:spPr/>
        <p:txBody>
          <a:bodyPr/>
          <a:lstStyle/>
          <a:p>
            <a:fld id="{5FBD3ABC-CF0F-42F9-B775-725C472B46FE}" type="slidenum">
              <a:rPr lang="en-US" smtClean="0"/>
              <a:t>7</a:t>
            </a:fld>
            <a:endParaRPr lang="en-US"/>
          </a:p>
        </p:txBody>
      </p:sp>
    </p:spTree>
    <p:extLst>
      <p:ext uri="{BB962C8B-B14F-4D97-AF65-F5344CB8AC3E}">
        <p14:creationId xmlns:p14="http://schemas.microsoft.com/office/powerpoint/2010/main" val="3254898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Code Segment (.text)  </a:t>
            </a:r>
          </a:p>
          <a:p>
            <a:r>
              <a:rPr lang="en-US" sz="1200" b="0" i="0" kern="1200" dirty="0">
                <a:solidFill>
                  <a:schemeClr val="tx1"/>
                </a:solidFill>
                <a:effectLst/>
                <a:latin typeface="+mn-lt"/>
                <a:ea typeface="+mn-ea"/>
                <a:cs typeface="+mn-cs"/>
              </a:rPr>
              <a:t>This segment stores the executable program code (the machine instructions). Variables defined with the </a:t>
            </a:r>
            <a:r>
              <a:rPr lang="en-US" sz="1200" b="1" i="1" kern="1200" dirty="0">
                <a:solidFill>
                  <a:schemeClr val="tx1"/>
                </a:solidFill>
                <a:effectLst/>
                <a:latin typeface="+mn-lt"/>
                <a:ea typeface="+mn-ea"/>
                <a:cs typeface="+mn-cs"/>
              </a:rPr>
              <a:t>const </a:t>
            </a:r>
            <a:r>
              <a:rPr lang="en-US" sz="1200" b="0" i="0" kern="1200" dirty="0">
                <a:solidFill>
                  <a:schemeClr val="tx1"/>
                </a:solidFill>
                <a:effectLst/>
                <a:latin typeface="+mn-lt"/>
                <a:ea typeface="+mn-ea"/>
                <a:cs typeface="+mn-cs"/>
              </a:rPr>
              <a:t>type qualifier can also be placed in the code segment. It is a read-only segment stored in a non-volatile memory. Depending on the platform it can be copied to a faster RAM memory or the program code can be executed in place (directly from the non-volatile memory).</a:t>
            </a:r>
          </a:p>
          <a:p>
            <a:r>
              <a:rPr lang="en-US" sz="1200" b="1" i="0" kern="1200" dirty="0">
                <a:solidFill>
                  <a:schemeClr val="tx1"/>
                </a:solidFill>
                <a:effectLst/>
                <a:latin typeface="+mn-lt"/>
                <a:ea typeface="+mn-ea"/>
                <a:cs typeface="+mn-cs"/>
              </a:rPr>
              <a:t>Initialized Data Segment (.data)</a:t>
            </a:r>
          </a:p>
          <a:p>
            <a:r>
              <a:rPr lang="en-US" sz="1200" b="0" i="0" kern="1200" dirty="0">
                <a:solidFill>
                  <a:schemeClr val="tx1"/>
                </a:solidFill>
                <a:effectLst/>
                <a:latin typeface="+mn-lt"/>
                <a:ea typeface="+mn-ea"/>
                <a:cs typeface="+mn-cs"/>
              </a:rPr>
              <a:t>This segment stores all global variables (with storage class specifier </a:t>
            </a:r>
            <a:r>
              <a:rPr lang="en-US" sz="1200" b="1" i="1" kern="1200" dirty="0">
                <a:solidFill>
                  <a:schemeClr val="tx1"/>
                </a:solidFill>
                <a:effectLst/>
                <a:latin typeface="+mn-lt"/>
                <a:ea typeface="+mn-ea"/>
                <a:cs typeface="+mn-cs"/>
              </a:rPr>
              <a:t>static</a:t>
            </a:r>
            <a:r>
              <a:rPr lang="en-US" sz="1200" b="0" i="0" kern="1200" dirty="0">
                <a:solidFill>
                  <a:schemeClr val="tx1"/>
                </a:solidFill>
                <a:effectLst/>
                <a:latin typeface="+mn-lt"/>
                <a:ea typeface="+mn-ea"/>
                <a:cs typeface="+mn-cs"/>
              </a:rPr>
              <a:t> or </a:t>
            </a:r>
            <a:r>
              <a:rPr lang="en-US" sz="1200" b="1" i="1" kern="1200" dirty="0">
                <a:solidFill>
                  <a:schemeClr val="tx1"/>
                </a:solidFill>
                <a:effectLst/>
                <a:latin typeface="+mn-lt"/>
                <a:ea typeface="+mn-ea"/>
                <a:cs typeface="+mn-cs"/>
              </a:rPr>
              <a:t>extern)</a:t>
            </a:r>
            <a:r>
              <a:rPr lang="en-US" sz="1200" b="0" i="0" u="none" strike="noStrike" kern="1200" baseline="30000" dirty="0">
                <a:solidFill>
                  <a:schemeClr val="tx1"/>
                </a:solidFill>
                <a:effectLst/>
                <a:latin typeface="+mn-lt"/>
                <a:ea typeface="+mn-ea"/>
                <a:cs typeface="+mn-cs"/>
                <a:hlinkClick r:id="rId3" tooltip="Jump to Footnotes at end of page"/>
              </a:rPr>
              <a:t>1</a:t>
            </a:r>
            <a:r>
              <a:rPr lang="en-US" sz="1200" b="0" i="0" kern="1200" dirty="0">
                <a:solidFill>
                  <a:schemeClr val="tx1"/>
                </a:solidFill>
                <a:effectLst/>
                <a:latin typeface="+mn-lt"/>
                <a:ea typeface="+mn-ea"/>
                <a:cs typeface="+mn-cs"/>
              </a:rPr>
              <a:t>  and local (defined inside a function) </a:t>
            </a:r>
            <a:r>
              <a:rPr lang="en-US" sz="1200" b="1" i="1" kern="1200" dirty="0">
                <a:solidFill>
                  <a:schemeClr val="tx1"/>
                </a:solidFill>
                <a:effectLst/>
                <a:latin typeface="+mn-lt"/>
                <a:ea typeface="+mn-ea"/>
                <a:cs typeface="+mn-cs"/>
              </a:rPr>
              <a:t>static</a:t>
            </a:r>
            <a:r>
              <a:rPr lang="en-US" sz="1200" b="0" i="0" kern="1200" dirty="0">
                <a:solidFill>
                  <a:schemeClr val="tx1"/>
                </a:solidFill>
                <a:effectLst/>
                <a:latin typeface="+mn-lt"/>
                <a:ea typeface="+mn-ea"/>
                <a:cs typeface="+mn-cs"/>
              </a:rPr>
              <a:t> variables that have defined initial values different than zero. The segment’s size is determined by the size of the variables and is know at compile time. This segment can be further classified into initialized </a:t>
            </a:r>
            <a:r>
              <a:rPr lang="en-US" sz="1200" b="1" i="0" kern="1200" dirty="0">
                <a:solidFill>
                  <a:schemeClr val="tx1"/>
                </a:solidFill>
                <a:effectLst/>
                <a:latin typeface="+mn-lt"/>
                <a:ea typeface="+mn-ea"/>
                <a:cs typeface="+mn-cs"/>
              </a:rPr>
              <a:t>read-only area</a:t>
            </a:r>
            <a:r>
              <a:rPr lang="en-US" sz="1200" b="0" i="0" kern="1200" dirty="0">
                <a:solidFill>
                  <a:schemeClr val="tx1"/>
                </a:solidFill>
                <a:effectLst/>
                <a:latin typeface="+mn-lt"/>
                <a:ea typeface="+mn-ea"/>
                <a:cs typeface="+mn-cs"/>
              </a:rPr>
              <a:t> and initialized </a:t>
            </a:r>
            <a:r>
              <a:rPr lang="en-US" sz="1200" b="1" i="0" kern="1200" dirty="0">
                <a:solidFill>
                  <a:schemeClr val="tx1"/>
                </a:solidFill>
                <a:effectLst/>
                <a:latin typeface="+mn-lt"/>
                <a:ea typeface="+mn-ea"/>
                <a:cs typeface="+mn-cs"/>
              </a:rPr>
              <a:t>read-write area </a:t>
            </a:r>
            <a:r>
              <a:rPr lang="en-US" sz="1200" b="0" i="0" kern="1200" dirty="0">
                <a:solidFill>
                  <a:schemeClr val="tx1"/>
                </a:solidFill>
                <a:effectLst/>
                <a:latin typeface="+mn-lt"/>
                <a:ea typeface="+mn-ea"/>
                <a:cs typeface="+mn-cs"/>
              </a:rPr>
              <a:t>(storing data that can be altered at run time). This segment is copied from the non-volatile memory it is initially stored (</a:t>
            </a:r>
            <a:r>
              <a:rPr lang="en-US" sz="1200" b="0" i="0" kern="1200" dirty="0" err="1">
                <a:solidFill>
                  <a:schemeClr val="tx1"/>
                </a:solidFill>
                <a:effectLst/>
                <a:latin typeface="+mn-lt"/>
                <a:ea typeface="+mn-ea"/>
                <a:cs typeface="+mn-cs"/>
              </a:rPr>
              <a:t>e.g</a:t>
            </a:r>
            <a:r>
              <a:rPr lang="en-US" sz="1200" b="0" i="0" kern="1200" dirty="0">
                <a:solidFill>
                  <a:schemeClr val="tx1"/>
                </a:solidFill>
                <a:effectLst/>
                <a:latin typeface="+mn-lt"/>
                <a:ea typeface="+mn-ea"/>
                <a:cs typeface="+mn-cs"/>
              </a:rPr>
              <a:t> Flash) to RAM.</a:t>
            </a:r>
          </a:p>
          <a:p>
            <a:r>
              <a:rPr lang="en-US" sz="1200" b="1" i="0" kern="1200" dirty="0">
                <a:solidFill>
                  <a:schemeClr val="tx1"/>
                </a:solidFill>
                <a:effectLst/>
                <a:latin typeface="+mn-lt"/>
                <a:ea typeface="+mn-ea"/>
                <a:cs typeface="+mn-cs"/>
              </a:rPr>
              <a:t>Uninitialized Data Segment (.</a:t>
            </a:r>
            <a:r>
              <a:rPr lang="en-US" sz="1200" b="1" i="0" kern="1200" dirty="0" err="1">
                <a:solidFill>
                  <a:schemeClr val="tx1"/>
                </a:solidFill>
                <a:effectLst/>
                <a:latin typeface="+mn-lt"/>
                <a:ea typeface="+mn-ea"/>
                <a:cs typeface="+mn-cs"/>
              </a:rPr>
              <a:t>bss</a:t>
            </a:r>
            <a:r>
              <a:rPr lang="en-US" sz="1200" b="1"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This segment stores all global and local variables that are initialized to zero or do not have explicit initialization in the source code.  The memory locations of variables stored in this segment are initialized to zero before the execution of the program starts. This is usually performed by the boot code. Since the value of these variables are all zeroes, they do not have to be stored in a non-volatile memory.</a:t>
            </a:r>
          </a:p>
          <a:p>
            <a:r>
              <a:rPr lang="en-US" sz="1200" b="1" i="0" kern="1200" dirty="0">
                <a:solidFill>
                  <a:schemeClr val="tx1"/>
                </a:solidFill>
                <a:effectLst/>
                <a:latin typeface="+mn-lt"/>
                <a:ea typeface="+mn-ea"/>
                <a:cs typeface="+mn-cs"/>
              </a:rPr>
              <a:t>Heap</a:t>
            </a:r>
          </a:p>
          <a:p>
            <a:r>
              <a:rPr lang="en-US" sz="1200" b="0" i="0" kern="1200" dirty="0">
                <a:solidFill>
                  <a:schemeClr val="tx1"/>
                </a:solidFill>
                <a:effectLst/>
                <a:latin typeface="+mn-lt"/>
                <a:ea typeface="+mn-ea"/>
                <a:cs typeface="+mn-cs"/>
              </a:rPr>
              <a:t>The heap is a segment of the system memory (RAM) that provides dynamic memory allocation.</a:t>
            </a:r>
            <a:r>
              <a:rPr lang="en-US" sz="1200" b="0" i="1"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Heap is responsible for memory leaks! The C malloc() and free()  function can take a long time to execute, which is in conflict with the real-time constraints of an embedded system.</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Stack</a:t>
            </a:r>
          </a:p>
          <a:p>
            <a:r>
              <a:rPr lang="en-US" sz="1200" b="0" i="0" kern="1200" dirty="0">
                <a:solidFill>
                  <a:schemeClr val="tx1"/>
                </a:solidFill>
                <a:effectLst/>
                <a:latin typeface="+mn-lt"/>
                <a:ea typeface="+mn-ea"/>
                <a:cs typeface="+mn-cs"/>
              </a:rPr>
              <a:t>In general we can describe the </a:t>
            </a:r>
            <a:r>
              <a:rPr lang="en-US" sz="1200" b="1" i="1" kern="1200" dirty="0">
                <a:solidFill>
                  <a:schemeClr val="tx1"/>
                </a:solidFill>
                <a:effectLst/>
                <a:latin typeface="+mn-lt"/>
                <a:ea typeface="+mn-ea"/>
                <a:cs typeface="+mn-cs"/>
              </a:rPr>
              <a:t>stack </a:t>
            </a:r>
            <a:r>
              <a:rPr lang="en-US" sz="1200" b="0" i="1" kern="1200" dirty="0">
                <a:solidFill>
                  <a:schemeClr val="tx1"/>
                </a:solidFill>
                <a:effectLst/>
                <a:latin typeface="+mn-lt"/>
                <a:ea typeface="+mn-ea"/>
                <a:cs typeface="+mn-cs"/>
              </a:rPr>
              <a:t>segment</a:t>
            </a:r>
            <a:r>
              <a:rPr lang="en-US" sz="1200" b="0" i="0" kern="1200" dirty="0">
                <a:solidFill>
                  <a:schemeClr val="tx1"/>
                </a:solidFill>
                <a:effectLst/>
                <a:latin typeface="+mn-lt"/>
                <a:ea typeface="+mn-ea"/>
                <a:cs typeface="+mn-cs"/>
              </a:rPr>
              <a:t> as a temporary storage for data. The access to data in the stack is organized as </a:t>
            </a:r>
            <a:r>
              <a:rPr lang="en-US" sz="1200" b="1" i="0" kern="1200" dirty="0">
                <a:solidFill>
                  <a:schemeClr val="tx1"/>
                </a:solidFill>
                <a:effectLst/>
                <a:latin typeface="+mn-lt"/>
                <a:ea typeface="+mn-ea"/>
                <a:cs typeface="+mn-cs"/>
              </a:rPr>
              <a:t>Last In First Out (LIFO)</a:t>
            </a:r>
            <a:r>
              <a:rPr lang="en-US" sz="1200" b="0" i="0" kern="1200" dirty="0">
                <a:solidFill>
                  <a:schemeClr val="tx1"/>
                </a:solidFill>
                <a:effectLst/>
                <a:latin typeface="+mn-lt"/>
                <a:ea typeface="+mn-ea"/>
                <a:cs typeface="+mn-cs"/>
              </a:rPr>
              <a:t>, which means that the last data stored in the stack is the first than can be retrieved and the first data stored in the stack is the last to be retrieved. The operation of adding data to the stack is called </a:t>
            </a:r>
            <a:r>
              <a:rPr lang="en-US" sz="1200" b="1" i="0" kern="1200" dirty="0">
                <a:solidFill>
                  <a:schemeClr val="tx1"/>
                </a:solidFill>
                <a:effectLst/>
                <a:latin typeface="+mn-lt"/>
                <a:ea typeface="+mn-ea"/>
                <a:cs typeface="+mn-cs"/>
              </a:rPr>
              <a:t>PUSH</a:t>
            </a:r>
            <a:r>
              <a:rPr lang="en-US" sz="1200" b="0" i="0" kern="1200" dirty="0">
                <a:solidFill>
                  <a:schemeClr val="tx1"/>
                </a:solidFill>
                <a:effectLst/>
                <a:latin typeface="+mn-lt"/>
                <a:ea typeface="+mn-ea"/>
                <a:cs typeface="+mn-cs"/>
              </a:rPr>
              <a:t> and the operation of retrieving data is called </a:t>
            </a:r>
            <a:r>
              <a:rPr lang="en-US" sz="1200" b="1" i="0" kern="1200" dirty="0">
                <a:solidFill>
                  <a:schemeClr val="tx1"/>
                </a:solidFill>
                <a:effectLst/>
                <a:latin typeface="+mn-lt"/>
                <a:ea typeface="+mn-ea"/>
                <a:cs typeface="+mn-cs"/>
              </a:rPr>
              <a:t>POP(PULL)</a:t>
            </a:r>
            <a:r>
              <a:rPr lang="en-US" sz="1200" b="0" i="0" kern="1200" dirty="0">
                <a:solidFill>
                  <a:schemeClr val="tx1"/>
                </a:solidFill>
                <a:effectLst/>
                <a:latin typeface="+mn-lt"/>
                <a:ea typeface="+mn-ea"/>
                <a:cs typeface="+mn-cs"/>
              </a:rPr>
              <a:t>. There are stacks that grow downwards and ones that grow upwards – we only care about the downward growing ones. The </a:t>
            </a:r>
            <a:r>
              <a:rPr lang="en-US" sz="1200" b="1" i="1" kern="1200" dirty="0">
                <a:solidFill>
                  <a:schemeClr val="tx1"/>
                </a:solidFill>
                <a:effectLst/>
                <a:latin typeface="+mn-lt"/>
                <a:ea typeface="+mn-ea"/>
                <a:cs typeface="+mn-cs"/>
              </a:rPr>
              <a:t>stack</a:t>
            </a:r>
            <a:r>
              <a:rPr lang="en-US" sz="1200" b="0" i="0" kern="1200" dirty="0">
                <a:solidFill>
                  <a:schemeClr val="tx1"/>
                </a:solidFill>
                <a:effectLst/>
                <a:latin typeface="+mn-lt"/>
                <a:ea typeface="+mn-ea"/>
                <a:cs typeface="+mn-cs"/>
              </a:rPr>
              <a:t> is fundamental to an embedded system. Setting it properly is crucial to system stability and reliability. Underestimating stack usage can lead to serious issues such as overwritten variables, uninitialized pointers, and corrupted return addresses.</a:t>
            </a:r>
            <a:endParaRPr lang="en-US" dirty="0"/>
          </a:p>
        </p:txBody>
      </p:sp>
      <p:sp>
        <p:nvSpPr>
          <p:cNvPr id="4" name="Slide Number Placeholder 3"/>
          <p:cNvSpPr>
            <a:spLocks noGrp="1"/>
          </p:cNvSpPr>
          <p:nvPr>
            <p:ph type="sldNum" sz="quarter" idx="5"/>
          </p:nvPr>
        </p:nvSpPr>
        <p:spPr/>
        <p:txBody>
          <a:bodyPr/>
          <a:lstStyle/>
          <a:p>
            <a:fld id="{5FBD3ABC-CF0F-42F9-B775-725C472B46FE}" type="slidenum">
              <a:rPr lang="en-US" smtClean="0"/>
              <a:t>8</a:t>
            </a:fld>
            <a:endParaRPr lang="en-US"/>
          </a:p>
        </p:txBody>
      </p:sp>
    </p:spTree>
    <p:extLst>
      <p:ext uri="{BB962C8B-B14F-4D97-AF65-F5344CB8AC3E}">
        <p14:creationId xmlns:p14="http://schemas.microsoft.com/office/powerpoint/2010/main" val="34579266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BD3ABC-CF0F-42F9-B775-725C472B46FE}" type="slidenum">
              <a:rPr lang="en-US" smtClean="0"/>
              <a:t>11</a:t>
            </a:fld>
            <a:endParaRPr lang="en-US"/>
          </a:p>
        </p:txBody>
      </p:sp>
    </p:spTree>
    <p:extLst>
      <p:ext uri="{BB962C8B-B14F-4D97-AF65-F5344CB8AC3E}">
        <p14:creationId xmlns:p14="http://schemas.microsoft.com/office/powerpoint/2010/main" val="2323867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#include &lt;</a:t>
            </a:r>
            <a:r>
              <a:rPr lang="en-US" sz="1200" b="0" kern="1200" dirty="0" err="1">
                <a:solidFill>
                  <a:schemeClr val="tx1"/>
                </a:solidFill>
                <a:effectLst/>
                <a:latin typeface="+mn-lt"/>
                <a:ea typeface="+mn-ea"/>
                <a:cs typeface="+mn-cs"/>
              </a:rPr>
              <a:t>stdio.h</a:t>
            </a:r>
            <a:r>
              <a:rPr lang="en-US" sz="1200" b="0" kern="1200" dirty="0">
                <a:solidFill>
                  <a:schemeClr val="tx1"/>
                </a:solidFill>
                <a:effectLst/>
                <a:latin typeface="+mn-lt"/>
                <a:ea typeface="+mn-ea"/>
                <a:cs typeface="+mn-cs"/>
              </a:rPr>
              <a:t>&gt;</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int main()</a:t>
            </a:r>
          </a:p>
          <a:p>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char a = 0x04;</a:t>
            </a:r>
          </a:p>
          <a:p>
            <a:r>
              <a:rPr lang="en-US" sz="1200" b="0" kern="1200" dirty="0">
                <a:solidFill>
                  <a:schemeClr val="tx1"/>
                </a:solidFill>
                <a:effectLst/>
                <a:latin typeface="+mn-lt"/>
                <a:ea typeface="+mn-ea"/>
                <a:cs typeface="+mn-cs"/>
              </a:rPr>
              <a:t>    char b = 0x08;</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char </a:t>
            </a:r>
            <a:r>
              <a:rPr lang="en-US" sz="1200" b="0" kern="1200" dirty="0" err="1">
                <a:solidFill>
                  <a:schemeClr val="tx1"/>
                </a:solidFill>
                <a:effectLst/>
                <a:latin typeface="+mn-lt"/>
                <a:ea typeface="+mn-ea"/>
                <a:cs typeface="+mn-cs"/>
              </a:rPr>
              <a:t>bitwiseand</a:t>
            </a:r>
            <a:r>
              <a:rPr lang="en-US" sz="1200" b="0" kern="1200" dirty="0">
                <a:solidFill>
                  <a:schemeClr val="tx1"/>
                </a:solidFill>
                <a:effectLst/>
                <a:latin typeface="+mn-lt"/>
                <a:ea typeface="+mn-ea"/>
                <a:cs typeface="+mn-cs"/>
              </a:rPr>
              <a:t> = </a:t>
            </a:r>
            <a:r>
              <a:rPr lang="en-US" sz="1200" b="0" kern="1200" dirty="0" err="1">
                <a:solidFill>
                  <a:schemeClr val="tx1"/>
                </a:solidFill>
                <a:effectLst/>
                <a:latin typeface="+mn-lt"/>
                <a:ea typeface="+mn-ea"/>
                <a:cs typeface="+mn-cs"/>
              </a:rPr>
              <a:t>a&amp;b</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char and = a&amp;&amp;b;</a:t>
            </a:r>
          </a:p>
          <a:p>
            <a:r>
              <a:rPr lang="en-US" sz="1200" b="0" kern="1200" dirty="0">
                <a:solidFill>
                  <a:schemeClr val="tx1"/>
                </a:solidFill>
                <a:effectLst/>
                <a:latin typeface="+mn-lt"/>
                <a:ea typeface="+mn-ea"/>
                <a:cs typeface="+mn-cs"/>
              </a:rPr>
              <a:t>    char </a:t>
            </a:r>
            <a:r>
              <a:rPr lang="en-US" sz="1200" b="0" kern="1200" dirty="0" err="1">
                <a:solidFill>
                  <a:schemeClr val="tx1"/>
                </a:solidFill>
                <a:effectLst/>
                <a:latin typeface="+mn-lt"/>
                <a:ea typeface="+mn-ea"/>
                <a:cs typeface="+mn-cs"/>
              </a:rPr>
              <a:t>bitwiseor</a:t>
            </a:r>
            <a:r>
              <a:rPr lang="en-US" sz="1200" b="0" kern="1200" dirty="0">
                <a:solidFill>
                  <a:schemeClr val="tx1"/>
                </a:solidFill>
                <a:effectLst/>
                <a:latin typeface="+mn-lt"/>
                <a:ea typeface="+mn-ea"/>
                <a:cs typeface="+mn-cs"/>
              </a:rPr>
              <a:t> = </a:t>
            </a:r>
            <a:r>
              <a:rPr lang="en-US" sz="1200" b="0" kern="1200" dirty="0" err="1">
                <a:solidFill>
                  <a:schemeClr val="tx1"/>
                </a:solidFill>
                <a:effectLst/>
                <a:latin typeface="+mn-lt"/>
                <a:ea typeface="+mn-ea"/>
                <a:cs typeface="+mn-cs"/>
              </a:rPr>
              <a:t>a|b</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char or = a||b;</a:t>
            </a:r>
          </a:p>
          <a:p>
            <a:r>
              <a:rPr lang="en-US" sz="1200" b="0" kern="1200" dirty="0">
                <a:solidFill>
                  <a:schemeClr val="tx1"/>
                </a:solidFill>
                <a:effectLst/>
                <a:latin typeface="+mn-lt"/>
                <a:ea typeface="+mn-ea"/>
                <a:cs typeface="+mn-cs"/>
              </a:rPr>
              <a:t>    char </a:t>
            </a:r>
            <a:r>
              <a:rPr lang="en-US" sz="1200" b="0" kern="1200" dirty="0" err="1">
                <a:solidFill>
                  <a:schemeClr val="tx1"/>
                </a:solidFill>
                <a:effectLst/>
                <a:latin typeface="+mn-lt"/>
                <a:ea typeface="+mn-ea"/>
                <a:cs typeface="+mn-cs"/>
              </a:rPr>
              <a:t>bitwisexor</a:t>
            </a:r>
            <a:r>
              <a:rPr lang="en-US" sz="1200" b="0" kern="1200" dirty="0">
                <a:solidFill>
                  <a:schemeClr val="tx1"/>
                </a:solidFill>
                <a:effectLst/>
                <a:latin typeface="+mn-lt"/>
                <a:ea typeface="+mn-ea"/>
                <a:cs typeface="+mn-cs"/>
              </a:rPr>
              <a:t> = </a:t>
            </a:r>
            <a:r>
              <a:rPr lang="en-US" sz="1200" b="0" kern="1200" dirty="0" err="1">
                <a:solidFill>
                  <a:schemeClr val="tx1"/>
                </a:solidFill>
                <a:effectLst/>
                <a:latin typeface="+mn-lt"/>
                <a:ea typeface="+mn-ea"/>
                <a:cs typeface="+mn-cs"/>
              </a:rPr>
              <a:t>a^b</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char </a:t>
            </a:r>
            <a:r>
              <a:rPr lang="en-US" sz="1200" b="0" kern="1200" dirty="0" err="1">
                <a:solidFill>
                  <a:schemeClr val="tx1"/>
                </a:solidFill>
                <a:effectLst/>
                <a:latin typeface="+mn-lt"/>
                <a:ea typeface="+mn-ea"/>
                <a:cs typeface="+mn-cs"/>
              </a:rPr>
              <a:t>xor</a:t>
            </a:r>
            <a:r>
              <a:rPr lang="en-US" sz="1200" b="0" kern="1200" dirty="0">
                <a:solidFill>
                  <a:schemeClr val="tx1"/>
                </a:solidFill>
                <a:effectLst/>
                <a:latin typeface="+mn-lt"/>
                <a:ea typeface="+mn-ea"/>
                <a:cs typeface="+mn-cs"/>
              </a:rPr>
              <a:t> = a!=b;</a:t>
            </a:r>
          </a:p>
          <a:p>
            <a:r>
              <a:rPr lang="en-US" sz="1200" b="0" kern="1200" dirty="0">
                <a:solidFill>
                  <a:schemeClr val="tx1"/>
                </a:solidFill>
                <a:effectLst/>
                <a:latin typeface="+mn-lt"/>
                <a:ea typeface="+mn-ea"/>
                <a:cs typeface="+mn-cs"/>
              </a:rPr>
              <a:t>    char </a:t>
            </a:r>
            <a:r>
              <a:rPr lang="en-US" sz="1200" b="0" kern="1200" dirty="0" err="1">
                <a:solidFill>
                  <a:schemeClr val="tx1"/>
                </a:solidFill>
                <a:effectLst/>
                <a:latin typeface="+mn-lt"/>
                <a:ea typeface="+mn-ea"/>
                <a:cs typeface="+mn-cs"/>
              </a:rPr>
              <a:t>bitwisenot</a:t>
            </a:r>
            <a:r>
              <a:rPr lang="en-US" sz="1200" b="0" kern="1200" dirty="0">
                <a:solidFill>
                  <a:schemeClr val="tx1"/>
                </a:solidFill>
                <a:effectLst/>
                <a:latin typeface="+mn-lt"/>
                <a:ea typeface="+mn-ea"/>
                <a:cs typeface="+mn-cs"/>
              </a:rPr>
              <a:t> = ~a;</a:t>
            </a:r>
          </a:p>
          <a:p>
            <a:r>
              <a:rPr lang="en-US" sz="1200" b="0" kern="1200" dirty="0">
                <a:solidFill>
                  <a:schemeClr val="tx1"/>
                </a:solidFill>
                <a:effectLst/>
                <a:latin typeface="+mn-lt"/>
                <a:ea typeface="+mn-ea"/>
                <a:cs typeface="+mn-cs"/>
              </a:rPr>
              <a:t>    char not = !a;</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printf</a:t>
            </a:r>
            <a:r>
              <a:rPr lang="en-US" sz="1200" b="0" kern="1200" dirty="0">
                <a:solidFill>
                  <a:schemeClr val="tx1"/>
                </a:solidFill>
                <a:effectLst/>
                <a:latin typeface="+mn-lt"/>
                <a:ea typeface="+mn-ea"/>
                <a:cs typeface="+mn-cs"/>
              </a:rPr>
              <a:t>("</a:t>
            </a:r>
            <a:r>
              <a:rPr lang="en-US" sz="1200" b="0" kern="1200" dirty="0" err="1">
                <a:solidFill>
                  <a:schemeClr val="tx1"/>
                </a:solidFill>
                <a:effectLst/>
                <a:latin typeface="+mn-lt"/>
                <a:ea typeface="+mn-ea"/>
                <a:cs typeface="+mn-cs"/>
              </a:rPr>
              <a:t>bitwiseand</a:t>
            </a:r>
            <a:r>
              <a:rPr lang="en-US" sz="1200" b="0" kern="1200" dirty="0">
                <a:solidFill>
                  <a:schemeClr val="tx1"/>
                </a:solidFill>
                <a:effectLst/>
                <a:latin typeface="+mn-lt"/>
                <a:ea typeface="+mn-ea"/>
                <a:cs typeface="+mn-cs"/>
              </a:rPr>
              <a:t>: %d\n", </a:t>
            </a:r>
            <a:r>
              <a:rPr lang="en-US" sz="1200" b="0" kern="1200" dirty="0" err="1">
                <a:solidFill>
                  <a:schemeClr val="tx1"/>
                </a:solidFill>
                <a:effectLst/>
                <a:latin typeface="+mn-lt"/>
                <a:ea typeface="+mn-ea"/>
                <a:cs typeface="+mn-cs"/>
              </a:rPr>
              <a:t>bitwiseand</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printf</a:t>
            </a:r>
            <a:r>
              <a:rPr lang="en-US" sz="1200" b="0" kern="1200" dirty="0">
                <a:solidFill>
                  <a:schemeClr val="tx1"/>
                </a:solidFill>
                <a:effectLst/>
                <a:latin typeface="+mn-lt"/>
                <a:ea typeface="+mn-ea"/>
                <a:cs typeface="+mn-cs"/>
              </a:rPr>
              <a:t>("and: %d\n", and);</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printf</a:t>
            </a:r>
            <a:r>
              <a:rPr lang="en-US" sz="1200" b="0" kern="1200" dirty="0">
                <a:solidFill>
                  <a:schemeClr val="tx1"/>
                </a:solidFill>
                <a:effectLst/>
                <a:latin typeface="+mn-lt"/>
                <a:ea typeface="+mn-ea"/>
                <a:cs typeface="+mn-cs"/>
              </a:rPr>
              <a:t>("</a:t>
            </a:r>
            <a:r>
              <a:rPr lang="en-US" sz="1200" b="0" kern="1200" dirty="0" err="1">
                <a:solidFill>
                  <a:schemeClr val="tx1"/>
                </a:solidFill>
                <a:effectLst/>
                <a:latin typeface="+mn-lt"/>
                <a:ea typeface="+mn-ea"/>
                <a:cs typeface="+mn-cs"/>
              </a:rPr>
              <a:t>bitwiseor</a:t>
            </a:r>
            <a:r>
              <a:rPr lang="en-US" sz="1200" b="0" kern="1200" dirty="0">
                <a:solidFill>
                  <a:schemeClr val="tx1"/>
                </a:solidFill>
                <a:effectLst/>
                <a:latin typeface="+mn-lt"/>
                <a:ea typeface="+mn-ea"/>
                <a:cs typeface="+mn-cs"/>
              </a:rPr>
              <a:t>: %d\n", </a:t>
            </a:r>
            <a:r>
              <a:rPr lang="en-US" sz="1200" b="0" kern="1200" dirty="0" err="1">
                <a:solidFill>
                  <a:schemeClr val="tx1"/>
                </a:solidFill>
                <a:effectLst/>
                <a:latin typeface="+mn-lt"/>
                <a:ea typeface="+mn-ea"/>
                <a:cs typeface="+mn-cs"/>
              </a:rPr>
              <a:t>bitwiseor</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printf</a:t>
            </a:r>
            <a:r>
              <a:rPr lang="en-US" sz="1200" b="0" kern="1200" dirty="0">
                <a:solidFill>
                  <a:schemeClr val="tx1"/>
                </a:solidFill>
                <a:effectLst/>
                <a:latin typeface="+mn-lt"/>
                <a:ea typeface="+mn-ea"/>
                <a:cs typeface="+mn-cs"/>
              </a:rPr>
              <a:t>("or: %d\n", or);</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printf</a:t>
            </a:r>
            <a:r>
              <a:rPr lang="en-US" sz="1200" b="0" kern="1200" dirty="0">
                <a:solidFill>
                  <a:schemeClr val="tx1"/>
                </a:solidFill>
                <a:effectLst/>
                <a:latin typeface="+mn-lt"/>
                <a:ea typeface="+mn-ea"/>
                <a:cs typeface="+mn-cs"/>
              </a:rPr>
              <a:t>("</a:t>
            </a:r>
            <a:r>
              <a:rPr lang="en-US" sz="1200" b="0" kern="1200" dirty="0" err="1">
                <a:solidFill>
                  <a:schemeClr val="tx1"/>
                </a:solidFill>
                <a:effectLst/>
                <a:latin typeface="+mn-lt"/>
                <a:ea typeface="+mn-ea"/>
                <a:cs typeface="+mn-cs"/>
              </a:rPr>
              <a:t>bitwisexor</a:t>
            </a:r>
            <a:r>
              <a:rPr lang="en-US" sz="1200" b="0" kern="1200" dirty="0">
                <a:solidFill>
                  <a:schemeClr val="tx1"/>
                </a:solidFill>
                <a:effectLst/>
                <a:latin typeface="+mn-lt"/>
                <a:ea typeface="+mn-ea"/>
                <a:cs typeface="+mn-cs"/>
              </a:rPr>
              <a:t>: %d\n", </a:t>
            </a:r>
            <a:r>
              <a:rPr lang="en-US" sz="1200" b="0" kern="1200" dirty="0" err="1">
                <a:solidFill>
                  <a:schemeClr val="tx1"/>
                </a:solidFill>
                <a:effectLst/>
                <a:latin typeface="+mn-lt"/>
                <a:ea typeface="+mn-ea"/>
                <a:cs typeface="+mn-cs"/>
              </a:rPr>
              <a:t>bitwisexor</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printf</a:t>
            </a:r>
            <a:r>
              <a:rPr lang="en-US" sz="1200" b="0" kern="1200" dirty="0">
                <a:solidFill>
                  <a:schemeClr val="tx1"/>
                </a:solidFill>
                <a:effectLst/>
                <a:latin typeface="+mn-lt"/>
                <a:ea typeface="+mn-ea"/>
                <a:cs typeface="+mn-cs"/>
              </a:rPr>
              <a:t>("</a:t>
            </a:r>
            <a:r>
              <a:rPr lang="en-US" sz="1200" b="0" kern="1200" dirty="0" err="1">
                <a:solidFill>
                  <a:schemeClr val="tx1"/>
                </a:solidFill>
                <a:effectLst/>
                <a:latin typeface="+mn-lt"/>
                <a:ea typeface="+mn-ea"/>
                <a:cs typeface="+mn-cs"/>
              </a:rPr>
              <a:t>xor</a:t>
            </a:r>
            <a:r>
              <a:rPr lang="en-US" sz="1200" b="0" kern="1200" dirty="0">
                <a:solidFill>
                  <a:schemeClr val="tx1"/>
                </a:solidFill>
                <a:effectLst/>
                <a:latin typeface="+mn-lt"/>
                <a:ea typeface="+mn-ea"/>
                <a:cs typeface="+mn-cs"/>
              </a:rPr>
              <a:t>: %d\n", </a:t>
            </a:r>
            <a:r>
              <a:rPr lang="en-US" sz="1200" b="0" kern="1200" dirty="0" err="1">
                <a:solidFill>
                  <a:schemeClr val="tx1"/>
                </a:solidFill>
                <a:effectLst/>
                <a:latin typeface="+mn-lt"/>
                <a:ea typeface="+mn-ea"/>
                <a:cs typeface="+mn-cs"/>
              </a:rPr>
              <a:t>xor</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printf</a:t>
            </a:r>
            <a:r>
              <a:rPr lang="en-US" sz="1200" b="0" kern="1200" dirty="0">
                <a:solidFill>
                  <a:schemeClr val="tx1"/>
                </a:solidFill>
                <a:effectLst/>
                <a:latin typeface="+mn-lt"/>
                <a:ea typeface="+mn-ea"/>
                <a:cs typeface="+mn-cs"/>
              </a:rPr>
              <a:t>("</a:t>
            </a:r>
            <a:r>
              <a:rPr lang="en-US" sz="1200" b="0" kern="1200" dirty="0" err="1">
                <a:solidFill>
                  <a:schemeClr val="tx1"/>
                </a:solidFill>
                <a:effectLst/>
                <a:latin typeface="+mn-lt"/>
                <a:ea typeface="+mn-ea"/>
                <a:cs typeface="+mn-cs"/>
              </a:rPr>
              <a:t>bitwisenot</a:t>
            </a:r>
            <a:r>
              <a:rPr lang="en-US" sz="1200" b="0" kern="1200" dirty="0">
                <a:solidFill>
                  <a:schemeClr val="tx1"/>
                </a:solidFill>
                <a:effectLst/>
                <a:latin typeface="+mn-lt"/>
                <a:ea typeface="+mn-ea"/>
                <a:cs typeface="+mn-cs"/>
              </a:rPr>
              <a:t>: %d\n", </a:t>
            </a:r>
            <a:r>
              <a:rPr lang="en-US" sz="1200" b="0" kern="1200" dirty="0" err="1">
                <a:solidFill>
                  <a:schemeClr val="tx1"/>
                </a:solidFill>
                <a:effectLst/>
                <a:latin typeface="+mn-lt"/>
                <a:ea typeface="+mn-ea"/>
                <a:cs typeface="+mn-cs"/>
              </a:rPr>
              <a:t>bitwisenot</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printf</a:t>
            </a:r>
            <a:r>
              <a:rPr lang="en-US" sz="1200" b="0" kern="1200" dirty="0">
                <a:solidFill>
                  <a:schemeClr val="tx1"/>
                </a:solidFill>
                <a:effectLst/>
                <a:latin typeface="+mn-lt"/>
                <a:ea typeface="+mn-ea"/>
                <a:cs typeface="+mn-cs"/>
              </a:rPr>
              <a:t>("not: %d\n", not);</a:t>
            </a:r>
          </a:p>
          <a:p>
            <a:r>
              <a:rPr lang="en-US" sz="1200" b="0" kern="1200" dirty="0">
                <a:solidFill>
                  <a:schemeClr val="tx1"/>
                </a:solidFill>
                <a:effectLst/>
                <a:latin typeface="+mn-lt"/>
                <a:ea typeface="+mn-ea"/>
                <a:cs typeface="+mn-cs"/>
              </a:rPr>
              <a:t>        return 0;</a:t>
            </a:r>
          </a:p>
          <a:p>
            <a:r>
              <a:rPr lang="en-US" sz="1200" b="0" kern="1200" dirty="0">
                <a:solidFill>
                  <a:schemeClr val="tx1"/>
                </a:solidFill>
                <a:effectLst/>
                <a:latin typeface="+mn-lt"/>
                <a:ea typeface="+mn-ea"/>
                <a:cs typeface="+mn-cs"/>
              </a:rPr>
              <a:t>}</a:t>
            </a:r>
          </a:p>
          <a:p>
            <a:endParaRPr lang="en-US" dirty="0"/>
          </a:p>
          <a:p>
            <a:r>
              <a:rPr lang="en-US" sz="1200" b="0" i="0" kern="1200" dirty="0" err="1">
                <a:solidFill>
                  <a:schemeClr val="tx1"/>
                </a:solidFill>
                <a:effectLst/>
                <a:latin typeface="+mn-lt"/>
                <a:ea typeface="+mn-ea"/>
                <a:cs typeface="+mn-cs"/>
              </a:rPr>
              <a:t>bitwiseand</a:t>
            </a:r>
            <a:r>
              <a:rPr lang="en-US" sz="1200" b="0" i="0" kern="1200" dirty="0">
                <a:solidFill>
                  <a:schemeClr val="tx1"/>
                </a:solidFill>
                <a:effectLst/>
                <a:latin typeface="+mn-lt"/>
                <a:ea typeface="+mn-ea"/>
                <a:cs typeface="+mn-cs"/>
              </a:rPr>
              <a:t>: 0</a:t>
            </a:r>
          </a:p>
          <a:p>
            <a:r>
              <a:rPr lang="en-US" sz="1200" b="0" i="0" kern="1200" dirty="0">
                <a:solidFill>
                  <a:schemeClr val="tx1"/>
                </a:solidFill>
                <a:effectLst/>
                <a:latin typeface="+mn-lt"/>
                <a:ea typeface="+mn-ea"/>
                <a:cs typeface="+mn-cs"/>
              </a:rPr>
              <a:t>and: 1</a:t>
            </a:r>
          </a:p>
          <a:p>
            <a:r>
              <a:rPr lang="en-US" sz="1200" b="0" i="0" kern="1200" dirty="0" err="1">
                <a:solidFill>
                  <a:schemeClr val="tx1"/>
                </a:solidFill>
                <a:effectLst/>
                <a:latin typeface="+mn-lt"/>
                <a:ea typeface="+mn-ea"/>
                <a:cs typeface="+mn-cs"/>
              </a:rPr>
              <a:t>bitwiseor</a:t>
            </a:r>
            <a:r>
              <a:rPr lang="en-US" sz="1200" b="0" i="0" kern="1200" dirty="0">
                <a:solidFill>
                  <a:schemeClr val="tx1"/>
                </a:solidFill>
                <a:effectLst/>
                <a:latin typeface="+mn-lt"/>
                <a:ea typeface="+mn-ea"/>
                <a:cs typeface="+mn-cs"/>
              </a:rPr>
              <a:t>: 12 = C</a:t>
            </a:r>
          </a:p>
          <a:p>
            <a:r>
              <a:rPr lang="en-US" sz="1200" b="0" i="0" kern="1200" dirty="0">
                <a:solidFill>
                  <a:schemeClr val="tx1"/>
                </a:solidFill>
                <a:effectLst/>
                <a:latin typeface="+mn-lt"/>
                <a:ea typeface="+mn-ea"/>
                <a:cs typeface="+mn-cs"/>
              </a:rPr>
              <a:t>or: 1</a:t>
            </a:r>
          </a:p>
          <a:p>
            <a:r>
              <a:rPr lang="en-US" sz="1200" b="0" i="0" kern="1200" dirty="0" err="1">
                <a:solidFill>
                  <a:schemeClr val="tx1"/>
                </a:solidFill>
                <a:effectLst/>
                <a:latin typeface="+mn-lt"/>
                <a:ea typeface="+mn-ea"/>
                <a:cs typeface="+mn-cs"/>
              </a:rPr>
              <a:t>bitwisexor</a:t>
            </a:r>
            <a:r>
              <a:rPr lang="en-US" sz="1200" b="0" i="0" kern="1200" dirty="0">
                <a:solidFill>
                  <a:schemeClr val="tx1"/>
                </a:solidFill>
                <a:effectLst/>
                <a:latin typeface="+mn-lt"/>
                <a:ea typeface="+mn-ea"/>
                <a:cs typeface="+mn-cs"/>
              </a:rPr>
              <a:t>: 12 = X</a:t>
            </a:r>
          </a:p>
          <a:p>
            <a:r>
              <a:rPr lang="en-US" sz="1200" b="0" i="0" kern="1200" dirty="0" err="1">
                <a:solidFill>
                  <a:schemeClr val="tx1"/>
                </a:solidFill>
                <a:effectLst/>
                <a:latin typeface="+mn-lt"/>
                <a:ea typeface="+mn-ea"/>
                <a:cs typeface="+mn-cs"/>
              </a:rPr>
              <a:t>xor</a:t>
            </a:r>
            <a:r>
              <a:rPr lang="en-US" sz="1200" b="0" i="0" kern="1200" dirty="0">
                <a:solidFill>
                  <a:schemeClr val="tx1"/>
                </a:solidFill>
                <a:effectLst/>
                <a:latin typeface="+mn-lt"/>
                <a:ea typeface="+mn-ea"/>
                <a:cs typeface="+mn-cs"/>
              </a:rPr>
              <a:t>: 1</a:t>
            </a:r>
          </a:p>
          <a:p>
            <a:r>
              <a:rPr lang="en-US" sz="1200" b="0" i="0" kern="1200" dirty="0" err="1">
                <a:solidFill>
                  <a:schemeClr val="tx1"/>
                </a:solidFill>
                <a:effectLst/>
                <a:latin typeface="+mn-lt"/>
                <a:ea typeface="+mn-ea"/>
                <a:cs typeface="+mn-cs"/>
              </a:rPr>
              <a:t>bitwisenot</a:t>
            </a:r>
            <a:r>
              <a:rPr lang="en-US" sz="1200" b="0" i="0" kern="1200" dirty="0">
                <a:solidFill>
                  <a:schemeClr val="tx1"/>
                </a:solidFill>
                <a:effectLst/>
                <a:latin typeface="+mn-lt"/>
                <a:ea typeface="+mn-ea"/>
                <a:cs typeface="+mn-cs"/>
              </a:rPr>
              <a:t>: -5</a:t>
            </a:r>
          </a:p>
          <a:p>
            <a:r>
              <a:rPr lang="en-US" sz="1200" b="0" i="0" kern="1200" dirty="0">
                <a:solidFill>
                  <a:schemeClr val="tx1"/>
                </a:solidFill>
                <a:effectLst/>
                <a:latin typeface="+mn-lt"/>
                <a:ea typeface="+mn-ea"/>
                <a:cs typeface="+mn-cs"/>
              </a:rPr>
              <a:t>not: 0</a:t>
            </a:r>
          </a:p>
          <a:p>
            <a:endParaRPr lang="en-US" dirty="0"/>
          </a:p>
        </p:txBody>
      </p:sp>
      <p:sp>
        <p:nvSpPr>
          <p:cNvPr id="4" name="Slide Number Placeholder 3"/>
          <p:cNvSpPr>
            <a:spLocks noGrp="1"/>
          </p:cNvSpPr>
          <p:nvPr>
            <p:ph type="sldNum" sz="quarter" idx="5"/>
          </p:nvPr>
        </p:nvSpPr>
        <p:spPr/>
        <p:txBody>
          <a:bodyPr/>
          <a:lstStyle/>
          <a:p>
            <a:fld id="{5FBD3ABC-CF0F-42F9-B775-725C472B46FE}" type="slidenum">
              <a:rPr lang="en-US" smtClean="0"/>
              <a:t>12</a:t>
            </a:fld>
            <a:endParaRPr lang="en-US"/>
          </a:p>
        </p:txBody>
      </p:sp>
    </p:spTree>
    <p:extLst>
      <p:ext uri="{BB962C8B-B14F-4D97-AF65-F5344CB8AC3E}">
        <p14:creationId xmlns:p14="http://schemas.microsoft.com/office/powerpoint/2010/main" val="26058464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unsigned long </a:t>
            </a:r>
            <a:r>
              <a:rPr lang="en-US" sz="1200" b="0" kern="1200" dirty="0" err="1">
                <a:solidFill>
                  <a:schemeClr val="tx1"/>
                </a:solidFill>
                <a:effectLst/>
                <a:latin typeface="+mn-lt"/>
                <a:ea typeface="+mn-ea"/>
                <a:cs typeface="+mn-cs"/>
              </a:rPr>
              <a:t>long</a:t>
            </a:r>
            <a:r>
              <a:rPr lang="en-US" sz="1200" b="0" kern="1200" dirty="0">
                <a:solidFill>
                  <a:schemeClr val="tx1"/>
                </a:solidFill>
                <a:effectLst/>
                <a:latin typeface="+mn-lt"/>
                <a:ea typeface="+mn-ea"/>
                <a:cs typeface="+mn-cs"/>
              </a:rPr>
              <a:t> c = 0x123456789ABCDEF5ULL;</a:t>
            </a:r>
          </a:p>
          <a:p>
            <a:r>
              <a:rPr lang="en-US" sz="1200" b="0" kern="1200" dirty="0">
                <a:solidFill>
                  <a:schemeClr val="tx1"/>
                </a:solidFill>
                <a:effectLst/>
                <a:latin typeface="+mn-lt"/>
                <a:ea typeface="+mn-ea"/>
                <a:cs typeface="+mn-cs"/>
              </a:rPr>
              <a:t>unsigned int d = 0x12345678;</a:t>
            </a:r>
          </a:p>
          <a:p>
            <a:r>
              <a:rPr lang="en-US" sz="1200" b="0" kern="1200" dirty="0">
                <a:solidFill>
                  <a:schemeClr val="tx1"/>
                </a:solidFill>
                <a:effectLst/>
                <a:latin typeface="+mn-lt"/>
                <a:ea typeface="+mn-ea"/>
                <a:cs typeface="+mn-cs"/>
              </a:rPr>
              <a:t>unsigned long </a:t>
            </a:r>
            <a:r>
              <a:rPr lang="en-US" sz="1200" b="0" kern="1200" dirty="0" err="1">
                <a:solidFill>
                  <a:schemeClr val="tx1"/>
                </a:solidFill>
                <a:effectLst/>
                <a:latin typeface="+mn-lt"/>
                <a:ea typeface="+mn-ea"/>
                <a:cs typeface="+mn-cs"/>
              </a:rPr>
              <a:t>long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ulongswapped</a:t>
            </a:r>
            <a:r>
              <a:rPr lang="en-US" sz="1200" b="0" kern="1200" dirty="0">
                <a:solidFill>
                  <a:schemeClr val="tx1"/>
                </a:solidFill>
                <a:effectLst/>
                <a:latin typeface="+mn-lt"/>
                <a:ea typeface="+mn-ea"/>
                <a:cs typeface="+mn-cs"/>
              </a:rPr>
              <a:t> = __builtin_bswap64(c);</a:t>
            </a:r>
          </a:p>
          <a:p>
            <a:r>
              <a:rPr lang="en-US" sz="1200" b="0" kern="1200" dirty="0">
                <a:solidFill>
                  <a:schemeClr val="tx1"/>
                </a:solidFill>
                <a:effectLst/>
                <a:latin typeface="+mn-lt"/>
                <a:ea typeface="+mn-ea"/>
                <a:cs typeface="+mn-cs"/>
              </a:rPr>
              <a:t>unsigned int </a:t>
            </a:r>
            <a:r>
              <a:rPr lang="en-US" sz="1200" b="0" kern="1200" dirty="0" err="1">
                <a:solidFill>
                  <a:schemeClr val="tx1"/>
                </a:solidFill>
                <a:effectLst/>
                <a:latin typeface="+mn-lt"/>
                <a:ea typeface="+mn-ea"/>
                <a:cs typeface="+mn-cs"/>
              </a:rPr>
              <a:t>uintswapped</a:t>
            </a:r>
            <a:r>
              <a:rPr lang="en-US" sz="1200" b="0" kern="1200" dirty="0">
                <a:solidFill>
                  <a:schemeClr val="tx1"/>
                </a:solidFill>
                <a:effectLst/>
                <a:latin typeface="+mn-lt"/>
                <a:ea typeface="+mn-ea"/>
                <a:cs typeface="+mn-cs"/>
              </a:rPr>
              <a:t> = __builtin_bswap32(d);</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char </a:t>
            </a:r>
            <a:r>
              <a:rPr lang="en-US" sz="1200" b="0" kern="1200" dirty="0" err="1">
                <a:solidFill>
                  <a:schemeClr val="tx1"/>
                </a:solidFill>
                <a:effectLst/>
                <a:latin typeface="+mn-lt"/>
                <a:ea typeface="+mn-ea"/>
                <a:cs typeface="+mn-cs"/>
              </a:rPr>
              <a:t>ulongmasked</a:t>
            </a:r>
            <a:r>
              <a:rPr lang="en-US" sz="1200" b="0" kern="1200" dirty="0">
                <a:solidFill>
                  <a:schemeClr val="tx1"/>
                </a:solidFill>
                <a:effectLst/>
                <a:latin typeface="+mn-lt"/>
                <a:ea typeface="+mn-ea"/>
                <a:cs typeface="+mn-cs"/>
              </a:rPr>
              <a:t> = c &amp; mask;</a:t>
            </a:r>
          </a:p>
          <a:p>
            <a:r>
              <a:rPr lang="en-US" sz="1200" b="0" kern="1200" dirty="0">
                <a:solidFill>
                  <a:schemeClr val="tx1"/>
                </a:solidFill>
                <a:effectLst/>
                <a:latin typeface="+mn-lt"/>
                <a:ea typeface="+mn-ea"/>
                <a:cs typeface="+mn-cs"/>
              </a:rPr>
              <a:t>char </a:t>
            </a:r>
            <a:r>
              <a:rPr lang="en-US" sz="1200" b="0" kern="1200" dirty="0" err="1">
                <a:solidFill>
                  <a:schemeClr val="tx1"/>
                </a:solidFill>
                <a:effectLst/>
                <a:latin typeface="+mn-lt"/>
                <a:ea typeface="+mn-ea"/>
                <a:cs typeface="+mn-cs"/>
              </a:rPr>
              <a:t>uintmasked</a:t>
            </a:r>
            <a:r>
              <a:rPr lang="en-US" sz="1200" b="0" kern="1200" dirty="0">
                <a:solidFill>
                  <a:schemeClr val="tx1"/>
                </a:solidFill>
                <a:effectLst/>
                <a:latin typeface="+mn-lt"/>
                <a:ea typeface="+mn-ea"/>
                <a:cs typeface="+mn-cs"/>
              </a:rPr>
              <a:t> = d &amp; mask;</a:t>
            </a:r>
          </a:p>
          <a:p>
            <a:r>
              <a:rPr lang="en-US" sz="1200" b="0" kern="1200" dirty="0">
                <a:solidFill>
                  <a:schemeClr val="tx1"/>
                </a:solidFill>
                <a:effectLst/>
                <a:latin typeface="+mn-lt"/>
                <a:ea typeface="+mn-ea"/>
                <a:cs typeface="+mn-cs"/>
              </a:rPr>
              <a:t>char </a:t>
            </a:r>
            <a:r>
              <a:rPr lang="en-US" sz="1200" b="0" kern="1200" dirty="0" err="1">
                <a:solidFill>
                  <a:schemeClr val="tx1"/>
                </a:solidFill>
                <a:effectLst/>
                <a:latin typeface="+mn-lt"/>
                <a:ea typeface="+mn-ea"/>
                <a:cs typeface="+mn-cs"/>
              </a:rPr>
              <a:t>ulongswappedmasked</a:t>
            </a:r>
            <a:r>
              <a:rPr lang="en-US" sz="1200" b="0" kern="1200" dirty="0">
                <a:solidFill>
                  <a:schemeClr val="tx1"/>
                </a:solidFill>
                <a:effectLst/>
                <a:latin typeface="+mn-lt"/>
                <a:ea typeface="+mn-ea"/>
                <a:cs typeface="+mn-cs"/>
              </a:rPr>
              <a:t> = </a:t>
            </a:r>
            <a:r>
              <a:rPr lang="en-US" sz="1200" b="0" kern="1200" dirty="0" err="1">
                <a:solidFill>
                  <a:schemeClr val="tx1"/>
                </a:solidFill>
                <a:effectLst/>
                <a:latin typeface="+mn-lt"/>
                <a:ea typeface="+mn-ea"/>
                <a:cs typeface="+mn-cs"/>
              </a:rPr>
              <a:t>ulongswapped</a:t>
            </a:r>
            <a:r>
              <a:rPr lang="en-US" sz="1200" b="0" kern="1200" dirty="0">
                <a:solidFill>
                  <a:schemeClr val="tx1"/>
                </a:solidFill>
                <a:effectLst/>
                <a:latin typeface="+mn-lt"/>
                <a:ea typeface="+mn-ea"/>
                <a:cs typeface="+mn-cs"/>
              </a:rPr>
              <a:t> &amp; mask;</a:t>
            </a:r>
          </a:p>
          <a:p>
            <a:r>
              <a:rPr lang="en-US" sz="1200" b="0" kern="1200" dirty="0">
                <a:solidFill>
                  <a:schemeClr val="tx1"/>
                </a:solidFill>
                <a:effectLst/>
                <a:latin typeface="+mn-lt"/>
                <a:ea typeface="+mn-ea"/>
                <a:cs typeface="+mn-cs"/>
              </a:rPr>
              <a:t>char </a:t>
            </a:r>
            <a:r>
              <a:rPr lang="en-US" sz="1200" b="0" kern="1200" dirty="0" err="1">
                <a:solidFill>
                  <a:schemeClr val="tx1"/>
                </a:solidFill>
                <a:effectLst/>
                <a:latin typeface="+mn-lt"/>
                <a:ea typeface="+mn-ea"/>
                <a:cs typeface="+mn-cs"/>
              </a:rPr>
              <a:t>uintswappedmasked</a:t>
            </a:r>
            <a:r>
              <a:rPr lang="en-US" sz="1200" b="0" kern="1200" dirty="0">
                <a:solidFill>
                  <a:schemeClr val="tx1"/>
                </a:solidFill>
                <a:effectLst/>
                <a:latin typeface="+mn-lt"/>
                <a:ea typeface="+mn-ea"/>
                <a:cs typeface="+mn-cs"/>
              </a:rPr>
              <a:t> = </a:t>
            </a:r>
            <a:r>
              <a:rPr lang="en-US" sz="1200" b="0" kern="1200" dirty="0" err="1">
                <a:solidFill>
                  <a:schemeClr val="tx1"/>
                </a:solidFill>
                <a:effectLst/>
                <a:latin typeface="+mn-lt"/>
                <a:ea typeface="+mn-ea"/>
                <a:cs typeface="+mn-cs"/>
              </a:rPr>
              <a:t>uintswapped</a:t>
            </a:r>
            <a:r>
              <a:rPr lang="en-US" sz="1200" b="0" kern="1200" dirty="0">
                <a:solidFill>
                  <a:schemeClr val="tx1"/>
                </a:solidFill>
                <a:effectLst/>
                <a:latin typeface="+mn-lt"/>
                <a:ea typeface="+mn-ea"/>
                <a:cs typeface="+mn-cs"/>
              </a:rPr>
              <a:t> &amp; mask;</a:t>
            </a:r>
          </a:p>
          <a:p>
            <a:endParaRPr lang="en-US" sz="1200" b="0" kern="1200" dirty="0">
              <a:solidFill>
                <a:schemeClr val="tx1"/>
              </a:solidFill>
              <a:effectLst/>
              <a:latin typeface="+mn-lt"/>
              <a:ea typeface="+mn-ea"/>
              <a:cs typeface="+mn-cs"/>
            </a:endParaRPr>
          </a:p>
          <a:p>
            <a:r>
              <a:rPr lang="en-US" sz="1200" b="0" kern="1200" dirty="0" err="1">
                <a:solidFill>
                  <a:schemeClr val="tx1"/>
                </a:solidFill>
                <a:effectLst/>
                <a:latin typeface="+mn-lt"/>
                <a:ea typeface="+mn-ea"/>
                <a:cs typeface="+mn-cs"/>
              </a:rPr>
              <a:t>printf</a:t>
            </a:r>
            <a:r>
              <a:rPr lang="en-US" sz="1200" b="0" kern="1200" dirty="0">
                <a:solidFill>
                  <a:schemeClr val="tx1"/>
                </a:solidFill>
                <a:effectLst/>
                <a:latin typeface="+mn-lt"/>
                <a:ea typeface="+mn-ea"/>
                <a:cs typeface="+mn-cs"/>
              </a:rPr>
              <a:t>("masked long value: %d\n", </a:t>
            </a:r>
            <a:r>
              <a:rPr lang="en-US" sz="1200" b="0" kern="1200" dirty="0" err="1">
                <a:solidFill>
                  <a:schemeClr val="tx1"/>
                </a:solidFill>
                <a:effectLst/>
                <a:latin typeface="+mn-lt"/>
                <a:ea typeface="+mn-ea"/>
                <a:cs typeface="+mn-cs"/>
              </a:rPr>
              <a:t>ulongmasked</a:t>
            </a:r>
            <a:r>
              <a:rPr lang="en-US" sz="1200" b="0" kern="1200" dirty="0">
                <a:solidFill>
                  <a:schemeClr val="tx1"/>
                </a:solidFill>
                <a:effectLst/>
                <a:latin typeface="+mn-lt"/>
                <a:ea typeface="+mn-ea"/>
                <a:cs typeface="+mn-cs"/>
              </a:rPr>
              <a:t>);</a:t>
            </a:r>
          </a:p>
          <a:p>
            <a:r>
              <a:rPr lang="en-US" sz="1200" b="0" kern="1200" dirty="0" err="1">
                <a:solidFill>
                  <a:schemeClr val="tx1"/>
                </a:solidFill>
                <a:effectLst/>
                <a:latin typeface="+mn-lt"/>
                <a:ea typeface="+mn-ea"/>
                <a:cs typeface="+mn-cs"/>
              </a:rPr>
              <a:t>printf</a:t>
            </a:r>
            <a:r>
              <a:rPr lang="en-US" sz="1200" b="0" kern="1200" dirty="0">
                <a:solidFill>
                  <a:schemeClr val="tx1"/>
                </a:solidFill>
                <a:effectLst/>
                <a:latin typeface="+mn-lt"/>
                <a:ea typeface="+mn-ea"/>
                <a:cs typeface="+mn-cs"/>
              </a:rPr>
              <a:t>("masked int value: %d\n", </a:t>
            </a:r>
            <a:r>
              <a:rPr lang="en-US" sz="1200" b="0" kern="1200" dirty="0" err="1">
                <a:solidFill>
                  <a:schemeClr val="tx1"/>
                </a:solidFill>
                <a:effectLst/>
                <a:latin typeface="+mn-lt"/>
                <a:ea typeface="+mn-ea"/>
                <a:cs typeface="+mn-cs"/>
              </a:rPr>
              <a:t>uintmasked</a:t>
            </a:r>
            <a:r>
              <a:rPr lang="en-US" sz="1200" b="0" kern="1200" dirty="0">
                <a:solidFill>
                  <a:schemeClr val="tx1"/>
                </a:solidFill>
                <a:effectLst/>
                <a:latin typeface="+mn-lt"/>
                <a:ea typeface="+mn-ea"/>
                <a:cs typeface="+mn-cs"/>
              </a:rPr>
              <a:t>);   </a:t>
            </a:r>
          </a:p>
          <a:p>
            <a:r>
              <a:rPr lang="en-US" sz="1200" b="0" kern="1200" dirty="0" err="1">
                <a:solidFill>
                  <a:schemeClr val="tx1"/>
                </a:solidFill>
                <a:effectLst/>
                <a:latin typeface="+mn-lt"/>
                <a:ea typeface="+mn-ea"/>
                <a:cs typeface="+mn-cs"/>
              </a:rPr>
              <a:t>printf</a:t>
            </a:r>
            <a:r>
              <a:rPr lang="en-US" sz="1200" b="0" kern="1200" dirty="0">
                <a:solidFill>
                  <a:schemeClr val="tx1"/>
                </a:solidFill>
                <a:effectLst/>
                <a:latin typeface="+mn-lt"/>
                <a:ea typeface="+mn-ea"/>
                <a:cs typeface="+mn-cs"/>
              </a:rPr>
              <a:t>("masked swapped long value: %d\n", </a:t>
            </a:r>
            <a:r>
              <a:rPr lang="en-US" sz="1200" b="0" kern="1200" dirty="0" err="1">
                <a:solidFill>
                  <a:schemeClr val="tx1"/>
                </a:solidFill>
                <a:effectLst/>
                <a:latin typeface="+mn-lt"/>
                <a:ea typeface="+mn-ea"/>
                <a:cs typeface="+mn-cs"/>
              </a:rPr>
              <a:t>ulongswappedmasked</a:t>
            </a:r>
            <a:r>
              <a:rPr lang="en-US" sz="1200" b="0" kern="1200" dirty="0">
                <a:solidFill>
                  <a:schemeClr val="tx1"/>
                </a:solidFill>
                <a:effectLst/>
                <a:latin typeface="+mn-lt"/>
                <a:ea typeface="+mn-ea"/>
                <a:cs typeface="+mn-cs"/>
              </a:rPr>
              <a:t>);</a:t>
            </a:r>
          </a:p>
          <a:p>
            <a:r>
              <a:rPr lang="en-US" sz="1200" b="0" kern="1200" dirty="0" err="1">
                <a:solidFill>
                  <a:schemeClr val="tx1"/>
                </a:solidFill>
                <a:effectLst/>
                <a:latin typeface="+mn-lt"/>
                <a:ea typeface="+mn-ea"/>
                <a:cs typeface="+mn-cs"/>
              </a:rPr>
              <a:t>printf</a:t>
            </a:r>
            <a:r>
              <a:rPr lang="en-US" sz="1200" b="0" kern="1200" dirty="0">
                <a:solidFill>
                  <a:schemeClr val="tx1"/>
                </a:solidFill>
                <a:effectLst/>
                <a:latin typeface="+mn-lt"/>
                <a:ea typeface="+mn-ea"/>
                <a:cs typeface="+mn-cs"/>
              </a:rPr>
              <a:t>("masked swapped int value: %d\n", </a:t>
            </a:r>
            <a:r>
              <a:rPr lang="en-US" sz="1200" b="0" kern="1200" dirty="0" err="1">
                <a:solidFill>
                  <a:schemeClr val="tx1"/>
                </a:solidFill>
                <a:effectLst/>
                <a:latin typeface="+mn-lt"/>
                <a:ea typeface="+mn-ea"/>
                <a:cs typeface="+mn-cs"/>
              </a:rPr>
              <a:t>uintswappedmasked</a:t>
            </a:r>
            <a:r>
              <a:rPr lang="en-US" sz="1200" b="0" kern="1200" dirty="0">
                <a:solidFill>
                  <a:schemeClr val="tx1"/>
                </a:solidFill>
                <a:effectLst/>
                <a:latin typeface="+mn-lt"/>
                <a:ea typeface="+mn-ea"/>
                <a:cs typeface="+mn-cs"/>
              </a:rPr>
              <a:t>); </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masked long value: 5</a:t>
            </a:r>
          </a:p>
          <a:p>
            <a:r>
              <a:rPr lang="en-US" sz="1200" b="0" kern="1200" dirty="0">
                <a:solidFill>
                  <a:schemeClr val="tx1"/>
                </a:solidFill>
                <a:effectLst/>
                <a:latin typeface="+mn-lt"/>
                <a:ea typeface="+mn-ea"/>
                <a:cs typeface="+mn-cs"/>
              </a:rPr>
              <a:t>masked int value: 8</a:t>
            </a:r>
          </a:p>
          <a:p>
            <a:r>
              <a:rPr lang="en-US" sz="1200" b="0" kern="1200" dirty="0">
                <a:solidFill>
                  <a:schemeClr val="tx1"/>
                </a:solidFill>
                <a:effectLst/>
                <a:latin typeface="+mn-lt"/>
                <a:ea typeface="+mn-ea"/>
                <a:cs typeface="+mn-cs"/>
              </a:rPr>
              <a:t>masked swapped long value: 2</a:t>
            </a:r>
          </a:p>
          <a:p>
            <a:r>
              <a:rPr lang="en-US" sz="1200" b="0" kern="1200" dirty="0">
                <a:solidFill>
                  <a:schemeClr val="tx1"/>
                </a:solidFill>
                <a:effectLst/>
                <a:latin typeface="+mn-lt"/>
                <a:ea typeface="+mn-ea"/>
                <a:cs typeface="+mn-cs"/>
              </a:rPr>
              <a:t>masked swapped int value: 2</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Be careful with the endianness of the masked object!</a:t>
            </a:r>
          </a:p>
          <a:p>
            <a:endParaRPr lang="en-US"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5FBD3ABC-CF0F-42F9-B775-725C472B46FE}" type="slidenum">
              <a:rPr lang="en-US" smtClean="0"/>
              <a:t>13</a:t>
            </a:fld>
            <a:endParaRPr lang="en-US"/>
          </a:p>
        </p:txBody>
      </p:sp>
    </p:spTree>
    <p:extLst>
      <p:ext uri="{BB962C8B-B14F-4D97-AF65-F5344CB8AC3E}">
        <p14:creationId xmlns:p14="http://schemas.microsoft.com/office/powerpoint/2010/main" val="18118452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unsigned long </a:t>
            </a:r>
            <a:r>
              <a:rPr lang="en-US" sz="1200" b="0" kern="1200" dirty="0" err="1">
                <a:solidFill>
                  <a:schemeClr val="tx1"/>
                </a:solidFill>
                <a:effectLst/>
                <a:latin typeface="+mn-lt"/>
                <a:ea typeface="+mn-ea"/>
                <a:cs typeface="+mn-cs"/>
              </a:rPr>
              <a:t>long</a:t>
            </a:r>
            <a:r>
              <a:rPr lang="en-US" sz="1200" b="0" kern="1200" dirty="0">
                <a:solidFill>
                  <a:schemeClr val="tx1"/>
                </a:solidFill>
                <a:effectLst/>
                <a:latin typeface="+mn-lt"/>
                <a:ea typeface="+mn-ea"/>
                <a:cs typeface="+mn-cs"/>
              </a:rPr>
              <a:t> c = 0x123456789ABCDEF5ULL;</a:t>
            </a:r>
          </a:p>
          <a:p>
            <a:r>
              <a:rPr lang="en-US" sz="1200" b="0" kern="1200" dirty="0">
                <a:solidFill>
                  <a:schemeClr val="tx1"/>
                </a:solidFill>
                <a:effectLst/>
                <a:latin typeface="+mn-lt"/>
                <a:ea typeface="+mn-ea"/>
                <a:cs typeface="+mn-cs"/>
              </a:rPr>
              <a:t>unsigned int d = 0x12345678;</a:t>
            </a:r>
          </a:p>
          <a:p>
            <a:r>
              <a:rPr lang="en-US" sz="1200" b="0" kern="1200" dirty="0">
                <a:solidFill>
                  <a:schemeClr val="tx1"/>
                </a:solidFill>
                <a:effectLst/>
                <a:latin typeface="+mn-lt"/>
                <a:ea typeface="+mn-ea"/>
                <a:cs typeface="+mn-cs"/>
              </a:rPr>
              <a:t>unsigned long </a:t>
            </a:r>
            <a:r>
              <a:rPr lang="en-US" sz="1200" b="0" kern="1200" dirty="0" err="1">
                <a:solidFill>
                  <a:schemeClr val="tx1"/>
                </a:solidFill>
                <a:effectLst/>
                <a:latin typeface="+mn-lt"/>
                <a:ea typeface="+mn-ea"/>
                <a:cs typeface="+mn-cs"/>
              </a:rPr>
              <a:t>long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ulongswapped</a:t>
            </a:r>
            <a:r>
              <a:rPr lang="en-US" sz="1200" b="0" kern="1200" dirty="0">
                <a:solidFill>
                  <a:schemeClr val="tx1"/>
                </a:solidFill>
                <a:effectLst/>
                <a:latin typeface="+mn-lt"/>
                <a:ea typeface="+mn-ea"/>
                <a:cs typeface="+mn-cs"/>
              </a:rPr>
              <a:t> = __builtin_bswap64(c);</a:t>
            </a:r>
          </a:p>
          <a:p>
            <a:r>
              <a:rPr lang="en-US" sz="1200" b="0" kern="1200" dirty="0">
                <a:solidFill>
                  <a:schemeClr val="tx1"/>
                </a:solidFill>
                <a:effectLst/>
                <a:latin typeface="+mn-lt"/>
                <a:ea typeface="+mn-ea"/>
                <a:cs typeface="+mn-cs"/>
              </a:rPr>
              <a:t>unsigned int </a:t>
            </a:r>
            <a:r>
              <a:rPr lang="en-US" sz="1200" b="0" kern="1200" dirty="0" err="1">
                <a:solidFill>
                  <a:schemeClr val="tx1"/>
                </a:solidFill>
                <a:effectLst/>
                <a:latin typeface="+mn-lt"/>
                <a:ea typeface="+mn-ea"/>
                <a:cs typeface="+mn-cs"/>
              </a:rPr>
              <a:t>uintswapped</a:t>
            </a:r>
            <a:r>
              <a:rPr lang="en-US" sz="1200" b="0" kern="1200" dirty="0">
                <a:solidFill>
                  <a:schemeClr val="tx1"/>
                </a:solidFill>
                <a:effectLst/>
                <a:latin typeface="+mn-lt"/>
                <a:ea typeface="+mn-ea"/>
                <a:cs typeface="+mn-cs"/>
              </a:rPr>
              <a:t> = __builtin_bswap32(d);</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char </a:t>
            </a:r>
            <a:r>
              <a:rPr lang="en-US" sz="1200" b="0" kern="1200" dirty="0" err="1">
                <a:solidFill>
                  <a:schemeClr val="tx1"/>
                </a:solidFill>
                <a:effectLst/>
                <a:latin typeface="+mn-lt"/>
                <a:ea typeface="+mn-ea"/>
                <a:cs typeface="+mn-cs"/>
              </a:rPr>
              <a:t>ulongmasked</a:t>
            </a:r>
            <a:r>
              <a:rPr lang="en-US" sz="1200" b="0" kern="1200" dirty="0">
                <a:solidFill>
                  <a:schemeClr val="tx1"/>
                </a:solidFill>
                <a:effectLst/>
                <a:latin typeface="+mn-lt"/>
                <a:ea typeface="+mn-ea"/>
                <a:cs typeface="+mn-cs"/>
              </a:rPr>
              <a:t> = c &amp; mask;</a:t>
            </a:r>
          </a:p>
          <a:p>
            <a:r>
              <a:rPr lang="en-US" sz="1200" b="0" kern="1200" dirty="0">
                <a:solidFill>
                  <a:schemeClr val="tx1"/>
                </a:solidFill>
                <a:effectLst/>
                <a:latin typeface="+mn-lt"/>
                <a:ea typeface="+mn-ea"/>
                <a:cs typeface="+mn-cs"/>
              </a:rPr>
              <a:t>char </a:t>
            </a:r>
            <a:r>
              <a:rPr lang="en-US" sz="1200" b="0" kern="1200" dirty="0" err="1">
                <a:solidFill>
                  <a:schemeClr val="tx1"/>
                </a:solidFill>
                <a:effectLst/>
                <a:latin typeface="+mn-lt"/>
                <a:ea typeface="+mn-ea"/>
                <a:cs typeface="+mn-cs"/>
              </a:rPr>
              <a:t>uintmasked</a:t>
            </a:r>
            <a:r>
              <a:rPr lang="en-US" sz="1200" b="0" kern="1200" dirty="0">
                <a:solidFill>
                  <a:schemeClr val="tx1"/>
                </a:solidFill>
                <a:effectLst/>
                <a:latin typeface="+mn-lt"/>
                <a:ea typeface="+mn-ea"/>
                <a:cs typeface="+mn-cs"/>
              </a:rPr>
              <a:t> = d &amp; mask;</a:t>
            </a:r>
          </a:p>
          <a:p>
            <a:r>
              <a:rPr lang="en-US" sz="1200" b="0" kern="1200" dirty="0">
                <a:solidFill>
                  <a:schemeClr val="tx1"/>
                </a:solidFill>
                <a:effectLst/>
                <a:latin typeface="+mn-lt"/>
                <a:ea typeface="+mn-ea"/>
                <a:cs typeface="+mn-cs"/>
              </a:rPr>
              <a:t>char </a:t>
            </a:r>
            <a:r>
              <a:rPr lang="en-US" sz="1200" b="0" kern="1200" dirty="0" err="1">
                <a:solidFill>
                  <a:schemeClr val="tx1"/>
                </a:solidFill>
                <a:effectLst/>
                <a:latin typeface="+mn-lt"/>
                <a:ea typeface="+mn-ea"/>
                <a:cs typeface="+mn-cs"/>
              </a:rPr>
              <a:t>ulongswappedmasked</a:t>
            </a:r>
            <a:r>
              <a:rPr lang="en-US" sz="1200" b="0" kern="1200" dirty="0">
                <a:solidFill>
                  <a:schemeClr val="tx1"/>
                </a:solidFill>
                <a:effectLst/>
                <a:latin typeface="+mn-lt"/>
                <a:ea typeface="+mn-ea"/>
                <a:cs typeface="+mn-cs"/>
              </a:rPr>
              <a:t> = </a:t>
            </a:r>
            <a:r>
              <a:rPr lang="en-US" sz="1200" b="0" kern="1200" dirty="0" err="1">
                <a:solidFill>
                  <a:schemeClr val="tx1"/>
                </a:solidFill>
                <a:effectLst/>
                <a:latin typeface="+mn-lt"/>
                <a:ea typeface="+mn-ea"/>
                <a:cs typeface="+mn-cs"/>
              </a:rPr>
              <a:t>ulongswapped</a:t>
            </a:r>
            <a:r>
              <a:rPr lang="en-US" sz="1200" b="0" kern="1200" dirty="0">
                <a:solidFill>
                  <a:schemeClr val="tx1"/>
                </a:solidFill>
                <a:effectLst/>
                <a:latin typeface="+mn-lt"/>
                <a:ea typeface="+mn-ea"/>
                <a:cs typeface="+mn-cs"/>
              </a:rPr>
              <a:t> &amp; mask;</a:t>
            </a:r>
          </a:p>
          <a:p>
            <a:r>
              <a:rPr lang="en-US" sz="1200" b="0" kern="1200" dirty="0">
                <a:solidFill>
                  <a:schemeClr val="tx1"/>
                </a:solidFill>
                <a:effectLst/>
                <a:latin typeface="+mn-lt"/>
                <a:ea typeface="+mn-ea"/>
                <a:cs typeface="+mn-cs"/>
              </a:rPr>
              <a:t>char </a:t>
            </a:r>
            <a:r>
              <a:rPr lang="en-US" sz="1200" b="0" kern="1200" dirty="0" err="1">
                <a:solidFill>
                  <a:schemeClr val="tx1"/>
                </a:solidFill>
                <a:effectLst/>
                <a:latin typeface="+mn-lt"/>
                <a:ea typeface="+mn-ea"/>
                <a:cs typeface="+mn-cs"/>
              </a:rPr>
              <a:t>uintswappedmasked</a:t>
            </a:r>
            <a:r>
              <a:rPr lang="en-US" sz="1200" b="0" kern="1200" dirty="0">
                <a:solidFill>
                  <a:schemeClr val="tx1"/>
                </a:solidFill>
                <a:effectLst/>
                <a:latin typeface="+mn-lt"/>
                <a:ea typeface="+mn-ea"/>
                <a:cs typeface="+mn-cs"/>
              </a:rPr>
              <a:t> = </a:t>
            </a:r>
            <a:r>
              <a:rPr lang="en-US" sz="1200" b="0" kern="1200" dirty="0" err="1">
                <a:solidFill>
                  <a:schemeClr val="tx1"/>
                </a:solidFill>
                <a:effectLst/>
                <a:latin typeface="+mn-lt"/>
                <a:ea typeface="+mn-ea"/>
                <a:cs typeface="+mn-cs"/>
              </a:rPr>
              <a:t>uintswapped</a:t>
            </a:r>
            <a:r>
              <a:rPr lang="en-US" sz="1200" b="0" kern="1200" dirty="0">
                <a:solidFill>
                  <a:schemeClr val="tx1"/>
                </a:solidFill>
                <a:effectLst/>
                <a:latin typeface="+mn-lt"/>
                <a:ea typeface="+mn-ea"/>
                <a:cs typeface="+mn-cs"/>
              </a:rPr>
              <a:t> &amp; mask;</a:t>
            </a:r>
          </a:p>
          <a:p>
            <a:endParaRPr lang="en-US" sz="1200" b="0" kern="1200" dirty="0">
              <a:solidFill>
                <a:schemeClr val="tx1"/>
              </a:solidFill>
              <a:effectLst/>
              <a:latin typeface="+mn-lt"/>
              <a:ea typeface="+mn-ea"/>
              <a:cs typeface="+mn-cs"/>
            </a:endParaRPr>
          </a:p>
          <a:p>
            <a:r>
              <a:rPr lang="en-US" sz="1200" b="0" kern="1200" dirty="0" err="1">
                <a:solidFill>
                  <a:schemeClr val="tx1"/>
                </a:solidFill>
                <a:effectLst/>
                <a:latin typeface="+mn-lt"/>
                <a:ea typeface="+mn-ea"/>
                <a:cs typeface="+mn-cs"/>
              </a:rPr>
              <a:t>printf</a:t>
            </a:r>
            <a:r>
              <a:rPr lang="en-US" sz="1200" b="0" kern="1200" dirty="0">
                <a:solidFill>
                  <a:schemeClr val="tx1"/>
                </a:solidFill>
                <a:effectLst/>
                <a:latin typeface="+mn-lt"/>
                <a:ea typeface="+mn-ea"/>
                <a:cs typeface="+mn-cs"/>
              </a:rPr>
              <a:t>("masked long value: %d\n", </a:t>
            </a:r>
            <a:r>
              <a:rPr lang="en-US" sz="1200" b="0" kern="1200" dirty="0" err="1">
                <a:solidFill>
                  <a:schemeClr val="tx1"/>
                </a:solidFill>
                <a:effectLst/>
                <a:latin typeface="+mn-lt"/>
                <a:ea typeface="+mn-ea"/>
                <a:cs typeface="+mn-cs"/>
              </a:rPr>
              <a:t>ulongmasked</a:t>
            </a:r>
            <a:r>
              <a:rPr lang="en-US" sz="1200" b="0" kern="1200" dirty="0">
                <a:solidFill>
                  <a:schemeClr val="tx1"/>
                </a:solidFill>
                <a:effectLst/>
                <a:latin typeface="+mn-lt"/>
                <a:ea typeface="+mn-ea"/>
                <a:cs typeface="+mn-cs"/>
              </a:rPr>
              <a:t>);</a:t>
            </a:r>
          </a:p>
          <a:p>
            <a:r>
              <a:rPr lang="en-US" sz="1200" b="0" kern="1200" dirty="0" err="1">
                <a:solidFill>
                  <a:schemeClr val="tx1"/>
                </a:solidFill>
                <a:effectLst/>
                <a:latin typeface="+mn-lt"/>
                <a:ea typeface="+mn-ea"/>
                <a:cs typeface="+mn-cs"/>
              </a:rPr>
              <a:t>printf</a:t>
            </a:r>
            <a:r>
              <a:rPr lang="en-US" sz="1200" b="0" kern="1200" dirty="0">
                <a:solidFill>
                  <a:schemeClr val="tx1"/>
                </a:solidFill>
                <a:effectLst/>
                <a:latin typeface="+mn-lt"/>
                <a:ea typeface="+mn-ea"/>
                <a:cs typeface="+mn-cs"/>
              </a:rPr>
              <a:t>("masked int value: %d\n", </a:t>
            </a:r>
            <a:r>
              <a:rPr lang="en-US" sz="1200" b="0" kern="1200" dirty="0" err="1">
                <a:solidFill>
                  <a:schemeClr val="tx1"/>
                </a:solidFill>
                <a:effectLst/>
                <a:latin typeface="+mn-lt"/>
                <a:ea typeface="+mn-ea"/>
                <a:cs typeface="+mn-cs"/>
              </a:rPr>
              <a:t>uintmasked</a:t>
            </a:r>
            <a:r>
              <a:rPr lang="en-US" sz="1200" b="0" kern="1200" dirty="0">
                <a:solidFill>
                  <a:schemeClr val="tx1"/>
                </a:solidFill>
                <a:effectLst/>
                <a:latin typeface="+mn-lt"/>
                <a:ea typeface="+mn-ea"/>
                <a:cs typeface="+mn-cs"/>
              </a:rPr>
              <a:t>);   </a:t>
            </a:r>
          </a:p>
          <a:p>
            <a:r>
              <a:rPr lang="en-US" sz="1200" b="0" kern="1200" dirty="0" err="1">
                <a:solidFill>
                  <a:schemeClr val="tx1"/>
                </a:solidFill>
                <a:effectLst/>
                <a:latin typeface="+mn-lt"/>
                <a:ea typeface="+mn-ea"/>
                <a:cs typeface="+mn-cs"/>
              </a:rPr>
              <a:t>printf</a:t>
            </a:r>
            <a:r>
              <a:rPr lang="en-US" sz="1200" b="0" kern="1200" dirty="0">
                <a:solidFill>
                  <a:schemeClr val="tx1"/>
                </a:solidFill>
                <a:effectLst/>
                <a:latin typeface="+mn-lt"/>
                <a:ea typeface="+mn-ea"/>
                <a:cs typeface="+mn-cs"/>
              </a:rPr>
              <a:t>("masked swapped long value: %d\n", </a:t>
            </a:r>
            <a:r>
              <a:rPr lang="en-US" sz="1200" b="0" kern="1200" dirty="0" err="1">
                <a:solidFill>
                  <a:schemeClr val="tx1"/>
                </a:solidFill>
                <a:effectLst/>
                <a:latin typeface="+mn-lt"/>
                <a:ea typeface="+mn-ea"/>
                <a:cs typeface="+mn-cs"/>
              </a:rPr>
              <a:t>ulongswappedmasked</a:t>
            </a:r>
            <a:r>
              <a:rPr lang="en-US" sz="1200" b="0" kern="1200" dirty="0">
                <a:solidFill>
                  <a:schemeClr val="tx1"/>
                </a:solidFill>
                <a:effectLst/>
                <a:latin typeface="+mn-lt"/>
                <a:ea typeface="+mn-ea"/>
                <a:cs typeface="+mn-cs"/>
              </a:rPr>
              <a:t>);</a:t>
            </a:r>
          </a:p>
          <a:p>
            <a:r>
              <a:rPr lang="en-US" sz="1200" b="0" kern="1200" dirty="0" err="1">
                <a:solidFill>
                  <a:schemeClr val="tx1"/>
                </a:solidFill>
                <a:effectLst/>
                <a:latin typeface="+mn-lt"/>
                <a:ea typeface="+mn-ea"/>
                <a:cs typeface="+mn-cs"/>
              </a:rPr>
              <a:t>printf</a:t>
            </a:r>
            <a:r>
              <a:rPr lang="en-US" sz="1200" b="0" kern="1200" dirty="0">
                <a:solidFill>
                  <a:schemeClr val="tx1"/>
                </a:solidFill>
                <a:effectLst/>
                <a:latin typeface="+mn-lt"/>
                <a:ea typeface="+mn-ea"/>
                <a:cs typeface="+mn-cs"/>
              </a:rPr>
              <a:t>("masked swapped int value: %d\n", </a:t>
            </a:r>
            <a:r>
              <a:rPr lang="en-US" sz="1200" b="0" kern="1200" dirty="0" err="1">
                <a:solidFill>
                  <a:schemeClr val="tx1"/>
                </a:solidFill>
                <a:effectLst/>
                <a:latin typeface="+mn-lt"/>
                <a:ea typeface="+mn-ea"/>
                <a:cs typeface="+mn-cs"/>
              </a:rPr>
              <a:t>uintswappedmasked</a:t>
            </a:r>
            <a:r>
              <a:rPr lang="en-US" sz="1200" b="0" kern="1200" dirty="0">
                <a:solidFill>
                  <a:schemeClr val="tx1"/>
                </a:solidFill>
                <a:effectLst/>
                <a:latin typeface="+mn-lt"/>
                <a:ea typeface="+mn-ea"/>
                <a:cs typeface="+mn-cs"/>
              </a:rPr>
              <a:t>); </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masked long value: 5</a:t>
            </a:r>
          </a:p>
          <a:p>
            <a:r>
              <a:rPr lang="en-US" sz="1200" b="0" kern="1200" dirty="0">
                <a:solidFill>
                  <a:schemeClr val="tx1"/>
                </a:solidFill>
                <a:effectLst/>
                <a:latin typeface="+mn-lt"/>
                <a:ea typeface="+mn-ea"/>
                <a:cs typeface="+mn-cs"/>
              </a:rPr>
              <a:t>masked int value: 8</a:t>
            </a:r>
          </a:p>
          <a:p>
            <a:r>
              <a:rPr lang="en-US" sz="1200" b="0" kern="1200" dirty="0">
                <a:solidFill>
                  <a:schemeClr val="tx1"/>
                </a:solidFill>
                <a:effectLst/>
                <a:latin typeface="+mn-lt"/>
                <a:ea typeface="+mn-ea"/>
                <a:cs typeface="+mn-cs"/>
              </a:rPr>
              <a:t>masked swapped long value: 2</a:t>
            </a:r>
          </a:p>
          <a:p>
            <a:r>
              <a:rPr lang="en-US" sz="1200" b="0" kern="1200" dirty="0">
                <a:solidFill>
                  <a:schemeClr val="tx1"/>
                </a:solidFill>
                <a:effectLst/>
                <a:latin typeface="+mn-lt"/>
                <a:ea typeface="+mn-ea"/>
                <a:cs typeface="+mn-cs"/>
              </a:rPr>
              <a:t>masked swapped int value: 2</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Be careful with the endianness of the masked object!</a:t>
            </a:r>
          </a:p>
          <a:p>
            <a:endParaRPr lang="en-US" dirty="0"/>
          </a:p>
        </p:txBody>
      </p:sp>
      <p:sp>
        <p:nvSpPr>
          <p:cNvPr id="4" name="Slide Number Placeholder 3"/>
          <p:cNvSpPr>
            <a:spLocks noGrp="1"/>
          </p:cNvSpPr>
          <p:nvPr>
            <p:ph type="sldNum" sz="quarter" idx="5"/>
          </p:nvPr>
        </p:nvSpPr>
        <p:spPr/>
        <p:txBody>
          <a:bodyPr/>
          <a:lstStyle/>
          <a:p>
            <a:fld id="{5FBD3ABC-CF0F-42F9-B775-725C472B46FE}" type="slidenum">
              <a:rPr lang="en-US" smtClean="0"/>
              <a:t>14</a:t>
            </a:fld>
            <a:endParaRPr lang="en-US"/>
          </a:p>
        </p:txBody>
      </p:sp>
    </p:spTree>
    <p:extLst>
      <p:ext uri="{BB962C8B-B14F-4D97-AF65-F5344CB8AC3E}">
        <p14:creationId xmlns:p14="http://schemas.microsoft.com/office/powerpoint/2010/main" val="29306882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1" dirty="0"/>
              <a:t>Preprocessor</a:t>
            </a:r>
          </a:p>
          <a:p>
            <a:r>
              <a:rPr lang="en-US" b="1" dirty="0"/>
              <a:t>What it does:</a:t>
            </a:r>
            <a:br>
              <a:rPr lang="en-US" dirty="0"/>
            </a:br>
            <a:r>
              <a:rPr lang="en-US" dirty="0"/>
              <a:t>Handles directives that start with </a:t>
            </a:r>
            <a:r>
              <a:rPr lang="en-US" sz="1200" kern="1200" dirty="0">
                <a:solidFill>
                  <a:schemeClr val="tx1"/>
                </a:solidFill>
                <a:latin typeface="+mn-lt"/>
                <a:ea typeface="+mn-ea"/>
                <a:cs typeface="+mn-cs"/>
              </a:rPr>
              <a:t>#</a:t>
            </a:r>
            <a:r>
              <a:rPr lang="en-US" dirty="0"/>
              <a:t> before real compilation begins.</a:t>
            </a:r>
          </a:p>
          <a:p>
            <a:r>
              <a:rPr lang="en-US" b="1" dirty="0"/>
              <a:t>Main responsibilities:</a:t>
            </a:r>
          </a:p>
          <a:p>
            <a:r>
              <a:rPr lang="en-US" dirty="0"/>
              <a:t>Expands </a:t>
            </a:r>
            <a:r>
              <a:rPr lang="en-US" sz="1200" kern="1200" dirty="0">
                <a:solidFill>
                  <a:schemeClr val="tx1"/>
                </a:solidFill>
                <a:latin typeface="+mn-lt"/>
                <a:ea typeface="+mn-ea"/>
                <a:cs typeface="+mn-cs"/>
              </a:rPr>
              <a:t>#define</a:t>
            </a:r>
            <a:r>
              <a:rPr lang="en-US" dirty="0"/>
              <a:t> macros</a:t>
            </a:r>
          </a:p>
          <a:p>
            <a:r>
              <a:rPr lang="en-US" dirty="0"/>
              <a:t>Inserts header files (</a:t>
            </a:r>
            <a:r>
              <a:rPr lang="en-US" sz="1200" kern="1200" dirty="0">
                <a:solidFill>
                  <a:schemeClr val="tx1"/>
                </a:solidFill>
                <a:latin typeface="+mn-lt"/>
                <a:ea typeface="+mn-ea"/>
                <a:cs typeface="+mn-cs"/>
              </a:rPr>
              <a:t>#include</a:t>
            </a:r>
            <a:r>
              <a:rPr lang="en-US" dirty="0"/>
              <a:t>)</a:t>
            </a:r>
          </a:p>
          <a:p>
            <a:r>
              <a:rPr lang="en-US" dirty="0"/>
              <a:t>Handles conditional compilation (</a:t>
            </a:r>
            <a:r>
              <a:rPr lang="en-US" sz="1200" kern="1200" dirty="0">
                <a:solidFill>
                  <a:schemeClr val="tx1"/>
                </a:solidFill>
                <a:latin typeface="+mn-lt"/>
                <a:ea typeface="+mn-ea"/>
                <a:cs typeface="+mn-cs"/>
              </a:rPr>
              <a:t>#ifdef</a:t>
            </a:r>
            <a:r>
              <a:rPr lang="en-US" dirty="0"/>
              <a:t>, </a:t>
            </a:r>
            <a:r>
              <a:rPr lang="en-US" sz="1200" kern="1200" dirty="0">
                <a:solidFill>
                  <a:schemeClr val="tx1"/>
                </a:solidFill>
                <a:latin typeface="+mn-lt"/>
                <a:ea typeface="+mn-ea"/>
                <a:cs typeface="+mn-cs"/>
              </a:rPr>
              <a:t>#ifndef</a:t>
            </a:r>
            <a:r>
              <a:rPr lang="en-US" dirty="0"/>
              <a:t>, </a:t>
            </a:r>
            <a:r>
              <a:rPr lang="en-US" sz="1200" kern="1200" dirty="0">
                <a:solidFill>
                  <a:schemeClr val="tx1"/>
                </a:solidFill>
                <a:latin typeface="+mn-lt"/>
                <a:ea typeface="+mn-ea"/>
                <a:cs typeface="+mn-cs"/>
              </a:rPr>
              <a:t>#if</a:t>
            </a:r>
            <a:r>
              <a:rPr lang="en-US" dirty="0"/>
              <a:t>)</a:t>
            </a:r>
          </a:p>
          <a:p>
            <a:r>
              <a:rPr lang="en-US" dirty="0"/>
              <a:t>Removes comments</a:t>
            </a:r>
          </a:p>
          <a:p>
            <a:r>
              <a:rPr lang="en-US" b="1" dirty="0"/>
              <a:t>Output:</a:t>
            </a:r>
            <a:r>
              <a:rPr lang="en-US" b="0" dirty="0"/>
              <a:t> Expanded C source code</a:t>
            </a:r>
          </a:p>
          <a:p>
            <a:r>
              <a:rPr lang="en-US" dirty="0"/>
              <a:t>!!! It does </a:t>
            </a:r>
            <a:r>
              <a:rPr lang="en-US" b="1" dirty="0"/>
              <a:t>text substitution only</a:t>
            </a:r>
            <a:r>
              <a:rPr lang="en-US" dirty="0"/>
              <a:t> — no type checking, no syntax checking. !!! </a:t>
            </a:r>
          </a:p>
          <a:p>
            <a:endParaRPr lang="en-US" dirty="0"/>
          </a:p>
          <a:p>
            <a:r>
              <a:rPr lang="en-US" b="1" dirty="0"/>
              <a:t>Compiler</a:t>
            </a:r>
          </a:p>
          <a:p>
            <a:r>
              <a:rPr lang="en-US" b="1" dirty="0"/>
              <a:t>What it does:</a:t>
            </a:r>
            <a:br>
              <a:rPr lang="en-US" dirty="0"/>
            </a:br>
            <a:r>
              <a:rPr lang="en-US" dirty="0"/>
              <a:t>Translates preprocessed C/C++ code into assembly language.</a:t>
            </a:r>
          </a:p>
          <a:p>
            <a:r>
              <a:rPr lang="en-US" b="1" dirty="0"/>
              <a:t>Responsibilities:</a:t>
            </a:r>
          </a:p>
          <a:p>
            <a:r>
              <a:rPr lang="en-US" dirty="0"/>
              <a:t>Syntax checking</a:t>
            </a:r>
          </a:p>
          <a:p>
            <a:r>
              <a:rPr lang="en-US" dirty="0"/>
              <a:t>Type checking</a:t>
            </a:r>
          </a:p>
          <a:p>
            <a:r>
              <a:rPr lang="en-US" dirty="0"/>
              <a:t>Optimization</a:t>
            </a:r>
          </a:p>
          <a:p>
            <a:r>
              <a:rPr lang="en-US" dirty="0"/>
              <a:t>Converts high-level code → assembly</a:t>
            </a:r>
          </a:p>
          <a:p>
            <a:r>
              <a:rPr lang="en-US" b="1" dirty="0"/>
              <a:t>Output:</a:t>
            </a:r>
            <a:r>
              <a:rPr lang="en-US" dirty="0"/>
              <a:t> Assembly code (.s file)</a:t>
            </a:r>
          </a:p>
          <a:p>
            <a:endParaRPr lang="en-US" dirty="0"/>
          </a:p>
          <a:p>
            <a:r>
              <a:rPr lang="en-US" b="1" dirty="0"/>
              <a:t>What it does:</a:t>
            </a:r>
            <a:br>
              <a:rPr lang="en-US" dirty="0"/>
            </a:br>
            <a:r>
              <a:rPr lang="en-US" dirty="0"/>
              <a:t>Converts assembly code into machine code (binary).</a:t>
            </a:r>
          </a:p>
          <a:p>
            <a:r>
              <a:rPr lang="en-US" b="1" dirty="0"/>
              <a:t>Output:</a:t>
            </a:r>
            <a:r>
              <a:rPr lang="en-US" dirty="0"/>
              <a:t> Object file (.o or .obj)</a:t>
            </a:r>
          </a:p>
          <a:p>
            <a:r>
              <a:rPr lang="en-US" dirty="0"/>
              <a:t>!!! Important: Still </a:t>
            </a:r>
            <a:r>
              <a:rPr lang="en-US" b="1" dirty="0"/>
              <a:t>not a full executable! </a:t>
            </a:r>
            <a:r>
              <a:rPr lang="en-US" dirty="0"/>
              <a:t>May contain unresolved references to functions in other files !!!</a:t>
            </a:r>
          </a:p>
          <a:p>
            <a:endParaRPr lang="en-US" dirty="0"/>
          </a:p>
          <a:p>
            <a:r>
              <a:rPr lang="en-US" b="1" dirty="0"/>
              <a:t>Linker</a:t>
            </a:r>
          </a:p>
          <a:p>
            <a:r>
              <a:rPr lang="en-US" b="1" dirty="0"/>
              <a:t>What it does:</a:t>
            </a:r>
            <a:br>
              <a:rPr lang="en-US" dirty="0"/>
            </a:br>
            <a:r>
              <a:rPr lang="en-US" dirty="0"/>
              <a:t>Combines object files and libraries into a single executable.</a:t>
            </a:r>
          </a:p>
          <a:p>
            <a:r>
              <a:rPr lang="en-US" b="1" dirty="0"/>
              <a:t>Responsibilities:</a:t>
            </a:r>
          </a:p>
          <a:p>
            <a:r>
              <a:rPr lang="en-US" dirty="0"/>
              <a:t>Resolves external symbols</a:t>
            </a:r>
          </a:p>
          <a:p>
            <a:r>
              <a:rPr lang="en-US" dirty="0"/>
              <a:t>Connects function calls across files</a:t>
            </a:r>
          </a:p>
          <a:p>
            <a:r>
              <a:rPr lang="en-US" dirty="0"/>
              <a:t>Links standard libraries</a:t>
            </a:r>
          </a:p>
          <a:p>
            <a:r>
              <a:rPr lang="en-US" dirty="0"/>
              <a:t>Assigns memory addresses</a:t>
            </a:r>
          </a:p>
          <a:p>
            <a:r>
              <a:rPr lang="en-US" b="1" dirty="0"/>
              <a:t>Output:</a:t>
            </a:r>
            <a:r>
              <a:rPr lang="en-US" dirty="0"/>
              <a:t> Executable file (.exe / </a:t>
            </a:r>
            <a:r>
              <a:rPr lang="en-US" dirty="0" err="1"/>
              <a:t>a.out</a:t>
            </a:r>
            <a:r>
              <a:rPr lang="en-US" dirty="0"/>
              <a:t>)</a:t>
            </a:r>
          </a:p>
          <a:p>
            <a:endParaRPr lang="en-US" dirty="0"/>
          </a:p>
          <a:p>
            <a:endParaRPr lang="en-US" dirty="0"/>
          </a:p>
          <a:p>
            <a:r>
              <a:rPr lang="en-US" dirty="0"/>
              <a:t>Which stage handles syntax errors?</a:t>
            </a:r>
          </a:p>
          <a:p>
            <a:r>
              <a:rPr lang="en-US" dirty="0"/>
              <a:t>Answer: </a:t>
            </a:r>
            <a:r>
              <a:rPr lang="en-US" b="1" dirty="0"/>
              <a:t>Compiler</a:t>
            </a:r>
            <a:endParaRPr lang="en-US" dirty="0"/>
          </a:p>
          <a:p>
            <a:r>
              <a:rPr lang="en-US" dirty="0"/>
              <a:t>Which stage resolves undefined references?</a:t>
            </a:r>
          </a:p>
          <a:p>
            <a:r>
              <a:rPr lang="en-US" dirty="0"/>
              <a:t>Answer: </a:t>
            </a:r>
            <a:r>
              <a:rPr lang="en-US" b="1" dirty="0"/>
              <a:t>Linker</a:t>
            </a:r>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5FBD3ABC-CF0F-42F9-B775-725C472B46FE}" type="slidenum">
              <a:rPr lang="en-US" smtClean="0"/>
              <a:t>16</a:t>
            </a:fld>
            <a:endParaRPr lang="en-US"/>
          </a:p>
        </p:txBody>
      </p:sp>
    </p:spTree>
    <p:extLst>
      <p:ext uri="{BB962C8B-B14F-4D97-AF65-F5344CB8AC3E}">
        <p14:creationId xmlns:p14="http://schemas.microsoft.com/office/powerpoint/2010/main" val="11139069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9.png"/><Relationship Id="rId7" Type="http://schemas.openxmlformats.org/officeDocument/2006/relationships/image" Target="../media/image4.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8.svg"/></Relationships>
</file>

<file path=ppt/slides/_rels/slide7.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4.sv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4.sv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1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1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14.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4.sv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853278" y="2615657"/>
            <a:ext cx="10946941" cy="8896877"/>
          </a:xfrm>
          <a:custGeom>
            <a:avLst/>
            <a:gdLst/>
            <a:ahLst/>
            <a:cxnLst/>
            <a:rect l="l" t="t" r="r" b="b"/>
            <a:pathLst>
              <a:path w="10946941" h="8896877">
                <a:moveTo>
                  <a:pt x="0" y="0"/>
                </a:moveTo>
                <a:lnTo>
                  <a:pt x="10946941" y="0"/>
                </a:lnTo>
                <a:lnTo>
                  <a:pt x="10946941" y="8896877"/>
                </a:lnTo>
                <a:lnTo>
                  <a:pt x="0" y="88968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RO"/>
          </a:p>
        </p:txBody>
      </p:sp>
      <p:sp>
        <p:nvSpPr>
          <p:cNvPr id="3" name="Freeform 3"/>
          <p:cNvSpPr/>
          <p:nvPr/>
        </p:nvSpPr>
        <p:spPr>
          <a:xfrm>
            <a:off x="-3243554" y="-1718684"/>
            <a:ext cx="5643741" cy="4114800"/>
          </a:xfrm>
          <a:custGeom>
            <a:avLst/>
            <a:gdLst/>
            <a:ahLst/>
            <a:cxnLst/>
            <a:rect l="l" t="t" r="r" b="b"/>
            <a:pathLst>
              <a:path w="5643741" h="4114800">
                <a:moveTo>
                  <a:pt x="0" y="0"/>
                </a:moveTo>
                <a:lnTo>
                  <a:pt x="5643740" y="0"/>
                </a:lnTo>
                <a:lnTo>
                  <a:pt x="564374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RO"/>
          </a:p>
        </p:txBody>
      </p:sp>
      <p:grpSp>
        <p:nvGrpSpPr>
          <p:cNvPr id="4" name="Group 4"/>
          <p:cNvGrpSpPr/>
          <p:nvPr/>
        </p:nvGrpSpPr>
        <p:grpSpPr>
          <a:xfrm>
            <a:off x="0" y="9998267"/>
            <a:ext cx="9144000" cy="288733"/>
            <a:chOff x="0" y="0"/>
            <a:chExt cx="2408296" cy="76045"/>
          </a:xfrm>
        </p:grpSpPr>
        <p:sp>
          <p:nvSpPr>
            <p:cNvPr id="5" name="Freeform 5"/>
            <p:cNvSpPr/>
            <p:nvPr/>
          </p:nvSpPr>
          <p:spPr>
            <a:xfrm>
              <a:off x="0" y="0"/>
              <a:ext cx="2408296" cy="76045"/>
            </a:xfrm>
            <a:custGeom>
              <a:avLst/>
              <a:gdLst/>
              <a:ahLst/>
              <a:cxnLst/>
              <a:rect l="l" t="t" r="r" b="b"/>
              <a:pathLst>
                <a:path w="2408296" h="76045">
                  <a:moveTo>
                    <a:pt x="0" y="0"/>
                  </a:moveTo>
                  <a:lnTo>
                    <a:pt x="2408296" y="0"/>
                  </a:lnTo>
                  <a:lnTo>
                    <a:pt x="2408296" y="76045"/>
                  </a:lnTo>
                  <a:lnTo>
                    <a:pt x="0" y="76045"/>
                  </a:lnTo>
                  <a:close/>
                </a:path>
              </a:pathLst>
            </a:custGeom>
            <a:solidFill>
              <a:srgbClr val="E1AD27"/>
            </a:solidFill>
          </p:spPr>
          <p:txBody>
            <a:bodyPr/>
            <a:lstStyle/>
            <a:p>
              <a:endParaRPr lang="en-RO"/>
            </a:p>
          </p:txBody>
        </p:sp>
        <p:sp>
          <p:nvSpPr>
            <p:cNvPr id="6" name="TextBox 6"/>
            <p:cNvSpPr txBox="1"/>
            <p:nvPr/>
          </p:nvSpPr>
          <p:spPr>
            <a:xfrm>
              <a:off x="0" y="-38100"/>
              <a:ext cx="2408296" cy="114145"/>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p:cNvSpPr/>
          <p:nvPr/>
        </p:nvSpPr>
        <p:spPr>
          <a:xfrm>
            <a:off x="1828800" y="2396116"/>
            <a:ext cx="7315200" cy="3604399"/>
          </a:xfrm>
          <a:custGeom>
            <a:avLst/>
            <a:gdLst/>
            <a:ahLst/>
            <a:cxnLst/>
            <a:rect l="l" t="t" r="r" b="b"/>
            <a:pathLst>
              <a:path w="7315200" h="3604399">
                <a:moveTo>
                  <a:pt x="0" y="0"/>
                </a:moveTo>
                <a:lnTo>
                  <a:pt x="7315200" y="0"/>
                </a:lnTo>
                <a:lnTo>
                  <a:pt x="7315200" y="3604399"/>
                </a:lnTo>
                <a:lnTo>
                  <a:pt x="0" y="360439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RO"/>
          </a:p>
        </p:txBody>
      </p:sp>
      <p:sp>
        <p:nvSpPr>
          <p:cNvPr id="8" name="TextBox 8"/>
          <p:cNvSpPr txBox="1"/>
          <p:nvPr/>
        </p:nvSpPr>
        <p:spPr>
          <a:xfrm>
            <a:off x="2228216" y="6154626"/>
            <a:ext cx="6915784" cy="539116"/>
          </a:xfrm>
          <a:prstGeom prst="rect">
            <a:avLst/>
          </a:prstGeom>
        </p:spPr>
        <p:txBody>
          <a:bodyPr lIns="0" tIns="0" rIns="0" bIns="0" rtlCol="0" anchor="t">
            <a:spAutoFit/>
          </a:bodyPr>
          <a:lstStyle/>
          <a:p>
            <a:pPr algn="l">
              <a:lnSpc>
                <a:spcPts val="4319"/>
              </a:lnSpc>
            </a:pPr>
            <a:r>
              <a:rPr lang="en-US" sz="2699" b="1">
                <a:solidFill>
                  <a:srgbClr val="1D1D1F"/>
                </a:solidFill>
                <a:latin typeface="Poppins Bold"/>
                <a:ea typeface="Poppins Bold"/>
                <a:cs typeface="Poppins Bold"/>
                <a:sym typeface="Poppins Bold"/>
              </a:rPr>
              <a:t>Your partner for vehicle cybersecurity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37966" y="3083251"/>
            <a:ext cx="10946941" cy="8896877"/>
          </a:xfrm>
          <a:custGeom>
            <a:avLst/>
            <a:gdLst/>
            <a:ahLst/>
            <a:cxnLst/>
            <a:rect l="l" t="t" r="r" b="b"/>
            <a:pathLst>
              <a:path w="10946941" h="8896877">
                <a:moveTo>
                  <a:pt x="0" y="0"/>
                </a:moveTo>
                <a:lnTo>
                  <a:pt x="10946941" y="0"/>
                </a:lnTo>
                <a:lnTo>
                  <a:pt x="10946941" y="8896877"/>
                </a:lnTo>
                <a:lnTo>
                  <a:pt x="0" y="88968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RO"/>
          </a:p>
        </p:txBody>
      </p:sp>
      <p:sp>
        <p:nvSpPr>
          <p:cNvPr id="3" name="Freeform 3"/>
          <p:cNvSpPr/>
          <p:nvPr/>
        </p:nvSpPr>
        <p:spPr>
          <a:xfrm>
            <a:off x="-4615041" y="-2057400"/>
            <a:ext cx="5643741" cy="4114800"/>
          </a:xfrm>
          <a:custGeom>
            <a:avLst/>
            <a:gdLst/>
            <a:ahLst/>
            <a:cxnLst/>
            <a:rect l="l" t="t" r="r" b="b"/>
            <a:pathLst>
              <a:path w="5643741" h="4114800">
                <a:moveTo>
                  <a:pt x="0" y="0"/>
                </a:moveTo>
                <a:lnTo>
                  <a:pt x="5643741" y="0"/>
                </a:lnTo>
                <a:lnTo>
                  <a:pt x="564374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RO"/>
          </a:p>
        </p:txBody>
      </p:sp>
      <p:grpSp>
        <p:nvGrpSpPr>
          <p:cNvPr id="4" name="Group 4"/>
          <p:cNvGrpSpPr/>
          <p:nvPr/>
        </p:nvGrpSpPr>
        <p:grpSpPr>
          <a:xfrm>
            <a:off x="0" y="9998267"/>
            <a:ext cx="9144000" cy="288733"/>
            <a:chOff x="0" y="0"/>
            <a:chExt cx="2408296" cy="76045"/>
          </a:xfrm>
        </p:grpSpPr>
        <p:sp>
          <p:nvSpPr>
            <p:cNvPr id="5" name="Freeform 5"/>
            <p:cNvSpPr/>
            <p:nvPr/>
          </p:nvSpPr>
          <p:spPr>
            <a:xfrm>
              <a:off x="0" y="0"/>
              <a:ext cx="2408296" cy="76045"/>
            </a:xfrm>
            <a:custGeom>
              <a:avLst/>
              <a:gdLst/>
              <a:ahLst/>
              <a:cxnLst/>
              <a:rect l="l" t="t" r="r" b="b"/>
              <a:pathLst>
                <a:path w="2408296" h="76045">
                  <a:moveTo>
                    <a:pt x="0" y="0"/>
                  </a:moveTo>
                  <a:lnTo>
                    <a:pt x="2408296" y="0"/>
                  </a:lnTo>
                  <a:lnTo>
                    <a:pt x="2408296" y="76045"/>
                  </a:lnTo>
                  <a:lnTo>
                    <a:pt x="0" y="76045"/>
                  </a:lnTo>
                  <a:close/>
                </a:path>
              </a:pathLst>
            </a:custGeom>
            <a:solidFill>
              <a:srgbClr val="E1AD27"/>
            </a:solidFill>
          </p:spPr>
          <p:txBody>
            <a:bodyPr/>
            <a:lstStyle/>
            <a:p>
              <a:endParaRPr lang="en-RO"/>
            </a:p>
          </p:txBody>
        </p:sp>
        <p:sp>
          <p:nvSpPr>
            <p:cNvPr id="6" name="TextBox 6"/>
            <p:cNvSpPr txBox="1"/>
            <p:nvPr/>
          </p:nvSpPr>
          <p:spPr>
            <a:xfrm>
              <a:off x="0" y="-38100"/>
              <a:ext cx="2408296" cy="114145"/>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p:cNvSpPr/>
          <p:nvPr/>
        </p:nvSpPr>
        <p:spPr>
          <a:xfrm>
            <a:off x="15276987" y="190500"/>
            <a:ext cx="2817637" cy="1388327"/>
          </a:xfrm>
          <a:custGeom>
            <a:avLst/>
            <a:gdLst/>
            <a:ahLst/>
            <a:cxnLst/>
            <a:rect l="l" t="t" r="r" b="b"/>
            <a:pathLst>
              <a:path w="2817637" h="1388327">
                <a:moveTo>
                  <a:pt x="0" y="0"/>
                </a:moveTo>
                <a:lnTo>
                  <a:pt x="2817637" y="0"/>
                </a:lnTo>
                <a:lnTo>
                  <a:pt x="2817637" y="1388327"/>
                </a:lnTo>
                <a:lnTo>
                  <a:pt x="0" y="138832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RO"/>
          </a:p>
        </p:txBody>
      </p:sp>
      <p:sp>
        <p:nvSpPr>
          <p:cNvPr id="9" name="Title 10">
            <a:extLst>
              <a:ext uri="{FF2B5EF4-FFF2-40B4-BE49-F238E27FC236}">
                <a16:creationId xmlns:a16="http://schemas.microsoft.com/office/drawing/2014/main" id="{A48B67C3-C2A8-A3BA-AEDE-9A61B263A4B4}"/>
              </a:ext>
            </a:extLst>
          </p:cNvPr>
          <p:cNvSpPr>
            <a:spLocks noGrp="1"/>
          </p:cNvSpPr>
          <p:nvPr/>
        </p:nvSpPr>
        <p:spPr>
          <a:xfrm>
            <a:off x="4327324" y="3083251"/>
            <a:ext cx="7300919" cy="1352022"/>
          </a:xfrm>
          <a:prstGeom prst="rect">
            <a:avLst/>
          </a:prstGeom>
        </p:spPr>
        <p:txBody>
          <a:bodyPr vert="horz" lIns="91440" tIns="45720" rIns="91440" bIns="45720" rtlCol="0" anchor="ctr">
            <a:normAutofit/>
          </a:bodyPr>
          <a:lstStyle>
            <a:defPPr>
              <a:defRPr lang="en-US"/>
            </a:defPPr>
            <a:lvl1pPr marL="0" algn="l" defTabSz="457200" rtl="0" eaLnBrk="1" latinLnBrk="0" hangingPunct="1">
              <a:spcBef>
                <a:spcPct val="0"/>
              </a:spcBef>
              <a:buNone/>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a:lstStyle>
          <a:p>
            <a:r>
              <a:rPr lang="en-GB" sz="2000" b="1" dirty="0" err="1">
                <a:latin typeface="Calibri"/>
                <a:ea typeface="Calibri"/>
                <a:cs typeface="Calibri"/>
              </a:rPr>
              <a:t>Structură</a:t>
            </a:r>
            <a:r>
              <a:rPr lang="en-GB" sz="2000" b="1" dirty="0">
                <a:latin typeface="Calibri"/>
                <a:ea typeface="Calibri"/>
                <a:cs typeface="Calibri"/>
              </a:rPr>
              <a:t> curs</a:t>
            </a:r>
          </a:p>
        </p:txBody>
      </p:sp>
      <p:sp>
        <p:nvSpPr>
          <p:cNvPr id="10" name="Content Placeholder 11">
            <a:extLst>
              <a:ext uri="{FF2B5EF4-FFF2-40B4-BE49-F238E27FC236}">
                <a16:creationId xmlns:a16="http://schemas.microsoft.com/office/drawing/2014/main" id="{3BCA02C6-34AD-DFDB-0F34-3E09E95016A7}"/>
              </a:ext>
            </a:extLst>
          </p:cNvPr>
          <p:cNvSpPr>
            <a:spLocks noGrp="1"/>
          </p:cNvSpPr>
          <p:nvPr/>
        </p:nvSpPr>
        <p:spPr>
          <a:xfrm>
            <a:off x="4572000" y="4238097"/>
            <a:ext cx="7300919" cy="3029477"/>
          </a:xfrm>
          <a:prstGeom prst="rect">
            <a:avLst/>
          </a:prstGeom>
        </p:spPr>
        <p:txBody>
          <a:bodyPr vert="horz" lIns="34290" tIns="17145" rIns="34290" bIns="17145" rtlCol="0" anchor="t">
            <a:normAutofit/>
          </a:bodyPr>
          <a:lstStyle>
            <a:defPPr>
              <a:defRPr lang="en-US"/>
            </a:defPPr>
            <a:lvl1pPr marL="0" indent="-3429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1pPr>
            <a:lvl2pPr marL="228600" indent="-28575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2pPr>
            <a:lvl3pPr marL="4572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3pPr>
            <a:lvl4pPr marL="6858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4pPr>
            <a:lvl5pPr marL="9144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5pPr>
            <a:lvl6pPr marL="11430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6pPr>
            <a:lvl7pPr marL="13716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7pPr>
            <a:lvl8pPr marL="16002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8pPr>
            <a:lvl9pPr marL="18288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9pPr>
          </a:lstStyle>
          <a:p>
            <a:pPr>
              <a:buFont typeface="+mj-lt"/>
              <a:buAutoNum type="arabicPeriod"/>
            </a:pPr>
            <a:r>
              <a:rPr lang="en-GB" sz="1800" b="1" dirty="0">
                <a:ea typeface="Calibri"/>
                <a:cs typeface="Calibri"/>
              </a:rPr>
              <a:t>Week</a:t>
            </a:r>
            <a:r>
              <a:rPr lang="en-GB" sz="1800" dirty="0">
                <a:ea typeface="Calibri"/>
                <a:cs typeface="Calibri"/>
              </a:rPr>
              <a:t> </a:t>
            </a:r>
            <a:r>
              <a:rPr lang="en-GB" sz="1800" b="1" dirty="0">
                <a:ea typeface="Calibri"/>
                <a:cs typeface="Calibri"/>
              </a:rPr>
              <a:t>1: </a:t>
            </a:r>
            <a:r>
              <a:rPr lang="en-US" sz="1800" b="1" dirty="0">
                <a:ea typeface="Calibri"/>
                <a:cs typeface="Calibri"/>
              </a:rPr>
              <a:t>Foundations of C and memory — from programming to vulnerability thinking</a:t>
            </a:r>
            <a:endParaRPr lang="en-GB" sz="1800" b="1" dirty="0">
              <a:ea typeface="Calibri"/>
              <a:cs typeface="Calibri"/>
            </a:endParaRPr>
          </a:p>
          <a:p>
            <a:pPr marL="383540" lvl="2">
              <a:buFont typeface="Wingdings" pitchFamily="34" charset="0"/>
              <a:buChar char="§"/>
            </a:pPr>
            <a:r>
              <a:rPr lang="en-GB" sz="1800" b="1" dirty="0">
                <a:latin typeface="Calibri"/>
                <a:ea typeface="+mn-lt"/>
                <a:cs typeface="+mn-lt"/>
              </a:rPr>
              <a:t>day 1:</a:t>
            </a:r>
            <a:r>
              <a:rPr lang="en-GB" sz="1800" b="1" dirty="0">
                <a:ea typeface="+mn-lt"/>
                <a:cs typeface="+mn-lt"/>
              </a:rPr>
              <a:t> Intro + Theory day I</a:t>
            </a:r>
            <a:endParaRPr lang="en-GB" sz="1800" b="1" dirty="0">
              <a:latin typeface="Calibri"/>
              <a:ea typeface="+mn-lt"/>
              <a:cs typeface="+mn-lt"/>
            </a:endParaRPr>
          </a:p>
          <a:p>
            <a:pPr marL="383540" lvl="2">
              <a:buFont typeface="Wingdings" pitchFamily="34" charset="0"/>
              <a:buChar char="§"/>
            </a:pPr>
            <a:r>
              <a:rPr lang="en-GB" sz="1800" dirty="0">
                <a:latin typeface="Calibri"/>
                <a:ea typeface="+mn-lt"/>
                <a:cs typeface="+mn-lt"/>
              </a:rPr>
              <a:t>day 2:</a:t>
            </a:r>
            <a:r>
              <a:rPr lang="en-GB" sz="1800" dirty="0">
                <a:ea typeface="+mn-lt"/>
                <a:cs typeface="+mn-lt"/>
              </a:rPr>
              <a:t> Theory day II</a:t>
            </a:r>
            <a:endParaRPr lang="en-GB" sz="1800" dirty="0">
              <a:latin typeface="Calibri"/>
              <a:ea typeface="Calibri"/>
              <a:cs typeface="Calibri"/>
            </a:endParaRPr>
          </a:p>
          <a:p>
            <a:pPr marL="383540" lvl="2">
              <a:buFont typeface="Wingdings" pitchFamily="34" charset="0"/>
              <a:buChar char="§"/>
            </a:pPr>
            <a:r>
              <a:rPr lang="en-GB" sz="1800" dirty="0">
                <a:ea typeface="+mn-lt"/>
                <a:cs typeface="+mn-lt"/>
              </a:rPr>
              <a:t>day</a:t>
            </a:r>
            <a:r>
              <a:rPr lang="en-GB" sz="1800" dirty="0">
                <a:latin typeface="Calibri"/>
                <a:ea typeface="+mn-lt"/>
                <a:cs typeface="+mn-lt"/>
              </a:rPr>
              <a:t> 3: </a:t>
            </a:r>
            <a:r>
              <a:rPr lang="en-GB" sz="1800" dirty="0">
                <a:ea typeface="+mn-lt"/>
                <a:cs typeface="+mn-lt"/>
              </a:rPr>
              <a:t>Theory day III</a:t>
            </a:r>
            <a:endParaRPr lang="en-GB" sz="1800" dirty="0">
              <a:latin typeface="Calibri"/>
              <a:ea typeface="+mn-lt"/>
              <a:cs typeface="+mn-lt"/>
            </a:endParaRPr>
          </a:p>
          <a:p>
            <a:pPr marL="383540" lvl="2">
              <a:buFont typeface="Wingdings" pitchFamily="34" charset="0"/>
              <a:buChar char="§"/>
            </a:pPr>
            <a:r>
              <a:rPr lang="en-GB" sz="1800" dirty="0">
                <a:ea typeface="+mn-lt"/>
                <a:cs typeface="+mn-lt"/>
              </a:rPr>
              <a:t>day</a:t>
            </a:r>
            <a:r>
              <a:rPr lang="en-GB" sz="1800" dirty="0">
                <a:latin typeface="Calibri"/>
                <a:ea typeface="+mn-lt"/>
                <a:cs typeface="+mn-lt"/>
              </a:rPr>
              <a:t> 4: </a:t>
            </a:r>
            <a:r>
              <a:rPr lang="en-US" sz="1800" dirty="0">
                <a:ea typeface="+mn-lt"/>
                <a:cs typeface="+mn-lt"/>
              </a:rPr>
              <a:t>When C Goes Wrong — Memory Vulnerabilities</a:t>
            </a:r>
            <a:endParaRPr lang="en-GB" sz="1800" dirty="0">
              <a:latin typeface="Calibri"/>
              <a:ea typeface="+mn-lt"/>
              <a:cs typeface="+mn-lt"/>
            </a:endParaRPr>
          </a:p>
          <a:p>
            <a:pPr marL="383540" lvl="2">
              <a:buFont typeface="Wingdings" pitchFamily="34" charset="0"/>
              <a:buChar char="§"/>
            </a:pPr>
            <a:r>
              <a:rPr lang="en-GB" sz="1800" dirty="0">
                <a:ea typeface="+mn-lt"/>
                <a:cs typeface="+mn-lt"/>
              </a:rPr>
              <a:t>day</a:t>
            </a:r>
            <a:r>
              <a:rPr lang="en-GB" sz="1800" dirty="0">
                <a:latin typeface="Calibri"/>
                <a:ea typeface="+mn-lt"/>
                <a:cs typeface="+mn-lt"/>
              </a:rPr>
              <a:t> 5: </a:t>
            </a:r>
            <a:r>
              <a:rPr lang="en-US" sz="1800" dirty="0">
                <a:ea typeface="+mn-lt"/>
                <a:cs typeface="+mn-lt"/>
              </a:rPr>
              <a:t>From Bug to Exploit — Defensive Thinking</a:t>
            </a:r>
            <a:endParaRPr lang="en-GB" sz="1800" dirty="0">
              <a:latin typeface="Calibri"/>
              <a:ea typeface="Calibri"/>
              <a:cs typeface="Calibri"/>
            </a:endParaRPr>
          </a:p>
        </p:txBody>
      </p:sp>
    </p:spTree>
    <p:extLst>
      <p:ext uri="{BB962C8B-B14F-4D97-AF65-F5344CB8AC3E}">
        <p14:creationId xmlns:p14="http://schemas.microsoft.com/office/powerpoint/2010/main" val="2911262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0A483-D13F-262A-2F6C-012B4FDA60E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DAC4FA7-0551-5654-BBA9-E6558E3D6F6E}"/>
              </a:ext>
            </a:extLst>
          </p:cNvPr>
          <p:cNvSpPr/>
          <p:nvPr/>
        </p:nvSpPr>
        <p:spPr>
          <a:xfrm>
            <a:off x="13937966" y="3083251"/>
            <a:ext cx="10946941" cy="8896877"/>
          </a:xfrm>
          <a:custGeom>
            <a:avLst/>
            <a:gdLst/>
            <a:ahLst/>
            <a:cxnLst/>
            <a:rect l="l" t="t" r="r" b="b"/>
            <a:pathLst>
              <a:path w="10946941" h="8896877">
                <a:moveTo>
                  <a:pt x="0" y="0"/>
                </a:moveTo>
                <a:lnTo>
                  <a:pt x="10946941" y="0"/>
                </a:lnTo>
                <a:lnTo>
                  <a:pt x="10946941" y="8896877"/>
                </a:lnTo>
                <a:lnTo>
                  <a:pt x="0" y="88968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RO"/>
          </a:p>
        </p:txBody>
      </p:sp>
      <p:sp>
        <p:nvSpPr>
          <p:cNvPr id="3" name="Freeform 3">
            <a:extLst>
              <a:ext uri="{FF2B5EF4-FFF2-40B4-BE49-F238E27FC236}">
                <a16:creationId xmlns:a16="http://schemas.microsoft.com/office/drawing/2014/main" id="{C32BC785-E073-AF62-4B3E-88A049114EA7}"/>
              </a:ext>
            </a:extLst>
          </p:cNvPr>
          <p:cNvSpPr/>
          <p:nvPr/>
        </p:nvSpPr>
        <p:spPr>
          <a:xfrm>
            <a:off x="-4615041" y="-2057400"/>
            <a:ext cx="5643741" cy="4114800"/>
          </a:xfrm>
          <a:custGeom>
            <a:avLst/>
            <a:gdLst/>
            <a:ahLst/>
            <a:cxnLst/>
            <a:rect l="l" t="t" r="r" b="b"/>
            <a:pathLst>
              <a:path w="5643741" h="4114800">
                <a:moveTo>
                  <a:pt x="0" y="0"/>
                </a:moveTo>
                <a:lnTo>
                  <a:pt x="5643741" y="0"/>
                </a:lnTo>
                <a:lnTo>
                  <a:pt x="564374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RO"/>
          </a:p>
        </p:txBody>
      </p:sp>
      <p:grpSp>
        <p:nvGrpSpPr>
          <p:cNvPr id="4" name="Group 4">
            <a:extLst>
              <a:ext uri="{FF2B5EF4-FFF2-40B4-BE49-F238E27FC236}">
                <a16:creationId xmlns:a16="http://schemas.microsoft.com/office/drawing/2014/main" id="{D6F27DF5-7C1E-856D-F5F3-AEEC8F386D59}"/>
              </a:ext>
            </a:extLst>
          </p:cNvPr>
          <p:cNvGrpSpPr/>
          <p:nvPr/>
        </p:nvGrpSpPr>
        <p:grpSpPr>
          <a:xfrm>
            <a:off x="0" y="9998267"/>
            <a:ext cx="9144000" cy="288733"/>
            <a:chOff x="0" y="0"/>
            <a:chExt cx="2408296" cy="76045"/>
          </a:xfrm>
        </p:grpSpPr>
        <p:sp>
          <p:nvSpPr>
            <p:cNvPr id="5" name="Freeform 5">
              <a:extLst>
                <a:ext uri="{FF2B5EF4-FFF2-40B4-BE49-F238E27FC236}">
                  <a16:creationId xmlns:a16="http://schemas.microsoft.com/office/drawing/2014/main" id="{6008BAD3-390D-2DAE-A65F-F70C56057AC4}"/>
                </a:ext>
              </a:extLst>
            </p:cNvPr>
            <p:cNvSpPr/>
            <p:nvPr/>
          </p:nvSpPr>
          <p:spPr>
            <a:xfrm>
              <a:off x="0" y="0"/>
              <a:ext cx="2408296" cy="76045"/>
            </a:xfrm>
            <a:custGeom>
              <a:avLst/>
              <a:gdLst/>
              <a:ahLst/>
              <a:cxnLst/>
              <a:rect l="l" t="t" r="r" b="b"/>
              <a:pathLst>
                <a:path w="2408296" h="76045">
                  <a:moveTo>
                    <a:pt x="0" y="0"/>
                  </a:moveTo>
                  <a:lnTo>
                    <a:pt x="2408296" y="0"/>
                  </a:lnTo>
                  <a:lnTo>
                    <a:pt x="2408296" y="76045"/>
                  </a:lnTo>
                  <a:lnTo>
                    <a:pt x="0" y="76045"/>
                  </a:lnTo>
                  <a:close/>
                </a:path>
              </a:pathLst>
            </a:custGeom>
            <a:solidFill>
              <a:srgbClr val="E1AD27"/>
            </a:solidFill>
          </p:spPr>
          <p:txBody>
            <a:bodyPr/>
            <a:lstStyle/>
            <a:p>
              <a:endParaRPr lang="en-RO"/>
            </a:p>
          </p:txBody>
        </p:sp>
        <p:sp>
          <p:nvSpPr>
            <p:cNvPr id="6" name="TextBox 6">
              <a:extLst>
                <a:ext uri="{FF2B5EF4-FFF2-40B4-BE49-F238E27FC236}">
                  <a16:creationId xmlns:a16="http://schemas.microsoft.com/office/drawing/2014/main" id="{4A71C242-9B73-C484-2343-2F889D9B9EB9}"/>
                </a:ext>
              </a:extLst>
            </p:cNvPr>
            <p:cNvSpPr txBox="1"/>
            <p:nvPr/>
          </p:nvSpPr>
          <p:spPr>
            <a:xfrm>
              <a:off x="0" y="-38100"/>
              <a:ext cx="2408296" cy="114145"/>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a:extLst>
              <a:ext uri="{FF2B5EF4-FFF2-40B4-BE49-F238E27FC236}">
                <a16:creationId xmlns:a16="http://schemas.microsoft.com/office/drawing/2014/main" id="{687DA44B-F651-7492-7996-E7AF17A4BAA3}"/>
              </a:ext>
            </a:extLst>
          </p:cNvPr>
          <p:cNvSpPr/>
          <p:nvPr/>
        </p:nvSpPr>
        <p:spPr>
          <a:xfrm>
            <a:off x="15276987" y="190500"/>
            <a:ext cx="2817637" cy="1388327"/>
          </a:xfrm>
          <a:custGeom>
            <a:avLst/>
            <a:gdLst/>
            <a:ahLst/>
            <a:cxnLst/>
            <a:rect l="l" t="t" r="r" b="b"/>
            <a:pathLst>
              <a:path w="2817637" h="1388327">
                <a:moveTo>
                  <a:pt x="0" y="0"/>
                </a:moveTo>
                <a:lnTo>
                  <a:pt x="2817637" y="0"/>
                </a:lnTo>
                <a:lnTo>
                  <a:pt x="2817637" y="1388327"/>
                </a:lnTo>
                <a:lnTo>
                  <a:pt x="0" y="138832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RO"/>
          </a:p>
        </p:txBody>
      </p:sp>
      <p:sp>
        <p:nvSpPr>
          <p:cNvPr id="10" name="Content Placeholder 11">
            <a:extLst>
              <a:ext uri="{FF2B5EF4-FFF2-40B4-BE49-F238E27FC236}">
                <a16:creationId xmlns:a16="http://schemas.microsoft.com/office/drawing/2014/main" id="{BA847AB5-DCF2-399E-C1EA-D844A689415E}"/>
              </a:ext>
            </a:extLst>
          </p:cNvPr>
          <p:cNvSpPr>
            <a:spLocks noGrp="1"/>
          </p:cNvSpPr>
          <p:nvPr/>
        </p:nvSpPr>
        <p:spPr>
          <a:xfrm>
            <a:off x="4572000" y="4238097"/>
            <a:ext cx="7300919" cy="3029477"/>
          </a:xfrm>
          <a:prstGeom prst="rect">
            <a:avLst/>
          </a:prstGeom>
        </p:spPr>
        <p:txBody>
          <a:bodyPr vert="horz" lIns="34290" tIns="17145" rIns="34290" bIns="17145" rtlCol="0" anchor="t">
            <a:noAutofit/>
          </a:bodyPr>
          <a:lstStyle>
            <a:defPPr>
              <a:defRPr lang="en-US"/>
            </a:defPPr>
            <a:lvl1pPr marL="0" indent="-3429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1pPr>
            <a:lvl2pPr marL="228600" indent="-28575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2pPr>
            <a:lvl3pPr marL="4572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3pPr>
            <a:lvl4pPr marL="6858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4pPr>
            <a:lvl5pPr marL="9144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5pPr>
            <a:lvl6pPr marL="11430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6pPr>
            <a:lvl7pPr marL="13716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7pPr>
            <a:lvl8pPr marL="16002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8pPr>
            <a:lvl9pPr marL="18288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9pPr>
          </a:lstStyle>
          <a:p>
            <a:pPr indent="0">
              <a:buNone/>
            </a:pPr>
            <a:r>
              <a:rPr lang="en-GB" sz="1800" dirty="0">
                <a:ea typeface="Calibri"/>
                <a:cs typeface="Calibri"/>
              </a:rPr>
              <a:t>A)</a:t>
            </a:r>
          </a:p>
          <a:p>
            <a:pPr marL="285750" indent="-285750"/>
            <a:r>
              <a:rPr lang="en-GB" sz="1800" dirty="0">
                <a:ea typeface="Calibri"/>
                <a:cs typeface="Calibri"/>
              </a:rPr>
              <a:t>History of C language</a:t>
            </a:r>
          </a:p>
          <a:p>
            <a:pPr marL="285750" indent="-285750"/>
            <a:r>
              <a:rPr lang="en-GB" sz="1800" dirty="0">
                <a:ea typeface="Calibri"/>
                <a:cs typeface="Calibri"/>
              </a:rPr>
              <a:t>Applications in automotive</a:t>
            </a:r>
          </a:p>
          <a:p>
            <a:pPr marL="285750" indent="-285750"/>
            <a:r>
              <a:rPr lang="en-GB" sz="1800" dirty="0">
                <a:ea typeface="Calibri"/>
                <a:cs typeface="Calibri"/>
              </a:rPr>
              <a:t>Memory: Stack vs Heap</a:t>
            </a:r>
          </a:p>
          <a:p>
            <a:pPr marL="285750" indent="-285750"/>
            <a:r>
              <a:rPr lang="en-GB" sz="1800" dirty="0">
                <a:ea typeface="Calibri"/>
                <a:cs typeface="Calibri"/>
              </a:rPr>
              <a:t>binary/hex representation</a:t>
            </a:r>
          </a:p>
          <a:p>
            <a:pPr marL="285750" indent="-285750"/>
            <a:r>
              <a:rPr lang="en-GB" sz="1800" dirty="0">
                <a:ea typeface="Calibri"/>
                <a:cs typeface="Calibri"/>
              </a:rPr>
              <a:t>bitwise operations (&amp;), logical operations (&amp;&amp;), masks</a:t>
            </a:r>
          </a:p>
          <a:p>
            <a:pPr marL="285750" indent="-285750"/>
            <a:r>
              <a:rPr lang="en-GB" sz="1800" dirty="0">
                <a:ea typeface="Calibri"/>
                <a:cs typeface="Calibri"/>
              </a:rPr>
              <a:t>XOR encryption</a:t>
            </a:r>
          </a:p>
          <a:p>
            <a:pPr indent="0">
              <a:buNone/>
            </a:pPr>
            <a:r>
              <a:rPr lang="en-GB" sz="1800" dirty="0">
                <a:ea typeface="Calibri"/>
                <a:cs typeface="Calibri"/>
              </a:rPr>
              <a:t>B) </a:t>
            </a:r>
          </a:p>
          <a:p>
            <a:pPr marL="285750" indent="-285750"/>
            <a:r>
              <a:rPr lang="en-GB" sz="1800" dirty="0">
                <a:ea typeface="Calibri"/>
                <a:cs typeface="Calibri"/>
              </a:rPr>
              <a:t>Build tools: pre-processor, compiler, assembler, linker. Q&amp;A</a:t>
            </a:r>
            <a:endParaRPr lang="en-GB" sz="1800" dirty="0">
              <a:latin typeface="Calibri"/>
              <a:ea typeface="Calibri"/>
              <a:cs typeface="Calibri"/>
            </a:endParaRPr>
          </a:p>
        </p:txBody>
      </p:sp>
    </p:spTree>
    <p:extLst>
      <p:ext uri="{BB962C8B-B14F-4D97-AF65-F5344CB8AC3E}">
        <p14:creationId xmlns:p14="http://schemas.microsoft.com/office/powerpoint/2010/main" val="3946306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4E3A4-D591-9CBB-AC74-40D960863A7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CB7B9E3-1F3C-8C93-45D6-75C00B916EFF}"/>
              </a:ext>
            </a:extLst>
          </p:cNvPr>
          <p:cNvSpPr/>
          <p:nvPr/>
        </p:nvSpPr>
        <p:spPr>
          <a:xfrm>
            <a:off x="13937966" y="3083251"/>
            <a:ext cx="10946941" cy="8896877"/>
          </a:xfrm>
          <a:custGeom>
            <a:avLst/>
            <a:gdLst/>
            <a:ahLst/>
            <a:cxnLst/>
            <a:rect l="l" t="t" r="r" b="b"/>
            <a:pathLst>
              <a:path w="10946941" h="8896877">
                <a:moveTo>
                  <a:pt x="0" y="0"/>
                </a:moveTo>
                <a:lnTo>
                  <a:pt x="10946941" y="0"/>
                </a:lnTo>
                <a:lnTo>
                  <a:pt x="10946941" y="8896877"/>
                </a:lnTo>
                <a:lnTo>
                  <a:pt x="0" y="88968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RO"/>
          </a:p>
        </p:txBody>
      </p:sp>
      <p:sp>
        <p:nvSpPr>
          <p:cNvPr id="3" name="Freeform 3">
            <a:extLst>
              <a:ext uri="{FF2B5EF4-FFF2-40B4-BE49-F238E27FC236}">
                <a16:creationId xmlns:a16="http://schemas.microsoft.com/office/drawing/2014/main" id="{6D4BBBD6-A5BF-F430-448C-BCCF48DBEDF4}"/>
              </a:ext>
            </a:extLst>
          </p:cNvPr>
          <p:cNvSpPr/>
          <p:nvPr/>
        </p:nvSpPr>
        <p:spPr>
          <a:xfrm>
            <a:off x="-4615041" y="-2057400"/>
            <a:ext cx="5643741" cy="4114800"/>
          </a:xfrm>
          <a:custGeom>
            <a:avLst/>
            <a:gdLst/>
            <a:ahLst/>
            <a:cxnLst/>
            <a:rect l="l" t="t" r="r" b="b"/>
            <a:pathLst>
              <a:path w="5643741" h="4114800">
                <a:moveTo>
                  <a:pt x="0" y="0"/>
                </a:moveTo>
                <a:lnTo>
                  <a:pt x="5643741" y="0"/>
                </a:lnTo>
                <a:lnTo>
                  <a:pt x="564374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RO"/>
          </a:p>
        </p:txBody>
      </p:sp>
      <p:grpSp>
        <p:nvGrpSpPr>
          <p:cNvPr id="4" name="Group 4">
            <a:extLst>
              <a:ext uri="{FF2B5EF4-FFF2-40B4-BE49-F238E27FC236}">
                <a16:creationId xmlns:a16="http://schemas.microsoft.com/office/drawing/2014/main" id="{76D00EF9-C6DA-E54F-D8EA-3530A9F0293D}"/>
              </a:ext>
            </a:extLst>
          </p:cNvPr>
          <p:cNvGrpSpPr/>
          <p:nvPr/>
        </p:nvGrpSpPr>
        <p:grpSpPr>
          <a:xfrm>
            <a:off x="0" y="9998267"/>
            <a:ext cx="9144000" cy="288733"/>
            <a:chOff x="0" y="0"/>
            <a:chExt cx="2408296" cy="76045"/>
          </a:xfrm>
        </p:grpSpPr>
        <p:sp>
          <p:nvSpPr>
            <p:cNvPr id="5" name="Freeform 5">
              <a:extLst>
                <a:ext uri="{FF2B5EF4-FFF2-40B4-BE49-F238E27FC236}">
                  <a16:creationId xmlns:a16="http://schemas.microsoft.com/office/drawing/2014/main" id="{FA7A07F0-FEC5-4C17-B2BE-E00070E68FA2}"/>
                </a:ext>
              </a:extLst>
            </p:cNvPr>
            <p:cNvSpPr/>
            <p:nvPr/>
          </p:nvSpPr>
          <p:spPr>
            <a:xfrm>
              <a:off x="0" y="0"/>
              <a:ext cx="2408296" cy="76045"/>
            </a:xfrm>
            <a:custGeom>
              <a:avLst/>
              <a:gdLst/>
              <a:ahLst/>
              <a:cxnLst/>
              <a:rect l="l" t="t" r="r" b="b"/>
              <a:pathLst>
                <a:path w="2408296" h="76045">
                  <a:moveTo>
                    <a:pt x="0" y="0"/>
                  </a:moveTo>
                  <a:lnTo>
                    <a:pt x="2408296" y="0"/>
                  </a:lnTo>
                  <a:lnTo>
                    <a:pt x="2408296" y="76045"/>
                  </a:lnTo>
                  <a:lnTo>
                    <a:pt x="0" y="76045"/>
                  </a:lnTo>
                  <a:close/>
                </a:path>
              </a:pathLst>
            </a:custGeom>
            <a:solidFill>
              <a:srgbClr val="E1AD27"/>
            </a:solidFill>
          </p:spPr>
          <p:txBody>
            <a:bodyPr/>
            <a:lstStyle/>
            <a:p>
              <a:endParaRPr lang="en-RO"/>
            </a:p>
          </p:txBody>
        </p:sp>
        <p:sp>
          <p:nvSpPr>
            <p:cNvPr id="6" name="TextBox 6">
              <a:extLst>
                <a:ext uri="{FF2B5EF4-FFF2-40B4-BE49-F238E27FC236}">
                  <a16:creationId xmlns:a16="http://schemas.microsoft.com/office/drawing/2014/main" id="{60603215-3510-C522-B337-16DD45254CC0}"/>
                </a:ext>
              </a:extLst>
            </p:cNvPr>
            <p:cNvSpPr txBox="1"/>
            <p:nvPr/>
          </p:nvSpPr>
          <p:spPr>
            <a:xfrm>
              <a:off x="0" y="-38100"/>
              <a:ext cx="2408296" cy="114145"/>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a:extLst>
              <a:ext uri="{FF2B5EF4-FFF2-40B4-BE49-F238E27FC236}">
                <a16:creationId xmlns:a16="http://schemas.microsoft.com/office/drawing/2014/main" id="{89DD2A01-6813-8828-71DC-5C0C905BC70C}"/>
              </a:ext>
            </a:extLst>
          </p:cNvPr>
          <p:cNvSpPr/>
          <p:nvPr/>
        </p:nvSpPr>
        <p:spPr>
          <a:xfrm>
            <a:off x="15276987" y="190500"/>
            <a:ext cx="2817637" cy="1388327"/>
          </a:xfrm>
          <a:custGeom>
            <a:avLst/>
            <a:gdLst/>
            <a:ahLst/>
            <a:cxnLst/>
            <a:rect l="l" t="t" r="r" b="b"/>
            <a:pathLst>
              <a:path w="2817637" h="1388327">
                <a:moveTo>
                  <a:pt x="0" y="0"/>
                </a:moveTo>
                <a:lnTo>
                  <a:pt x="2817637" y="0"/>
                </a:lnTo>
                <a:lnTo>
                  <a:pt x="2817637" y="1388327"/>
                </a:lnTo>
                <a:lnTo>
                  <a:pt x="0" y="138832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RO"/>
          </a:p>
        </p:txBody>
      </p:sp>
      <p:sp>
        <p:nvSpPr>
          <p:cNvPr id="8" name="Rectangle 7">
            <a:extLst>
              <a:ext uri="{FF2B5EF4-FFF2-40B4-BE49-F238E27FC236}">
                <a16:creationId xmlns:a16="http://schemas.microsoft.com/office/drawing/2014/main" id="{F51942FB-1091-E86B-8454-98294B8BE757}"/>
              </a:ext>
            </a:extLst>
          </p:cNvPr>
          <p:cNvSpPr/>
          <p:nvPr/>
        </p:nvSpPr>
        <p:spPr>
          <a:xfrm>
            <a:off x="7849837" y="4404836"/>
            <a:ext cx="2588326" cy="1938992"/>
          </a:xfrm>
          <a:prstGeom prst="rect">
            <a:avLst/>
          </a:prstGeom>
          <a:noFill/>
        </p:spPr>
        <p:txBody>
          <a:bodyPr wrap="square" lIns="91440" tIns="45720" rIns="91440" bIns="45720">
            <a:spAutoFit/>
          </a:bodyPr>
          <a:lstStyle/>
          <a:p>
            <a:pPr algn="ctr"/>
            <a:r>
              <a:rPr lang="en-US" sz="12000" b="1" cap="none" spc="0" dirty="0">
                <a:ln w="22225">
                  <a:solidFill>
                    <a:schemeClr val="accent2"/>
                  </a:solidFill>
                  <a:prstDash val="solid"/>
                </a:ln>
                <a:solidFill>
                  <a:schemeClr val="accent2">
                    <a:lumMod val="40000"/>
                    <a:lumOff val="60000"/>
                  </a:schemeClr>
                </a:solidFill>
                <a:effectLst/>
              </a:rPr>
              <a:t>A</a:t>
            </a:r>
          </a:p>
        </p:txBody>
      </p:sp>
    </p:spTree>
    <p:extLst>
      <p:ext uri="{BB962C8B-B14F-4D97-AF65-F5344CB8AC3E}">
        <p14:creationId xmlns:p14="http://schemas.microsoft.com/office/powerpoint/2010/main" val="38822996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34F8-31E0-14DE-0CDB-EC18E8024E8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F324189-E93A-E1CF-E8D5-46EEFB3DD9F5}"/>
              </a:ext>
            </a:extLst>
          </p:cNvPr>
          <p:cNvSpPr/>
          <p:nvPr/>
        </p:nvSpPr>
        <p:spPr>
          <a:xfrm>
            <a:off x="13937966" y="3083251"/>
            <a:ext cx="10946941" cy="8896877"/>
          </a:xfrm>
          <a:custGeom>
            <a:avLst/>
            <a:gdLst/>
            <a:ahLst/>
            <a:cxnLst/>
            <a:rect l="l" t="t" r="r" b="b"/>
            <a:pathLst>
              <a:path w="10946941" h="8896877">
                <a:moveTo>
                  <a:pt x="0" y="0"/>
                </a:moveTo>
                <a:lnTo>
                  <a:pt x="10946941" y="0"/>
                </a:lnTo>
                <a:lnTo>
                  <a:pt x="10946941" y="8896877"/>
                </a:lnTo>
                <a:lnTo>
                  <a:pt x="0" y="88968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RO"/>
          </a:p>
        </p:txBody>
      </p:sp>
      <p:sp>
        <p:nvSpPr>
          <p:cNvPr id="3" name="Freeform 3">
            <a:extLst>
              <a:ext uri="{FF2B5EF4-FFF2-40B4-BE49-F238E27FC236}">
                <a16:creationId xmlns:a16="http://schemas.microsoft.com/office/drawing/2014/main" id="{7FE076EA-329E-97B2-B4BF-21BF97591C7F}"/>
              </a:ext>
            </a:extLst>
          </p:cNvPr>
          <p:cNvSpPr/>
          <p:nvPr/>
        </p:nvSpPr>
        <p:spPr>
          <a:xfrm>
            <a:off x="-4615041" y="-2057400"/>
            <a:ext cx="5643741" cy="4114800"/>
          </a:xfrm>
          <a:custGeom>
            <a:avLst/>
            <a:gdLst/>
            <a:ahLst/>
            <a:cxnLst/>
            <a:rect l="l" t="t" r="r" b="b"/>
            <a:pathLst>
              <a:path w="5643741" h="4114800">
                <a:moveTo>
                  <a:pt x="0" y="0"/>
                </a:moveTo>
                <a:lnTo>
                  <a:pt x="5643741" y="0"/>
                </a:lnTo>
                <a:lnTo>
                  <a:pt x="564374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RO"/>
          </a:p>
        </p:txBody>
      </p:sp>
      <p:grpSp>
        <p:nvGrpSpPr>
          <p:cNvPr id="4" name="Group 4">
            <a:extLst>
              <a:ext uri="{FF2B5EF4-FFF2-40B4-BE49-F238E27FC236}">
                <a16:creationId xmlns:a16="http://schemas.microsoft.com/office/drawing/2014/main" id="{6961F9B7-CC0F-E5EF-E1CB-57729653DE10}"/>
              </a:ext>
            </a:extLst>
          </p:cNvPr>
          <p:cNvGrpSpPr/>
          <p:nvPr/>
        </p:nvGrpSpPr>
        <p:grpSpPr>
          <a:xfrm>
            <a:off x="0" y="9998267"/>
            <a:ext cx="9144000" cy="288733"/>
            <a:chOff x="0" y="0"/>
            <a:chExt cx="2408296" cy="76045"/>
          </a:xfrm>
        </p:grpSpPr>
        <p:sp>
          <p:nvSpPr>
            <p:cNvPr id="5" name="Freeform 5">
              <a:extLst>
                <a:ext uri="{FF2B5EF4-FFF2-40B4-BE49-F238E27FC236}">
                  <a16:creationId xmlns:a16="http://schemas.microsoft.com/office/drawing/2014/main" id="{37C49378-8DCA-74D4-97C0-5F4D1F92E1E8}"/>
                </a:ext>
              </a:extLst>
            </p:cNvPr>
            <p:cNvSpPr/>
            <p:nvPr/>
          </p:nvSpPr>
          <p:spPr>
            <a:xfrm>
              <a:off x="0" y="0"/>
              <a:ext cx="2408296" cy="76045"/>
            </a:xfrm>
            <a:custGeom>
              <a:avLst/>
              <a:gdLst/>
              <a:ahLst/>
              <a:cxnLst/>
              <a:rect l="l" t="t" r="r" b="b"/>
              <a:pathLst>
                <a:path w="2408296" h="76045">
                  <a:moveTo>
                    <a:pt x="0" y="0"/>
                  </a:moveTo>
                  <a:lnTo>
                    <a:pt x="2408296" y="0"/>
                  </a:lnTo>
                  <a:lnTo>
                    <a:pt x="2408296" y="76045"/>
                  </a:lnTo>
                  <a:lnTo>
                    <a:pt x="0" y="76045"/>
                  </a:lnTo>
                  <a:close/>
                </a:path>
              </a:pathLst>
            </a:custGeom>
            <a:solidFill>
              <a:srgbClr val="E1AD27"/>
            </a:solidFill>
          </p:spPr>
          <p:txBody>
            <a:bodyPr/>
            <a:lstStyle/>
            <a:p>
              <a:endParaRPr lang="en-RO"/>
            </a:p>
          </p:txBody>
        </p:sp>
        <p:sp>
          <p:nvSpPr>
            <p:cNvPr id="6" name="TextBox 6">
              <a:extLst>
                <a:ext uri="{FF2B5EF4-FFF2-40B4-BE49-F238E27FC236}">
                  <a16:creationId xmlns:a16="http://schemas.microsoft.com/office/drawing/2014/main" id="{E144B762-3B55-5E9A-0F03-8C91A44C9901}"/>
                </a:ext>
              </a:extLst>
            </p:cNvPr>
            <p:cNvSpPr txBox="1"/>
            <p:nvPr/>
          </p:nvSpPr>
          <p:spPr>
            <a:xfrm>
              <a:off x="0" y="-38100"/>
              <a:ext cx="2408296" cy="114145"/>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a:extLst>
              <a:ext uri="{FF2B5EF4-FFF2-40B4-BE49-F238E27FC236}">
                <a16:creationId xmlns:a16="http://schemas.microsoft.com/office/drawing/2014/main" id="{71C89C58-B84B-D369-5532-8353B8B41167}"/>
              </a:ext>
            </a:extLst>
          </p:cNvPr>
          <p:cNvSpPr/>
          <p:nvPr/>
        </p:nvSpPr>
        <p:spPr>
          <a:xfrm>
            <a:off x="15276987" y="190500"/>
            <a:ext cx="2817637" cy="1388327"/>
          </a:xfrm>
          <a:custGeom>
            <a:avLst/>
            <a:gdLst/>
            <a:ahLst/>
            <a:cxnLst/>
            <a:rect l="l" t="t" r="r" b="b"/>
            <a:pathLst>
              <a:path w="2817637" h="1388327">
                <a:moveTo>
                  <a:pt x="0" y="0"/>
                </a:moveTo>
                <a:lnTo>
                  <a:pt x="2817637" y="0"/>
                </a:lnTo>
                <a:lnTo>
                  <a:pt x="2817637" y="1388327"/>
                </a:lnTo>
                <a:lnTo>
                  <a:pt x="0" y="138832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RO"/>
          </a:p>
        </p:txBody>
      </p:sp>
      <p:sp>
        <p:nvSpPr>
          <p:cNvPr id="10" name="Content Placeholder 11">
            <a:extLst>
              <a:ext uri="{FF2B5EF4-FFF2-40B4-BE49-F238E27FC236}">
                <a16:creationId xmlns:a16="http://schemas.microsoft.com/office/drawing/2014/main" id="{1B3F7B4F-2923-317B-C7DD-57ADED7D589F}"/>
              </a:ext>
            </a:extLst>
          </p:cNvPr>
          <p:cNvSpPr>
            <a:spLocks noGrp="1"/>
          </p:cNvSpPr>
          <p:nvPr/>
        </p:nvSpPr>
        <p:spPr>
          <a:xfrm>
            <a:off x="4572000" y="4238097"/>
            <a:ext cx="7300919" cy="1743603"/>
          </a:xfrm>
          <a:prstGeom prst="rect">
            <a:avLst/>
          </a:prstGeom>
        </p:spPr>
        <p:txBody>
          <a:bodyPr vert="horz" lIns="34290" tIns="17145" rIns="34290" bIns="17145" rtlCol="0" anchor="t">
            <a:normAutofit/>
          </a:bodyPr>
          <a:lstStyle>
            <a:defPPr>
              <a:defRPr lang="en-US"/>
            </a:defPPr>
            <a:lvl1pPr marL="0" indent="-3429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1pPr>
            <a:lvl2pPr marL="228600" indent="-28575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2pPr>
            <a:lvl3pPr marL="4572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3pPr>
            <a:lvl4pPr marL="6858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4pPr>
            <a:lvl5pPr marL="9144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5pPr>
            <a:lvl6pPr marL="11430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6pPr>
            <a:lvl7pPr marL="13716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7pPr>
            <a:lvl8pPr marL="16002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8pPr>
            <a:lvl9pPr marL="18288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9pPr>
          </a:lstStyle>
          <a:p>
            <a:pPr indent="0" algn="ctr">
              <a:buNone/>
            </a:pPr>
            <a:r>
              <a:rPr lang="en-US" sz="1800" dirty="0">
                <a:latin typeface="Calibri"/>
                <a:ea typeface="Calibri"/>
                <a:cs typeface="Calibri"/>
              </a:rPr>
              <a:t>C is a </a:t>
            </a:r>
            <a:r>
              <a:rPr lang="en-US" sz="1800" b="1" dirty="0">
                <a:latin typeface="Calibri"/>
                <a:ea typeface="Calibri"/>
                <a:cs typeface="Calibri"/>
              </a:rPr>
              <a:t>procedural</a:t>
            </a:r>
            <a:r>
              <a:rPr lang="en-US" sz="1800" dirty="0">
                <a:latin typeface="Calibri"/>
                <a:ea typeface="Calibri"/>
                <a:cs typeface="Calibri"/>
              </a:rPr>
              <a:t> general-purpose programming language that was originally created by Dennis Ritchie in 1972 in Bell Laboratories of AT&amp;T Labs. It was originally intended as a </a:t>
            </a:r>
            <a:r>
              <a:rPr lang="en-US" sz="1800" b="1" dirty="0">
                <a:latin typeface="Calibri"/>
                <a:ea typeface="Calibri"/>
                <a:cs typeface="Calibri"/>
              </a:rPr>
              <a:t>system programming language </a:t>
            </a:r>
            <a:r>
              <a:rPr lang="en-US" sz="1800" dirty="0">
                <a:latin typeface="Calibri"/>
                <a:ea typeface="Calibri"/>
                <a:cs typeface="Calibri"/>
              </a:rPr>
              <a:t>to implement the UNIX system.</a:t>
            </a:r>
            <a:endParaRPr lang="en-GB" sz="1800" dirty="0">
              <a:latin typeface="Calibri"/>
              <a:ea typeface="Calibri"/>
              <a:cs typeface="Calibri"/>
            </a:endParaRPr>
          </a:p>
        </p:txBody>
      </p:sp>
    </p:spTree>
    <p:extLst>
      <p:ext uri="{BB962C8B-B14F-4D97-AF65-F5344CB8AC3E}">
        <p14:creationId xmlns:p14="http://schemas.microsoft.com/office/powerpoint/2010/main" val="3036373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096E6-43DB-CD67-1872-35176145533B}"/>
            </a:ext>
          </a:extLst>
        </p:cNvPr>
        <p:cNvGrpSpPr/>
        <p:nvPr/>
      </p:nvGrpSpPr>
      <p:grpSpPr>
        <a:xfrm>
          <a:off x="0" y="0"/>
          <a:ext cx="0" cy="0"/>
          <a:chOff x="0" y="0"/>
          <a:chExt cx="0" cy="0"/>
        </a:xfrm>
      </p:grpSpPr>
      <p:pic>
        <p:nvPicPr>
          <p:cNvPr id="1026" name="Picture 2" descr="C-History-1">
            <a:extLst>
              <a:ext uri="{FF2B5EF4-FFF2-40B4-BE49-F238E27FC236}">
                <a16:creationId xmlns:a16="http://schemas.microsoft.com/office/drawing/2014/main" id="{D44BC727-E589-96FF-2945-65B212A75C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1578827"/>
            <a:ext cx="8924925" cy="6381064"/>
          </a:xfrm>
          <a:prstGeom prst="rect">
            <a:avLst/>
          </a:prstGeom>
          <a:noFill/>
          <a:extLst>
            <a:ext uri="{909E8E84-426E-40DD-AFC4-6F175D3DCCD1}">
              <a14:hiddenFill xmlns:a14="http://schemas.microsoft.com/office/drawing/2010/main">
                <a:solidFill>
                  <a:srgbClr val="FFFFFF"/>
                </a:solidFill>
              </a14:hiddenFill>
            </a:ext>
          </a:extLst>
        </p:spPr>
      </p:pic>
      <p:sp>
        <p:nvSpPr>
          <p:cNvPr id="2" name="Freeform 2">
            <a:extLst>
              <a:ext uri="{FF2B5EF4-FFF2-40B4-BE49-F238E27FC236}">
                <a16:creationId xmlns:a16="http://schemas.microsoft.com/office/drawing/2014/main" id="{6E8434F4-3024-C641-7F08-6578F590F274}"/>
              </a:ext>
            </a:extLst>
          </p:cNvPr>
          <p:cNvSpPr/>
          <p:nvPr/>
        </p:nvSpPr>
        <p:spPr>
          <a:xfrm>
            <a:off x="13937966" y="3083251"/>
            <a:ext cx="10946941" cy="8896877"/>
          </a:xfrm>
          <a:custGeom>
            <a:avLst/>
            <a:gdLst/>
            <a:ahLst/>
            <a:cxnLst/>
            <a:rect l="l" t="t" r="r" b="b"/>
            <a:pathLst>
              <a:path w="10946941" h="8896877">
                <a:moveTo>
                  <a:pt x="0" y="0"/>
                </a:moveTo>
                <a:lnTo>
                  <a:pt x="10946941" y="0"/>
                </a:lnTo>
                <a:lnTo>
                  <a:pt x="10946941" y="8896877"/>
                </a:lnTo>
                <a:lnTo>
                  <a:pt x="0" y="88968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RO"/>
          </a:p>
        </p:txBody>
      </p:sp>
      <p:sp>
        <p:nvSpPr>
          <p:cNvPr id="3" name="Freeform 3">
            <a:extLst>
              <a:ext uri="{FF2B5EF4-FFF2-40B4-BE49-F238E27FC236}">
                <a16:creationId xmlns:a16="http://schemas.microsoft.com/office/drawing/2014/main" id="{4F5CCE9C-23C8-2F48-2D84-9BB771B9F8DD}"/>
              </a:ext>
            </a:extLst>
          </p:cNvPr>
          <p:cNvSpPr/>
          <p:nvPr/>
        </p:nvSpPr>
        <p:spPr>
          <a:xfrm>
            <a:off x="-4615041" y="-2057400"/>
            <a:ext cx="5643741" cy="4114800"/>
          </a:xfrm>
          <a:custGeom>
            <a:avLst/>
            <a:gdLst/>
            <a:ahLst/>
            <a:cxnLst/>
            <a:rect l="l" t="t" r="r" b="b"/>
            <a:pathLst>
              <a:path w="5643741" h="4114800">
                <a:moveTo>
                  <a:pt x="0" y="0"/>
                </a:moveTo>
                <a:lnTo>
                  <a:pt x="5643741" y="0"/>
                </a:lnTo>
                <a:lnTo>
                  <a:pt x="564374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RO"/>
          </a:p>
        </p:txBody>
      </p:sp>
      <p:grpSp>
        <p:nvGrpSpPr>
          <p:cNvPr id="4" name="Group 4">
            <a:extLst>
              <a:ext uri="{FF2B5EF4-FFF2-40B4-BE49-F238E27FC236}">
                <a16:creationId xmlns:a16="http://schemas.microsoft.com/office/drawing/2014/main" id="{5043662B-354E-10FB-428E-377B447B4075}"/>
              </a:ext>
            </a:extLst>
          </p:cNvPr>
          <p:cNvGrpSpPr/>
          <p:nvPr/>
        </p:nvGrpSpPr>
        <p:grpSpPr>
          <a:xfrm>
            <a:off x="0" y="9998267"/>
            <a:ext cx="9144000" cy="288733"/>
            <a:chOff x="0" y="0"/>
            <a:chExt cx="2408296" cy="76045"/>
          </a:xfrm>
        </p:grpSpPr>
        <p:sp>
          <p:nvSpPr>
            <p:cNvPr id="5" name="Freeform 5">
              <a:extLst>
                <a:ext uri="{FF2B5EF4-FFF2-40B4-BE49-F238E27FC236}">
                  <a16:creationId xmlns:a16="http://schemas.microsoft.com/office/drawing/2014/main" id="{F5890636-9B3C-FD46-5AE8-6519BB6DCDE5}"/>
                </a:ext>
              </a:extLst>
            </p:cNvPr>
            <p:cNvSpPr/>
            <p:nvPr/>
          </p:nvSpPr>
          <p:spPr>
            <a:xfrm>
              <a:off x="0" y="0"/>
              <a:ext cx="2408296" cy="76045"/>
            </a:xfrm>
            <a:custGeom>
              <a:avLst/>
              <a:gdLst/>
              <a:ahLst/>
              <a:cxnLst/>
              <a:rect l="l" t="t" r="r" b="b"/>
              <a:pathLst>
                <a:path w="2408296" h="76045">
                  <a:moveTo>
                    <a:pt x="0" y="0"/>
                  </a:moveTo>
                  <a:lnTo>
                    <a:pt x="2408296" y="0"/>
                  </a:lnTo>
                  <a:lnTo>
                    <a:pt x="2408296" y="76045"/>
                  </a:lnTo>
                  <a:lnTo>
                    <a:pt x="0" y="76045"/>
                  </a:lnTo>
                  <a:close/>
                </a:path>
              </a:pathLst>
            </a:custGeom>
            <a:solidFill>
              <a:srgbClr val="E1AD27"/>
            </a:solidFill>
          </p:spPr>
          <p:txBody>
            <a:bodyPr/>
            <a:lstStyle/>
            <a:p>
              <a:endParaRPr lang="en-RO"/>
            </a:p>
          </p:txBody>
        </p:sp>
        <p:sp>
          <p:nvSpPr>
            <p:cNvPr id="6" name="TextBox 6">
              <a:extLst>
                <a:ext uri="{FF2B5EF4-FFF2-40B4-BE49-F238E27FC236}">
                  <a16:creationId xmlns:a16="http://schemas.microsoft.com/office/drawing/2014/main" id="{C86674DA-197D-6210-7E95-A6BBFEB43028}"/>
                </a:ext>
              </a:extLst>
            </p:cNvPr>
            <p:cNvSpPr txBox="1"/>
            <p:nvPr/>
          </p:nvSpPr>
          <p:spPr>
            <a:xfrm>
              <a:off x="0" y="-38100"/>
              <a:ext cx="2408296" cy="114145"/>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a:extLst>
              <a:ext uri="{FF2B5EF4-FFF2-40B4-BE49-F238E27FC236}">
                <a16:creationId xmlns:a16="http://schemas.microsoft.com/office/drawing/2014/main" id="{AE8AF438-1695-1979-2CB2-D90E23EB5DA4}"/>
              </a:ext>
            </a:extLst>
          </p:cNvPr>
          <p:cNvSpPr/>
          <p:nvPr/>
        </p:nvSpPr>
        <p:spPr>
          <a:xfrm>
            <a:off x="15276987" y="190500"/>
            <a:ext cx="2817637" cy="1388327"/>
          </a:xfrm>
          <a:custGeom>
            <a:avLst/>
            <a:gdLst/>
            <a:ahLst/>
            <a:cxnLst/>
            <a:rect l="l" t="t" r="r" b="b"/>
            <a:pathLst>
              <a:path w="2817637" h="1388327">
                <a:moveTo>
                  <a:pt x="0" y="0"/>
                </a:moveTo>
                <a:lnTo>
                  <a:pt x="2817637" y="0"/>
                </a:lnTo>
                <a:lnTo>
                  <a:pt x="2817637" y="1388327"/>
                </a:lnTo>
                <a:lnTo>
                  <a:pt x="0" y="138832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RO"/>
          </a:p>
        </p:txBody>
      </p:sp>
    </p:spTree>
    <p:extLst>
      <p:ext uri="{BB962C8B-B14F-4D97-AF65-F5344CB8AC3E}">
        <p14:creationId xmlns:p14="http://schemas.microsoft.com/office/powerpoint/2010/main" val="2623428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C4766-7C43-00F8-4D69-9331A63BB2A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3E52E3F-D35A-E7C7-6A93-76E34F0F02C1}"/>
              </a:ext>
            </a:extLst>
          </p:cNvPr>
          <p:cNvSpPr/>
          <p:nvPr/>
        </p:nvSpPr>
        <p:spPr>
          <a:xfrm>
            <a:off x="13937966" y="3083251"/>
            <a:ext cx="10946941" cy="8896877"/>
          </a:xfrm>
          <a:custGeom>
            <a:avLst/>
            <a:gdLst/>
            <a:ahLst/>
            <a:cxnLst/>
            <a:rect l="l" t="t" r="r" b="b"/>
            <a:pathLst>
              <a:path w="10946941" h="8896877">
                <a:moveTo>
                  <a:pt x="0" y="0"/>
                </a:moveTo>
                <a:lnTo>
                  <a:pt x="10946941" y="0"/>
                </a:lnTo>
                <a:lnTo>
                  <a:pt x="10946941" y="8896877"/>
                </a:lnTo>
                <a:lnTo>
                  <a:pt x="0" y="889687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RO"/>
          </a:p>
        </p:txBody>
      </p:sp>
      <p:sp>
        <p:nvSpPr>
          <p:cNvPr id="3" name="Freeform 3">
            <a:extLst>
              <a:ext uri="{FF2B5EF4-FFF2-40B4-BE49-F238E27FC236}">
                <a16:creationId xmlns:a16="http://schemas.microsoft.com/office/drawing/2014/main" id="{5B173AFE-05C8-CE92-2E82-B086EEB9C93B}"/>
              </a:ext>
            </a:extLst>
          </p:cNvPr>
          <p:cNvSpPr/>
          <p:nvPr/>
        </p:nvSpPr>
        <p:spPr>
          <a:xfrm>
            <a:off x="-4615041" y="-2057400"/>
            <a:ext cx="5643741" cy="4114800"/>
          </a:xfrm>
          <a:custGeom>
            <a:avLst/>
            <a:gdLst/>
            <a:ahLst/>
            <a:cxnLst/>
            <a:rect l="l" t="t" r="r" b="b"/>
            <a:pathLst>
              <a:path w="5643741" h="4114800">
                <a:moveTo>
                  <a:pt x="0" y="0"/>
                </a:moveTo>
                <a:lnTo>
                  <a:pt x="5643741" y="0"/>
                </a:lnTo>
                <a:lnTo>
                  <a:pt x="5643741"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RO"/>
          </a:p>
        </p:txBody>
      </p:sp>
      <p:grpSp>
        <p:nvGrpSpPr>
          <p:cNvPr id="4" name="Group 4">
            <a:extLst>
              <a:ext uri="{FF2B5EF4-FFF2-40B4-BE49-F238E27FC236}">
                <a16:creationId xmlns:a16="http://schemas.microsoft.com/office/drawing/2014/main" id="{9B15D690-632F-EA05-8E7E-88F65C951FC0}"/>
              </a:ext>
            </a:extLst>
          </p:cNvPr>
          <p:cNvGrpSpPr/>
          <p:nvPr/>
        </p:nvGrpSpPr>
        <p:grpSpPr>
          <a:xfrm>
            <a:off x="0" y="9998267"/>
            <a:ext cx="9144000" cy="288733"/>
            <a:chOff x="0" y="0"/>
            <a:chExt cx="2408296" cy="76045"/>
          </a:xfrm>
        </p:grpSpPr>
        <p:sp>
          <p:nvSpPr>
            <p:cNvPr id="5" name="Freeform 5">
              <a:extLst>
                <a:ext uri="{FF2B5EF4-FFF2-40B4-BE49-F238E27FC236}">
                  <a16:creationId xmlns:a16="http://schemas.microsoft.com/office/drawing/2014/main" id="{C33F90C5-71B7-A076-C4DA-FE31F5BC8547}"/>
                </a:ext>
              </a:extLst>
            </p:cNvPr>
            <p:cNvSpPr/>
            <p:nvPr/>
          </p:nvSpPr>
          <p:spPr>
            <a:xfrm>
              <a:off x="0" y="0"/>
              <a:ext cx="2408296" cy="76045"/>
            </a:xfrm>
            <a:custGeom>
              <a:avLst/>
              <a:gdLst/>
              <a:ahLst/>
              <a:cxnLst/>
              <a:rect l="l" t="t" r="r" b="b"/>
              <a:pathLst>
                <a:path w="2408296" h="76045">
                  <a:moveTo>
                    <a:pt x="0" y="0"/>
                  </a:moveTo>
                  <a:lnTo>
                    <a:pt x="2408296" y="0"/>
                  </a:lnTo>
                  <a:lnTo>
                    <a:pt x="2408296" y="76045"/>
                  </a:lnTo>
                  <a:lnTo>
                    <a:pt x="0" y="76045"/>
                  </a:lnTo>
                  <a:close/>
                </a:path>
              </a:pathLst>
            </a:custGeom>
            <a:solidFill>
              <a:srgbClr val="E1AD27"/>
            </a:solidFill>
          </p:spPr>
          <p:txBody>
            <a:bodyPr/>
            <a:lstStyle/>
            <a:p>
              <a:endParaRPr lang="en-RO"/>
            </a:p>
          </p:txBody>
        </p:sp>
        <p:sp>
          <p:nvSpPr>
            <p:cNvPr id="6" name="TextBox 6">
              <a:extLst>
                <a:ext uri="{FF2B5EF4-FFF2-40B4-BE49-F238E27FC236}">
                  <a16:creationId xmlns:a16="http://schemas.microsoft.com/office/drawing/2014/main" id="{7BF967F8-4AF6-B0A5-BB47-3BCEA4921183}"/>
                </a:ext>
              </a:extLst>
            </p:cNvPr>
            <p:cNvSpPr txBox="1"/>
            <p:nvPr/>
          </p:nvSpPr>
          <p:spPr>
            <a:xfrm>
              <a:off x="0" y="-38100"/>
              <a:ext cx="2408296" cy="114145"/>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a:extLst>
              <a:ext uri="{FF2B5EF4-FFF2-40B4-BE49-F238E27FC236}">
                <a16:creationId xmlns:a16="http://schemas.microsoft.com/office/drawing/2014/main" id="{FDB8AD3F-B51F-DC72-1D27-8DF8343AC815}"/>
              </a:ext>
            </a:extLst>
          </p:cNvPr>
          <p:cNvSpPr/>
          <p:nvPr/>
        </p:nvSpPr>
        <p:spPr>
          <a:xfrm>
            <a:off x="15276987" y="190500"/>
            <a:ext cx="2817637" cy="1388327"/>
          </a:xfrm>
          <a:custGeom>
            <a:avLst/>
            <a:gdLst/>
            <a:ahLst/>
            <a:cxnLst/>
            <a:rect l="l" t="t" r="r" b="b"/>
            <a:pathLst>
              <a:path w="2817637" h="1388327">
                <a:moveTo>
                  <a:pt x="0" y="0"/>
                </a:moveTo>
                <a:lnTo>
                  <a:pt x="2817637" y="0"/>
                </a:lnTo>
                <a:lnTo>
                  <a:pt x="2817637" y="1388327"/>
                </a:lnTo>
                <a:lnTo>
                  <a:pt x="0" y="138832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RO"/>
          </a:p>
        </p:txBody>
      </p:sp>
      <p:sp>
        <p:nvSpPr>
          <p:cNvPr id="8" name="Content Placeholder 11">
            <a:extLst>
              <a:ext uri="{FF2B5EF4-FFF2-40B4-BE49-F238E27FC236}">
                <a16:creationId xmlns:a16="http://schemas.microsoft.com/office/drawing/2014/main" id="{2EDFE4FE-6D10-92C0-8612-F76706ADF745}"/>
              </a:ext>
            </a:extLst>
          </p:cNvPr>
          <p:cNvSpPr>
            <a:spLocks noGrp="1"/>
          </p:cNvSpPr>
          <p:nvPr/>
        </p:nvSpPr>
        <p:spPr>
          <a:xfrm>
            <a:off x="4572000" y="4238097"/>
            <a:ext cx="7300919" cy="1743603"/>
          </a:xfrm>
          <a:prstGeom prst="rect">
            <a:avLst/>
          </a:prstGeom>
        </p:spPr>
        <p:txBody>
          <a:bodyPr vert="horz" lIns="34290" tIns="17145" rIns="34290" bIns="17145" rtlCol="0" anchor="t">
            <a:normAutofit lnSpcReduction="10000"/>
          </a:bodyPr>
          <a:lstStyle>
            <a:defPPr>
              <a:defRPr lang="en-US"/>
            </a:defPPr>
            <a:lvl1pPr marL="0" indent="-3429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1pPr>
            <a:lvl2pPr marL="228600" indent="-28575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2pPr>
            <a:lvl3pPr marL="4572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3pPr>
            <a:lvl4pPr marL="6858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4pPr>
            <a:lvl5pPr marL="9144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5pPr>
            <a:lvl6pPr marL="11430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6pPr>
            <a:lvl7pPr marL="13716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7pPr>
            <a:lvl8pPr marL="16002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8pPr>
            <a:lvl9pPr marL="18288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9pPr>
          </a:lstStyle>
          <a:p>
            <a:pPr indent="0" algn="ctr">
              <a:buNone/>
            </a:pPr>
            <a:r>
              <a:rPr lang="en-US" sz="1800" b="1" dirty="0">
                <a:latin typeface="Calibri"/>
                <a:ea typeface="Calibri"/>
                <a:cs typeface="Calibri"/>
              </a:rPr>
              <a:t>Real-Time Systems</a:t>
            </a:r>
          </a:p>
          <a:p>
            <a:pPr indent="0" algn="ctr">
              <a:buNone/>
            </a:pPr>
            <a:endParaRPr lang="en-US" sz="1800" dirty="0">
              <a:latin typeface="Calibri"/>
              <a:ea typeface="Calibri"/>
              <a:cs typeface="Calibri"/>
            </a:endParaRPr>
          </a:p>
          <a:p>
            <a:pPr indent="0" algn="ctr">
              <a:buNone/>
            </a:pPr>
            <a:r>
              <a:rPr lang="en-US" sz="1800" dirty="0">
                <a:latin typeface="Calibri"/>
                <a:ea typeface="Calibri"/>
                <a:cs typeface="Calibri"/>
              </a:rPr>
              <a:t>C is </a:t>
            </a:r>
            <a:r>
              <a:rPr lang="en-US" sz="1800" b="1" dirty="0">
                <a:latin typeface="Calibri"/>
                <a:ea typeface="Calibri"/>
                <a:cs typeface="Calibri"/>
              </a:rPr>
              <a:t>essential</a:t>
            </a:r>
            <a:r>
              <a:rPr lang="en-US" sz="1800" dirty="0">
                <a:latin typeface="Calibri"/>
                <a:ea typeface="Calibri"/>
                <a:cs typeface="Calibri"/>
              </a:rPr>
              <a:t> for real-time systems, including aerospace control (usually flight controllers), medical devices, and industrial automation. </a:t>
            </a:r>
            <a:r>
              <a:rPr lang="en-US" sz="1800" b="1" dirty="0">
                <a:latin typeface="Calibri"/>
                <a:ea typeface="Calibri"/>
                <a:cs typeface="Calibri"/>
              </a:rPr>
              <a:t>Its deterministic performance</a:t>
            </a:r>
            <a:r>
              <a:rPr lang="en-US" sz="1800" dirty="0">
                <a:latin typeface="Calibri"/>
                <a:ea typeface="Calibri"/>
                <a:cs typeface="Calibri"/>
              </a:rPr>
              <a:t> provides precise timing within applications, such as flight controllers and robotic systems.</a:t>
            </a:r>
            <a:endParaRPr lang="en-GB" sz="1800" dirty="0">
              <a:latin typeface="Calibri"/>
              <a:ea typeface="Calibri"/>
              <a:cs typeface="Calibri"/>
            </a:endParaRPr>
          </a:p>
        </p:txBody>
      </p:sp>
    </p:spTree>
    <p:extLst>
      <p:ext uri="{BB962C8B-B14F-4D97-AF65-F5344CB8AC3E}">
        <p14:creationId xmlns:p14="http://schemas.microsoft.com/office/powerpoint/2010/main" val="8789969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3C492-C1B8-F8FF-4546-DFB21C3F20D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9C072C4-7187-900A-4527-C9EC6A5ED9BC}"/>
              </a:ext>
            </a:extLst>
          </p:cNvPr>
          <p:cNvSpPr/>
          <p:nvPr/>
        </p:nvSpPr>
        <p:spPr>
          <a:xfrm>
            <a:off x="13937966" y="3083251"/>
            <a:ext cx="10946941" cy="8896877"/>
          </a:xfrm>
          <a:custGeom>
            <a:avLst/>
            <a:gdLst/>
            <a:ahLst/>
            <a:cxnLst/>
            <a:rect l="l" t="t" r="r" b="b"/>
            <a:pathLst>
              <a:path w="10946941" h="8896877">
                <a:moveTo>
                  <a:pt x="0" y="0"/>
                </a:moveTo>
                <a:lnTo>
                  <a:pt x="10946941" y="0"/>
                </a:lnTo>
                <a:lnTo>
                  <a:pt x="10946941" y="8896877"/>
                </a:lnTo>
                <a:lnTo>
                  <a:pt x="0" y="889687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RO"/>
          </a:p>
        </p:txBody>
      </p:sp>
      <p:sp>
        <p:nvSpPr>
          <p:cNvPr id="3" name="Freeform 3">
            <a:extLst>
              <a:ext uri="{FF2B5EF4-FFF2-40B4-BE49-F238E27FC236}">
                <a16:creationId xmlns:a16="http://schemas.microsoft.com/office/drawing/2014/main" id="{7CC9DD06-2CFF-1453-C4EC-39672AA73052}"/>
              </a:ext>
            </a:extLst>
          </p:cNvPr>
          <p:cNvSpPr/>
          <p:nvPr/>
        </p:nvSpPr>
        <p:spPr>
          <a:xfrm>
            <a:off x="-4615041" y="-2057400"/>
            <a:ext cx="5643741" cy="4114800"/>
          </a:xfrm>
          <a:custGeom>
            <a:avLst/>
            <a:gdLst/>
            <a:ahLst/>
            <a:cxnLst/>
            <a:rect l="l" t="t" r="r" b="b"/>
            <a:pathLst>
              <a:path w="5643741" h="4114800">
                <a:moveTo>
                  <a:pt x="0" y="0"/>
                </a:moveTo>
                <a:lnTo>
                  <a:pt x="5643741" y="0"/>
                </a:lnTo>
                <a:lnTo>
                  <a:pt x="5643741"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RO"/>
          </a:p>
        </p:txBody>
      </p:sp>
      <p:grpSp>
        <p:nvGrpSpPr>
          <p:cNvPr id="4" name="Group 4">
            <a:extLst>
              <a:ext uri="{FF2B5EF4-FFF2-40B4-BE49-F238E27FC236}">
                <a16:creationId xmlns:a16="http://schemas.microsoft.com/office/drawing/2014/main" id="{5E8F47F4-A91E-0B3D-8DC1-23913D237E3A}"/>
              </a:ext>
            </a:extLst>
          </p:cNvPr>
          <p:cNvGrpSpPr/>
          <p:nvPr/>
        </p:nvGrpSpPr>
        <p:grpSpPr>
          <a:xfrm>
            <a:off x="0" y="9998267"/>
            <a:ext cx="9144000" cy="288733"/>
            <a:chOff x="0" y="0"/>
            <a:chExt cx="2408296" cy="76045"/>
          </a:xfrm>
        </p:grpSpPr>
        <p:sp>
          <p:nvSpPr>
            <p:cNvPr id="5" name="Freeform 5">
              <a:extLst>
                <a:ext uri="{FF2B5EF4-FFF2-40B4-BE49-F238E27FC236}">
                  <a16:creationId xmlns:a16="http://schemas.microsoft.com/office/drawing/2014/main" id="{86E346D6-18DA-F73D-A98C-23FC16E293B6}"/>
                </a:ext>
              </a:extLst>
            </p:cNvPr>
            <p:cNvSpPr/>
            <p:nvPr/>
          </p:nvSpPr>
          <p:spPr>
            <a:xfrm>
              <a:off x="0" y="0"/>
              <a:ext cx="2408296" cy="76045"/>
            </a:xfrm>
            <a:custGeom>
              <a:avLst/>
              <a:gdLst/>
              <a:ahLst/>
              <a:cxnLst/>
              <a:rect l="l" t="t" r="r" b="b"/>
              <a:pathLst>
                <a:path w="2408296" h="76045">
                  <a:moveTo>
                    <a:pt x="0" y="0"/>
                  </a:moveTo>
                  <a:lnTo>
                    <a:pt x="2408296" y="0"/>
                  </a:lnTo>
                  <a:lnTo>
                    <a:pt x="2408296" y="76045"/>
                  </a:lnTo>
                  <a:lnTo>
                    <a:pt x="0" y="76045"/>
                  </a:lnTo>
                  <a:close/>
                </a:path>
              </a:pathLst>
            </a:custGeom>
            <a:solidFill>
              <a:srgbClr val="E1AD27"/>
            </a:solidFill>
          </p:spPr>
          <p:txBody>
            <a:bodyPr/>
            <a:lstStyle/>
            <a:p>
              <a:endParaRPr lang="en-RO"/>
            </a:p>
          </p:txBody>
        </p:sp>
        <p:sp>
          <p:nvSpPr>
            <p:cNvPr id="6" name="TextBox 6">
              <a:extLst>
                <a:ext uri="{FF2B5EF4-FFF2-40B4-BE49-F238E27FC236}">
                  <a16:creationId xmlns:a16="http://schemas.microsoft.com/office/drawing/2014/main" id="{2952034B-77A5-2991-6C32-3B7D71F3F4DF}"/>
                </a:ext>
              </a:extLst>
            </p:cNvPr>
            <p:cNvSpPr txBox="1"/>
            <p:nvPr/>
          </p:nvSpPr>
          <p:spPr>
            <a:xfrm>
              <a:off x="0" y="-38100"/>
              <a:ext cx="2408296" cy="114145"/>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a:extLst>
              <a:ext uri="{FF2B5EF4-FFF2-40B4-BE49-F238E27FC236}">
                <a16:creationId xmlns:a16="http://schemas.microsoft.com/office/drawing/2014/main" id="{94BB79A2-1156-0352-56D3-66B78657F521}"/>
              </a:ext>
            </a:extLst>
          </p:cNvPr>
          <p:cNvSpPr/>
          <p:nvPr/>
        </p:nvSpPr>
        <p:spPr>
          <a:xfrm>
            <a:off x="15276987" y="190500"/>
            <a:ext cx="2817637" cy="1388327"/>
          </a:xfrm>
          <a:custGeom>
            <a:avLst/>
            <a:gdLst/>
            <a:ahLst/>
            <a:cxnLst/>
            <a:rect l="l" t="t" r="r" b="b"/>
            <a:pathLst>
              <a:path w="2817637" h="1388327">
                <a:moveTo>
                  <a:pt x="0" y="0"/>
                </a:moveTo>
                <a:lnTo>
                  <a:pt x="2817637" y="0"/>
                </a:lnTo>
                <a:lnTo>
                  <a:pt x="2817637" y="1388327"/>
                </a:lnTo>
                <a:lnTo>
                  <a:pt x="0" y="138832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RO"/>
          </a:p>
        </p:txBody>
      </p:sp>
      <p:pic>
        <p:nvPicPr>
          <p:cNvPr id="2050" name="Picture 2">
            <a:extLst>
              <a:ext uri="{FF2B5EF4-FFF2-40B4-BE49-F238E27FC236}">
                <a16:creationId xmlns:a16="http://schemas.microsoft.com/office/drawing/2014/main" id="{289EA8FC-C730-E766-6442-19E9EFBA7F7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22129" y="2303656"/>
            <a:ext cx="5643741" cy="567968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3A9DB9E1-737F-88B4-4429-08F8C47C8F3B}"/>
              </a:ext>
            </a:extLst>
          </p:cNvPr>
          <p:cNvSpPr txBox="1"/>
          <p:nvPr/>
        </p:nvSpPr>
        <p:spPr>
          <a:xfrm>
            <a:off x="5733143" y="6286500"/>
            <a:ext cx="2572657" cy="369332"/>
          </a:xfrm>
          <a:prstGeom prst="rect">
            <a:avLst/>
          </a:prstGeom>
          <a:noFill/>
        </p:spPr>
        <p:txBody>
          <a:bodyPr wrap="square">
            <a:spAutoFit/>
          </a:bodyPr>
          <a:lstStyle/>
          <a:p>
            <a:pPr algn="l">
              <a:spcBef>
                <a:spcPts val="2100"/>
              </a:spcBef>
              <a:spcAft>
                <a:spcPts val="2100"/>
              </a:spcAft>
              <a:buNone/>
            </a:pPr>
            <a:r>
              <a:rPr lang="en-US" b="1" i="0" dirty="0">
                <a:solidFill>
                  <a:srgbClr val="444444"/>
                </a:solidFill>
                <a:effectLst/>
                <a:latin typeface="Roboto Slab" panose="020F0502020204030204" pitchFamily="2" charset="0"/>
              </a:rPr>
              <a:t>Data segment</a:t>
            </a:r>
          </a:p>
        </p:txBody>
      </p:sp>
      <p:sp>
        <p:nvSpPr>
          <p:cNvPr id="10" name="Left Brace 9">
            <a:extLst>
              <a:ext uri="{FF2B5EF4-FFF2-40B4-BE49-F238E27FC236}">
                <a16:creationId xmlns:a16="http://schemas.microsoft.com/office/drawing/2014/main" id="{F8C84908-6AB9-A950-56FB-23724A7EC4A6}"/>
              </a:ext>
            </a:extLst>
          </p:cNvPr>
          <p:cNvSpPr/>
          <p:nvPr/>
        </p:nvSpPr>
        <p:spPr>
          <a:xfrm>
            <a:off x="7373256" y="5829300"/>
            <a:ext cx="399143" cy="1447800"/>
          </a:xfrm>
          <a:prstGeom prst="leftBrace">
            <a:avLst>
              <a:gd name="adj1" fmla="val 51818"/>
              <a:gd name="adj2" fmla="val 4523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5936809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EC01A-FD50-88C4-3286-F500BC2EEDB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1716F67-51F0-BE63-B729-15DE251E050B}"/>
              </a:ext>
            </a:extLst>
          </p:cNvPr>
          <p:cNvSpPr/>
          <p:nvPr/>
        </p:nvSpPr>
        <p:spPr>
          <a:xfrm>
            <a:off x="13937966" y="3083251"/>
            <a:ext cx="10946941" cy="8896877"/>
          </a:xfrm>
          <a:custGeom>
            <a:avLst/>
            <a:gdLst/>
            <a:ahLst/>
            <a:cxnLst/>
            <a:rect l="l" t="t" r="r" b="b"/>
            <a:pathLst>
              <a:path w="10946941" h="8896877">
                <a:moveTo>
                  <a:pt x="0" y="0"/>
                </a:moveTo>
                <a:lnTo>
                  <a:pt x="10946941" y="0"/>
                </a:lnTo>
                <a:lnTo>
                  <a:pt x="10946941" y="8896877"/>
                </a:lnTo>
                <a:lnTo>
                  <a:pt x="0" y="88968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RO"/>
          </a:p>
        </p:txBody>
      </p:sp>
      <p:sp>
        <p:nvSpPr>
          <p:cNvPr id="3" name="Freeform 3">
            <a:extLst>
              <a:ext uri="{FF2B5EF4-FFF2-40B4-BE49-F238E27FC236}">
                <a16:creationId xmlns:a16="http://schemas.microsoft.com/office/drawing/2014/main" id="{FBFE0A07-D131-C7E2-E37C-1C24F4CDE03C}"/>
              </a:ext>
            </a:extLst>
          </p:cNvPr>
          <p:cNvSpPr/>
          <p:nvPr/>
        </p:nvSpPr>
        <p:spPr>
          <a:xfrm>
            <a:off x="-4615041" y="-2057400"/>
            <a:ext cx="5643741" cy="4114800"/>
          </a:xfrm>
          <a:custGeom>
            <a:avLst/>
            <a:gdLst/>
            <a:ahLst/>
            <a:cxnLst/>
            <a:rect l="l" t="t" r="r" b="b"/>
            <a:pathLst>
              <a:path w="5643741" h="4114800">
                <a:moveTo>
                  <a:pt x="0" y="0"/>
                </a:moveTo>
                <a:lnTo>
                  <a:pt x="5643741" y="0"/>
                </a:lnTo>
                <a:lnTo>
                  <a:pt x="564374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RO"/>
          </a:p>
        </p:txBody>
      </p:sp>
      <p:grpSp>
        <p:nvGrpSpPr>
          <p:cNvPr id="4" name="Group 4">
            <a:extLst>
              <a:ext uri="{FF2B5EF4-FFF2-40B4-BE49-F238E27FC236}">
                <a16:creationId xmlns:a16="http://schemas.microsoft.com/office/drawing/2014/main" id="{E1B6F75A-4C36-A2A6-9A5E-3CAE53CD6479}"/>
              </a:ext>
            </a:extLst>
          </p:cNvPr>
          <p:cNvGrpSpPr/>
          <p:nvPr/>
        </p:nvGrpSpPr>
        <p:grpSpPr>
          <a:xfrm>
            <a:off x="0" y="9998267"/>
            <a:ext cx="9144000" cy="288733"/>
            <a:chOff x="0" y="0"/>
            <a:chExt cx="2408296" cy="76045"/>
          </a:xfrm>
        </p:grpSpPr>
        <p:sp>
          <p:nvSpPr>
            <p:cNvPr id="5" name="Freeform 5">
              <a:extLst>
                <a:ext uri="{FF2B5EF4-FFF2-40B4-BE49-F238E27FC236}">
                  <a16:creationId xmlns:a16="http://schemas.microsoft.com/office/drawing/2014/main" id="{3BFDC1C3-589A-4CB6-2C65-158BC1D2B34E}"/>
                </a:ext>
              </a:extLst>
            </p:cNvPr>
            <p:cNvSpPr/>
            <p:nvPr/>
          </p:nvSpPr>
          <p:spPr>
            <a:xfrm>
              <a:off x="0" y="0"/>
              <a:ext cx="2408296" cy="76045"/>
            </a:xfrm>
            <a:custGeom>
              <a:avLst/>
              <a:gdLst/>
              <a:ahLst/>
              <a:cxnLst/>
              <a:rect l="l" t="t" r="r" b="b"/>
              <a:pathLst>
                <a:path w="2408296" h="76045">
                  <a:moveTo>
                    <a:pt x="0" y="0"/>
                  </a:moveTo>
                  <a:lnTo>
                    <a:pt x="2408296" y="0"/>
                  </a:lnTo>
                  <a:lnTo>
                    <a:pt x="2408296" y="76045"/>
                  </a:lnTo>
                  <a:lnTo>
                    <a:pt x="0" y="76045"/>
                  </a:lnTo>
                  <a:close/>
                </a:path>
              </a:pathLst>
            </a:custGeom>
            <a:solidFill>
              <a:srgbClr val="E1AD27"/>
            </a:solidFill>
          </p:spPr>
          <p:txBody>
            <a:bodyPr/>
            <a:lstStyle/>
            <a:p>
              <a:endParaRPr lang="en-RO"/>
            </a:p>
          </p:txBody>
        </p:sp>
        <p:sp>
          <p:nvSpPr>
            <p:cNvPr id="6" name="TextBox 6">
              <a:extLst>
                <a:ext uri="{FF2B5EF4-FFF2-40B4-BE49-F238E27FC236}">
                  <a16:creationId xmlns:a16="http://schemas.microsoft.com/office/drawing/2014/main" id="{19D88B2C-8E9D-9358-ECB2-196BFEC01544}"/>
                </a:ext>
              </a:extLst>
            </p:cNvPr>
            <p:cNvSpPr txBox="1"/>
            <p:nvPr/>
          </p:nvSpPr>
          <p:spPr>
            <a:xfrm>
              <a:off x="0" y="-38100"/>
              <a:ext cx="2408296" cy="114145"/>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a:extLst>
              <a:ext uri="{FF2B5EF4-FFF2-40B4-BE49-F238E27FC236}">
                <a16:creationId xmlns:a16="http://schemas.microsoft.com/office/drawing/2014/main" id="{11A96AF8-BA0A-0129-F3D5-03C94AAE35B6}"/>
              </a:ext>
            </a:extLst>
          </p:cNvPr>
          <p:cNvSpPr/>
          <p:nvPr/>
        </p:nvSpPr>
        <p:spPr>
          <a:xfrm>
            <a:off x="15276987" y="190500"/>
            <a:ext cx="2817637" cy="1388327"/>
          </a:xfrm>
          <a:custGeom>
            <a:avLst/>
            <a:gdLst/>
            <a:ahLst/>
            <a:cxnLst/>
            <a:rect l="l" t="t" r="r" b="b"/>
            <a:pathLst>
              <a:path w="2817637" h="1388327">
                <a:moveTo>
                  <a:pt x="0" y="0"/>
                </a:moveTo>
                <a:lnTo>
                  <a:pt x="2817637" y="0"/>
                </a:lnTo>
                <a:lnTo>
                  <a:pt x="2817637" y="1388327"/>
                </a:lnTo>
                <a:lnTo>
                  <a:pt x="0" y="138832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RO"/>
          </a:p>
        </p:txBody>
      </p:sp>
      <p:sp>
        <p:nvSpPr>
          <p:cNvPr id="8" name="Rectangle 7">
            <a:extLst>
              <a:ext uri="{FF2B5EF4-FFF2-40B4-BE49-F238E27FC236}">
                <a16:creationId xmlns:a16="http://schemas.microsoft.com/office/drawing/2014/main" id="{3C2EB913-DE94-F375-77DF-CD1333B7F21D}"/>
              </a:ext>
            </a:extLst>
          </p:cNvPr>
          <p:cNvSpPr/>
          <p:nvPr/>
        </p:nvSpPr>
        <p:spPr>
          <a:xfrm>
            <a:off x="4648200" y="5143500"/>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1</a:t>
            </a:r>
          </a:p>
        </p:txBody>
      </p:sp>
      <p:sp>
        <p:nvSpPr>
          <p:cNvPr id="9" name="Rectangle 8">
            <a:extLst>
              <a:ext uri="{FF2B5EF4-FFF2-40B4-BE49-F238E27FC236}">
                <a16:creationId xmlns:a16="http://schemas.microsoft.com/office/drawing/2014/main" id="{A56C74DA-8708-8D7B-BB40-ED3B5C098702}"/>
              </a:ext>
            </a:extLst>
          </p:cNvPr>
          <p:cNvSpPr/>
          <p:nvPr/>
        </p:nvSpPr>
        <p:spPr>
          <a:xfrm>
            <a:off x="5562600" y="5143500"/>
            <a:ext cx="914400" cy="9144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0" lang="en-US" sz="4000" b="0" i="0" u="none" strike="noStrike" kern="1200" cap="none" spc="0" normalizeH="0" baseline="0" noProof="0" dirty="0">
                <a:ln>
                  <a:noFill/>
                </a:ln>
                <a:solidFill>
                  <a:prstClr val="white"/>
                </a:solidFill>
                <a:effectLst/>
                <a:uLnTx/>
                <a:uFillTx/>
                <a:latin typeface="Calibri"/>
                <a:ea typeface="+mn-ea"/>
                <a:cs typeface="+mn-cs"/>
              </a:rPr>
              <a:t>0</a:t>
            </a:r>
            <a:endParaRPr lang="en-US" dirty="0"/>
          </a:p>
        </p:txBody>
      </p:sp>
      <p:sp>
        <p:nvSpPr>
          <p:cNvPr id="10" name="Rectangle 9">
            <a:extLst>
              <a:ext uri="{FF2B5EF4-FFF2-40B4-BE49-F238E27FC236}">
                <a16:creationId xmlns:a16="http://schemas.microsoft.com/office/drawing/2014/main" id="{DD4636C4-833D-DEA5-2CA0-7C6D8B4CC1D7}"/>
              </a:ext>
            </a:extLst>
          </p:cNvPr>
          <p:cNvSpPr/>
          <p:nvPr/>
        </p:nvSpPr>
        <p:spPr>
          <a:xfrm>
            <a:off x="6477000" y="5143500"/>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en-US" sz="4000" b="0" i="0" u="none" strike="noStrike" kern="1200" cap="none" spc="0" normalizeH="0" baseline="0" noProof="0" dirty="0">
                <a:ln>
                  <a:noFill/>
                </a:ln>
                <a:solidFill>
                  <a:prstClr val="white"/>
                </a:solidFill>
                <a:effectLst/>
                <a:uLnTx/>
                <a:uFillTx/>
                <a:latin typeface="Calibri"/>
                <a:ea typeface="+mn-ea"/>
                <a:cs typeface="+mn-cs"/>
              </a:rPr>
              <a:t>1</a:t>
            </a:r>
            <a:endParaRPr lang="en-US" dirty="0"/>
          </a:p>
        </p:txBody>
      </p:sp>
      <p:sp>
        <p:nvSpPr>
          <p:cNvPr id="11" name="Rectangle 10">
            <a:extLst>
              <a:ext uri="{FF2B5EF4-FFF2-40B4-BE49-F238E27FC236}">
                <a16:creationId xmlns:a16="http://schemas.microsoft.com/office/drawing/2014/main" id="{8287F0E6-1B5C-2F17-E413-2AB3CD38B6EF}"/>
              </a:ext>
            </a:extLst>
          </p:cNvPr>
          <p:cNvSpPr/>
          <p:nvPr/>
        </p:nvSpPr>
        <p:spPr>
          <a:xfrm>
            <a:off x="7391400" y="5143500"/>
            <a:ext cx="914400" cy="9144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0" lang="en-US" sz="4000" b="0" i="0" u="none" strike="noStrike" kern="1200" cap="none" spc="0" normalizeH="0" baseline="0" noProof="0">
                <a:ln>
                  <a:noFill/>
                </a:ln>
                <a:solidFill>
                  <a:prstClr val="white"/>
                </a:solidFill>
                <a:effectLst/>
                <a:uLnTx/>
                <a:uFillTx/>
                <a:latin typeface="Calibri"/>
                <a:ea typeface="+mn-ea"/>
                <a:cs typeface="+mn-cs"/>
              </a:rPr>
              <a:t>0</a:t>
            </a:r>
            <a:endParaRPr lang="en-US" dirty="0"/>
          </a:p>
        </p:txBody>
      </p:sp>
      <p:sp>
        <p:nvSpPr>
          <p:cNvPr id="12" name="Rectangle 11">
            <a:extLst>
              <a:ext uri="{FF2B5EF4-FFF2-40B4-BE49-F238E27FC236}">
                <a16:creationId xmlns:a16="http://schemas.microsoft.com/office/drawing/2014/main" id="{86A04BF0-0D0C-50D6-EED2-9DEC4FD7881A}"/>
              </a:ext>
            </a:extLst>
          </p:cNvPr>
          <p:cNvSpPr/>
          <p:nvPr/>
        </p:nvSpPr>
        <p:spPr>
          <a:xfrm>
            <a:off x="8305800" y="5143500"/>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en-US" sz="4000" b="0" i="0" u="none" strike="noStrike" kern="1200" cap="none" spc="0" normalizeH="0" baseline="0" noProof="0" dirty="0">
                <a:ln>
                  <a:noFill/>
                </a:ln>
                <a:solidFill>
                  <a:prstClr val="white"/>
                </a:solidFill>
                <a:effectLst/>
                <a:uLnTx/>
                <a:uFillTx/>
                <a:latin typeface="Calibri"/>
                <a:ea typeface="+mn-ea"/>
                <a:cs typeface="+mn-cs"/>
              </a:rPr>
              <a:t>0</a:t>
            </a:r>
            <a:endParaRPr lang="en-US" dirty="0"/>
          </a:p>
        </p:txBody>
      </p:sp>
      <p:sp>
        <p:nvSpPr>
          <p:cNvPr id="13" name="Rectangle 12">
            <a:extLst>
              <a:ext uri="{FF2B5EF4-FFF2-40B4-BE49-F238E27FC236}">
                <a16:creationId xmlns:a16="http://schemas.microsoft.com/office/drawing/2014/main" id="{31D63A46-50A6-1468-15C4-764C2AC03307}"/>
              </a:ext>
            </a:extLst>
          </p:cNvPr>
          <p:cNvSpPr/>
          <p:nvPr/>
        </p:nvSpPr>
        <p:spPr>
          <a:xfrm>
            <a:off x="9220200" y="5143500"/>
            <a:ext cx="914400" cy="9144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0" lang="en-US" sz="4000" b="0" i="0" u="none" strike="noStrike" kern="1200" cap="none" spc="0" normalizeH="0" baseline="0" noProof="0" dirty="0">
                <a:ln>
                  <a:noFill/>
                </a:ln>
                <a:solidFill>
                  <a:prstClr val="white"/>
                </a:solidFill>
                <a:effectLst/>
                <a:uLnTx/>
                <a:uFillTx/>
                <a:latin typeface="Calibri"/>
                <a:ea typeface="+mn-ea"/>
                <a:cs typeface="+mn-cs"/>
              </a:rPr>
              <a:t>1</a:t>
            </a:r>
            <a:endParaRPr lang="en-US" dirty="0"/>
          </a:p>
        </p:txBody>
      </p:sp>
      <p:sp>
        <p:nvSpPr>
          <p:cNvPr id="14" name="Rectangle 13">
            <a:extLst>
              <a:ext uri="{FF2B5EF4-FFF2-40B4-BE49-F238E27FC236}">
                <a16:creationId xmlns:a16="http://schemas.microsoft.com/office/drawing/2014/main" id="{0604B5A7-620F-BD8B-C3F8-2383270A705A}"/>
              </a:ext>
            </a:extLst>
          </p:cNvPr>
          <p:cNvSpPr/>
          <p:nvPr/>
        </p:nvSpPr>
        <p:spPr>
          <a:xfrm>
            <a:off x="10134600" y="5143500"/>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en-US" sz="4000" b="0" i="0" u="none" strike="noStrike" kern="1200" cap="none" spc="0" normalizeH="0" baseline="0" noProof="0">
                <a:ln>
                  <a:noFill/>
                </a:ln>
                <a:solidFill>
                  <a:prstClr val="white"/>
                </a:solidFill>
                <a:effectLst/>
                <a:uLnTx/>
                <a:uFillTx/>
                <a:latin typeface="Calibri"/>
                <a:ea typeface="+mn-ea"/>
                <a:cs typeface="+mn-cs"/>
              </a:rPr>
              <a:t>0</a:t>
            </a:r>
            <a:endParaRPr lang="en-US" dirty="0"/>
          </a:p>
        </p:txBody>
      </p:sp>
      <p:sp>
        <p:nvSpPr>
          <p:cNvPr id="15" name="Rectangle 14">
            <a:extLst>
              <a:ext uri="{FF2B5EF4-FFF2-40B4-BE49-F238E27FC236}">
                <a16:creationId xmlns:a16="http://schemas.microsoft.com/office/drawing/2014/main" id="{2D82B656-CBA5-EBC4-67E4-BEA1D5DD9425}"/>
              </a:ext>
            </a:extLst>
          </p:cNvPr>
          <p:cNvSpPr/>
          <p:nvPr/>
        </p:nvSpPr>
        <p:spPr>
          <a:xfrm>
            <a:off x="11049000" y="5143500"/>
            <a:ext cx="914400" cy="9144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0" lang="en-US" sz="4000" b="0" i="0" u="none" strike="noStrike" kern="1200" cap="none" spc="0" normalizeH="0" baseline="0" noProof="0" dirty="0">
                <a:ln>
                  <a:noFill/>
                </a:ln>
                <a:solidFill>
                  <a:prstClr val="white"/>
                </a:solidFill>
                <a:effectLst/>
                <a:uLnTx/>
                <a:uFillTx/>
                <a:latin typeface="Calibri"/>
                <a:ea typeface="+mn-ea"/>
                <a:cs typeface="+mn-cs"/>
              </a:rPr>
              <a:t>1</a:t>
            </a:r>
            <a:endParaRPr lang="en-US" dirty="0"/>
          </a:p>
        </p:txBody>
      </p:sp>
      <p:sp>
        <p:nvSpPr>
          <p:cNvPr id="16" name="TextBox 15">
            <a:extLst>
              <a:ext uri="{FF2B5EF4-FFF2-40B4-BE49-F238E27FC236}">
                <a16:creationId xmlns:a16="http://schemas.microsoft.com/office/drawing/2014/main" id="{EE1F6B49-0462-04E9-04B1-E921C413A99A}"/>
              </a:ext>
            </a:extLst>
          </p:cNvPr>
          <p:cNvSpPr txBox="1"/>
          <p:nvPr/>
        </p:nvSpPr>
        <p:spPr>
          <a:xfrm>
            <a:off x="1832117" y="5277534"/>
            <a:ext cx="2743200" cy="646331"/>
          </a:xfrm>
          <a:prstGeom prst="rect">
            <a:avLst/>
          </a:prstGeom>
          <a:noFill/>
        </p:spPr>
        <p:txBody>
          <a:bodyPr wrap="square" rtlCol="0">
            <a:spAutoFit/>
          </a:bodyPr>
          <a:lstStyle/>
          <a:p>
            <a:r>
              <a:rPr lang="en-US" sz="3600" dirty="0">
                <a:solidFill>
                  <a:schemeClr val="tx2"/>
                </a:solidFill>
              </a:rPr>
              <a:t>0x08001234</a:t>
            </a:r>
          </a:p>
        </p:txBody>
      </p:sp>
      <p:sp>
        <p:nvSpPr>
          <p:cNvPr id="17" name="TextBox 16">
            <a:extLst>
              <a:ext uri="{FF2B5EF4-FFF2-40B4-BE49-F238E27FC236}">
                <a16:creationId xmlns:a16="http://schemas.microsoft.com/office/drawing/2014/main" id="{5E105C28-504B-FB08-6D83-AED0B5D52098}"/>
              </a:ext>
            </a:extLst>
          </p:cNvPr>
          <p:cNvSpPr txBox="1"/>
          <p:nvPr/>
        </p:nvSpPr>
        <p:spPr>
          <a:xfrm>
            <a:off x="2310025" y="2933700"/>
            <a:ext cx="1787383" cy="646331"/>
          </a:xfrm>
          <a:prstGeom prst="rect">
            <a:avLst/>
          </a:prstGeom>
          <a:noFill/>
        </p:spPr>
        <p:txBody>
          <a:bodyPr wrap="square" rtlCol="0">
            <a:spAutoFit/>
          </a:bodyPr>
          <a:lstStyle/>
          <a:p>
            <a:r>
              <a:rPr lang="en-US" sz="3600" dirty="0"/>
              <a:t>Address</a:t>
            </a:r>
          </a:p>
        </p:txBody>
      </p:sp>
      <p:sp>
        <p:nvSpPr>
          <p:cNvPr id="18" name="TextBox 17">
            <a:extLst>
              <a:ext uri="{FF2B5EF4-FFF2-40B4-BE49-F238E27FC236}">
                <a16:creationId xmlns:a16="http://schemas.microsoft.com/office/drawing/2014/main" id="{4948288B-798B-0C93-43BE-B318B5F5304C}"/>
              </a:ext>
            </a:extLst>
          </p:cNvPr>
          <p:cNvSpPr txBox="1"/>
          <p:nvPr/>
        </p:nvSpPr>
        <p:spPr>
          <a:xfrm>
            <a:off x="7420429" y="2933700"/>
            <a:ext cx="1787383" cy="646331"/>
          </a:xfrm>
          <a:prstGeom prst="rect">
            <a:avLst/>
          </a:prstGeom>
          <a:noFill/>
        </p:spPr>
        <p:txBody>
          <a:bodyPr wrap="square" rtlCol="0">
            <a:spAutoFit/>
          </a:bodyPr>
          <a:lstStyle/>
          <a:p>
            <a:r>
              <a:rPr lang="en-US" sz="3600" dirty="0"/>
              <a:t>Data</a:t>
            </a:r>
          </a:p>
        </p:txBody>
      </p:sp>
      <p:sp>
        <p:nvSpPr>
          <p:cNvPr id="23" name="TextBox 22">
            <a:extLst>
              <a:ext uri="{FF2B5EF4-FFF2-40B4-BE49-F238E27FC236}">
                <a16:creationId xmlns:a16="http://schemas.microsoft.com/office/drawing/2014/main" id="{F0B63466-39F4-F060-B4AE-F316EACB1880}"/>
              </a:ext>
            </a:extLst>
          </p:cNvPr>
          <p:cNvSpPr txBox="1"/>
          <p:nvPr/>
        </p:nvSpPr>
        <p:spPr>
          <a:xfrm>
            <a:off x="7239000" y="6202561"/>
            <a:ext cx="1981200" cy="646331"/>
          </a:xfrm>
          <a:prstGeom prst="rect">
            <a:avLst/>
          </a:prstGeom>
          <a:noFill/>
        </p:spPr>
        <p:txBody>
          <a:bodyPr wrap="square" rtlCol="0">
            <a:spAutoFit/>
          </a:bodyPr>
          <a:lstStyle/>
          <a:p>
            <a:r>
              <a:rPr lang="en-US" sz="3600" dirty="0"/>
              <a:t>0XA5</a:t>
            </a:r>
          </a:p>
        </p:txBody>
      </p:sp>
    </p:spTree>
    <p:extLst>
      <p:ext uri="{BB962C8B-B14F-4D97-AF65-F5344CB8AC3E}">
        <p14:creationId xmlns:p14="http://schemas.microsoft.com/office/powerpoint/2010/main" val="919921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9951D-0656-BF33-DD02-DCA6601AA15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4CA69FE-95B3-CA21-7459-48C471E74C93}"/>
              </a:ext>
            </a:extLst>
          </p:cNvPr>
          <p:cNvSpPr/>
          <p:nvPr/>
        </p:nvSpPr>
        <p:spPr>
          <a:xfrm>
            <a:off x="13937966" y="3083251"/>
            <a:ext cx="10946941" cy="8896877"/>
          </a:xfrm>
          <a:custGeom>
            <a:avLst/>
            <a:gdLst/>
            <a:ahLst/>
            <a:cxnLst/>
            <a:rect l="l" t="t" r="r" b="b"/>
            <a:pathLst>
              <a:path w="10946941" h="8896877">
                <a:moveTo>
                  <a:pt x="0" y="0"/>
                </a:moveTo>
                <a:lnTo>
                  <a:pt x="10946941" y="0"/>
                </a:lnTo>
                <a:lnTo>
                  <a:pt x="10946941" y="8896877"/>
                </a:lnTo>
                <a:lnTo>
                  <a:pt x="0" y="88968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RO"/>
          </a:p>
        </p:txBody>
      </p:sp>
      <p:sp>
        <p:nvSpPr>
          <p:cNvPr id="3" name="Freeform 3">
            <a:extLst>
              <a:ext uri="{FF2B5EF4-FFF2-40B4-BE49-F238E27FC236}">
                <a16:creationId xmlns:a16="http://schemas.microsoft.com/office/drawing/2014/main" id="{38F77405-0BDA-A417-B54F-5748FC25EE60}"/>
              </a:ext>
            </a:extLst>
          </p:cNvPr>
          <p:cNvSpPr/>
          <p:nvPr/>
        </p:nvSpPr>
        <p:spPr>
          <a:xfrm>
            <a:off x="-4615041" y="-2057400"/>
            <a:ext cx="5643741" cy="4114800"/>
          </a:xfrm>
          <a:custGeom>
            <a:avLst/>
            <a:gdLst/>
            <a:ahLst/>
            <a:cxnLst/>
            <a:rect l="l" t="t" r="r" b="b"/>
            <a:pathLst>
              <a:path w="5643741" h="4114800">
                <a:moveTo>
                  <a:pt x="0" y="0"/>
                </a:moveTo>
                <a:lnTo>
                  <a:pt x="5643741" y="0"/>
                </a:lnTo>
                <a:lnTo>
                  <a:pt x="564374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RO"/>
          </a:p>
        </p:txBody>
      </p:sp>
      <p:grpSp>
        <p:nvGrpSpPr>
          <p:cNvPr id="4" name="Group 4">
            <a:extLst>
              <a:ext uri="{FF2B5EF4-FFF2-40B4-BE49-F238E27FC236}">
                <a16:creationId xmlns:a16="http://schemas.microsoft.com/office/drawing/2014/main" id="{D65DBA5C-6290-B6AF-1E1F-FC86460173E0}"/>
              </a:ext>
            </a:extLst>
          </p:cNvPr>
          <p:cNvGrpSpPr/>
          <p:nvPr/>
        </p:nvGrpSpPr>
        <p:grpSpPr>
          <a:xfrm>
            <a:off x="0" y="9998267"/>
            <a:ext cx="9144000" cy="288733"/>
            <a:chOff x="0" y="0"/>
            <a:chExt cx="2408296" cy="76045"/>
          </a:xfrm>
        </p:grpSpPr>
        <p:sp>
          <p:nvSpPr>
            <p:cNvPr id="5" name="Freeform 5">
              <a:extLst>
                <a:ext uri="{FF2B5EF4-FFF2-40B4-BE49-F238E27FC236}">
                  <a16:creationId xmlns:a16="http://schemas.microsoft.com/office/drawing/2014/main" id="{67211D97-8062-6740-2262-33EEB338B416}"/>
                </a:ext>
              </a:extLst>
            </p:cNvPr>
            <p:cNvSpPr/>
            <p:nvPr/>
          </p:nvSpPr>
          <p:spPr>
            <a:xfrm>
              <a:off x="0" y="0"/>
              <a:ext cx="2408296" cy="76045"/>
            </a:xfrm>
            <a:custGeom>
              <a:avLst/>
              <a:gdLst/>
              <a:ahLst/>
              <a:cxnLst/>
              <a:rect l="l" t="t" r="r" b="b"/>
              <a:pathLst>
                <a:path w="2408296" h="76045">
                  <a:moveTo>
                    <a:pt x="0" y="0"/>
                  </a:moveTo>
                  <a:lnTo>
                    <a:pt x="2408296" y="0"/>
                  </a:lnTo>
                  <a:lnTo>
                    <a:pt x="2408296" y="76045"/>
                  </a:lnTo>
                  <a:lnTo>
                    <a:pt x="0" y="76045"/>
                  </a:lnTo>
                  <a:close/>
                </a:path>
              </a:pathLst>
            </a:custGeom>
            <a:solidFill>
              <a:srgbClr val="E1AD27"/>
            </a:solidFill>
          </p:spPr>
          <p:txBody>
            <a:bodyPr/>
            <a:lstStyle/>
            <a:p>
              <a:endParaRPr lang="en-RO"/>
            </a:p>
          </p:txBody>
        </p:sp>
        <p:sp>
          <p:nvSpPr>
            <p:cNvPr id="6" name="TextBox 6">
              <a:extLst>
                <a:ext uri="{FF2B5EF4-FFF2-40B4-BE49-F238E27FC236}">
                  <a16:creationId xmlns:a16="http://schemas.microsoft.com/office/drawing/2014/main" id="{664B4A9D-08DE-2232-C0BA-48D5A81E1982}"/>
                </a:ext>
              </a:extLst>
            </p:cNvPr>
            <p:cNvSpPr txBox="1"/>
            <p:nvPr/>
          </p:nvSpPr>
          <p:spPr>
            <a:xfrm>
              <a:off x="0" y="-38100"/>
              <a:ext cx="2408296" cy="114145"/>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a:extLst>
              <a:ext uri="{FF2B5EF4-FFF2-40B4-BE49-F238E27FC236}">
                <a16:creationId xmlns:a16="http://schemas.microsoft.com/office/drawing/2014/main" id="{274E2C1B-8A01-982B-D8FD-A73F53A6A64E}"/>
              </a:ext>
            </a:extLst>
          </p:cNvPr>
          <p:cNvSpPr/>
          <p:nvPr/>
        </p:nvSpPr>
        <p:spPr>
          <a:xfrm>
            <a:off x="15276987" y="190500"/>
            <a:ext cx="2817637" cy="1388327"/>
          </a:xfrm>
          <a:custGeom>
            <a:avLst/>
            <a:gdLst/>
            <a:ahLst/>
            <a:cxnLst/>
            <a:rect l="l" t="t" r="r" b="b"/>
            <a:pathLst>
              <a:path w="2817637" h="1388327">
                <a:moveTo>
                  <a:pt x="0" y="0"/>
                </a:moveTo>
                <a:lnTo>
                  <a:pt x="2817637" y="0"/>
                </a:lnTo>
                <a:lnTo>
                  <a:pt x="2817637" y="1388327"/>
                </a:lnTo>
                <a:lnTo>
                  <a:pt x="0" y="138832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RO"/>
          </a:p>
        </p:txBody>
      </p:sp>
      <p:sp>
        <p:nvSpPr>
          <p:cNvPr id="8" name="Content Placeholder 11">
            <a:extLst>
              <a:ext uri="{FF2B5EF4-FFF2-40B4-BE49-F238E27FC236}">
                <a16:creationId xmlns:a16="http://schemas.microsoft.com/office/drawing/2014/main" id="{C0FC4136-E1B0-3CB2-5C00-BF96E5809E39}"/>
              </a:ext>
            </a:extLst>
          </p:cNvPr>
          <p:cNvSpPr>
            <a:spLocks noGrp="1"/>
          </p:cNvSpPr>
          <p:nvPr/>
        </p:nvSpPr>
        <p:spPr>
          <a:xfrm>
            <a:off x="4572000" y="4238097"/>
            <a:ext cx="7300919" cy="3029477"/>
          </a:xfrm>
          <a:prstGeom prst="rect">
            <a:avLst/>
          </a:prstGeom>
        </p:spPr>
        <p:txBody>
          <a:bodyPr vert="horz" lIns="34290" tIns="17145" rIns="34290" bIns="17145" rtlCol="0" anchor="t">
            <a:normAutofit/>
          </a:bodyPr>
          <a:lstStyle>
            <a:defPPr>
              <a:defRPr lang="en-US"/>
            </a:defPPr>
            <a:lvl1pPr marL="0" indent="-3429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1pPr>
            <a:lvl2pPr marL="228600" indent="-28575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2pPr>
            <a:lvl3pPr marL="4572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3pPr>
            <a:lvl4pPr marL="6858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4pPr>
            <a:lvl5pPr marL="9144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5pPr>
            <a:lvl6pPr marL="11430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6pPr>
            <a:lvl7pPr marL="13716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7pPr>
            <a:lvl8pPr marL="16002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8pPr>
            <a:lvl9pPr marL="18288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9pPr>
          </a:lstStyle>
          <a:p>
            <a:pPr indent="0">
              <a:buNone/>
            </a:pPr>
            <a:r>
              <a:rPr lang="en-GB" sz="1800" dirty="0">
                <a:ea typeface="Calibri"/>
                <a:cs typeface="Calibri"/>
              </a:rPr>
              <a:t>Binary representation</a:t>
            </a:r>
          </a:p>
          <a:p>
            <a:pPr indent="0">
              <a:buNone/>
            </a:pPr>
            <a:r>
              <a:rPr lang="en-GB" sz="1800" dirty="0">
                <a:ea typeface="Calibri"/>
                <a:cs typeface="Calibri"/>
              </a:rPr>
              <a:t>Hexadecimal representation</a:t>
            </a:r>
          </a:p>
          <a:p>
            <a:pPr indent="0">
              <a:buNone/>
            </a:pPr>
            <a:endParaRPr lang="en-GB" sz="1800" dirty="0">
              <a:ea typeface="Calibri"/>
              <a:cs typeface="Calibri"/>
            </a:endParaRPr>
          </a:p>
          <a:p>
            <a:pPr marL="285750" indent="-285750"/>
            <a:r>
              <a:rPr lang="en-GB" sz="1800" dirty="0">
                <a:ea typeface="Calibri"/>
                <a:cs typeface="Calibri"/>
              </a:rPr>
              <a:t>bitwise operations (&amp;)</a:t>
            </a:r>
          </a:p>
          <a:p>
            <a:pPr marL="285750" indent="-285750"/>
            <a:r>
              <a:rPr lang="en-GB" sz="1800" dirty="0">
                <a:ea typeface="Calibri"/>
                <a:cs typeface="Calibri"/>
              </a:rPr>
              <a:t>logical operations (&amp;&amp;)</a:t>
            </a:r>
          </a:p>
        </p:txBody>
      </p:sp>
    </p:spTree>
    <p:extLst>
      <p:ext uri="{BB962C8B-B14F-4D97-AF65-F5344CB8AC3E}">
        <p14:creationId xmlns:p14="http://schemas.microsoft.com/office/powerpoint/2010/main" val="33030572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B2F22-494B-D37D-3772-0EF4C678BBA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1AA9B5E-850A-AE6D-0EB5-2AD4435851BA}"/>
              </a:ext>
            </a:extLst>
          </p:cNvPr>
          <p:cNvSpPr/>
          <p:nvPr/>
        </p:nvSpPr>
        <p:spPr>
          <a:xfrm>
            <a:off x="13937966" y="3083251"/>
            <a:ext cx="10946941" cy="8896877"/>
          </a:xfrm>
          <a:custGeom>
            <a:avLst/>
            <a:gdLst/>
            <a:ahLst/>
            <a:cxnLst/>
            <a:rect l="l" t="t" r="r" b="b"/>
            <a:pathLst>
              <a:path w="10946941" h="8896877">
                <a:moveTo>
                  <a:pt x="0" y="0"/>
                </a:moveTo>
                <a:lnTo>
                  <a:pt x="10946941" y="0"/>
                </a:lnTo>
                <a:lnTo>
                  <a:pt x="10946941" y="8896877"/>
                </a:lnTo>
                <a:lnTo>
                  <a:pt x="0" y="889687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RO"/>
          </a:p>
        </p:txBody>
      </p:sp>
      <p:sp>
        <p:nvSpPr>
          <p:cNvPr id="3" name="Freeform 3">
            <a:extLst>
              <a:ext uri="{FF2B5EF4-FFF2-40B4-BE49-F238E27FC236}">
                <a16:creationId xmlns:a16="http://schemas.microsoft.com/office/drawing/2014/main" id="{14557439-7FBF-21C7-3841-5205ACABB13C}"/>
              </a:ext>
            </a:extLst>
          </p:cNvPr>
          <p:cNvSpPr/>
          <p:nvPr/>
        </p:nvSpPr>
        <p:spPr>
          <a:xfrm>
            <a:off x="-4615041" y="-2057400"/>
            <a:ext cx="5643741" cy="4114800"/>
          </a:xfrm>
          <a:custGeom>
            <a:avLst/>
            <a:gdLst/>
            <a:ahLst/>
            <a:cxnLst/>
            <a:rect l="l" t="t" r="r" b="b"/>
            <a:pathLst>
              <a:path w="5643741" h="4114800">
                <a:moveTo>
                  <a:pt x="0" y="0"/>
                </a:moveTo>
                <a:lnTo>
                  <a:pt x="5643741" y="0"/>
                </a:lnTo>
                <a:lnTo>
                  <a:pt x="5643741"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RO"/>
          </a:p>
        </p:txBody>
      </p:sp>
      <p:grpSp>
        <p:nvGrpSpPr>
          <p:cNvPr id="4" name="Group 4">
            <a:extLst>
              <a:ext uri="{FF2B5EF4-FFF2-40B4-BE49-F238E27FC236}">
                <a16:creationId xmlns:a16="http://schemas.microsoft.com/office/drawing/2014/main" id="{ECC5E7B8-D39D-0FE5-A70B-DEF04C7794E3}"/>
              </a:ext>
            </a:extLst>
          </p:cNvPr>
          <p:cNvGrpSpPr/>
          <p:nvPr/>
        </p:nvGrpSpPr>
        <p:grpSpPr>
          <a:xfrm>
            <a:off x="0" y="9998267"/>
            <a:ext cx="9144000" cy="288733"/>
            <a:chOff x="0" y="0"/>
            <a:chExt cx="2408296" cy="76045"/>
          </a:xfrm>
        </p:grpSpPr>
        <p:sp>
          <p:nvSpPr>
            <p:cNvPr id="5" name="Freeform 5">
              <a:extLst>
                <a:ext uri="{FF2B5EF4-FFF2-40B4-BE49-F238E27FC236}">
                  <a16:creationId xmlns:a16="http://schemas.microsoft.com/office/drawing/2014/main" id="{36319E65-40F9-5E99-8F9B-B39766E556D2}"/>
                </a:ext>
              </a:extLst>
            </p:cNvPr>
            <p:cNvSpPr/>
            <p:nvPr/>
          </p:nvSpPr>
          <p:spPr>
            <a:xfrm>
              <a:off x="0" y="0"/>
              <a:ext cx="2408296" cy="76045"/>
            </a:xfrm>
            <a:custGeom>
              <a:avLst/>
              <a:gdLst/>
              <a:ahLst/>
              <a:cxnLst/>
              <a:rect l="l" t="t" r="r" b="b"/>
              <a:pathLst>
                <a:path w="2408296" h="76045">
                  <a:moveTo>
                    <a:pt x="0" y="0"/>
                  </a:moveTo>
                  <a:lnTo>
                    <a:pt x="2408296" y="0"/>
                  </a:lnTo>
                  <a:lnTo>
                    <a:pt x="2408296" y="76045"/>
                  </a:lnTo>
                  <a:lnTo>
                    <a:pt x="0" y="76045"/>
                  </a:lnTo>
                  <a:close/>
                </a:path>
              </a:pathLst>
            </a:custGeom>
            <a:solidFill>
              <a:srgbClr val="E1AD27"/>
            </a:solidFill>
          </p:spPr>
          <p:txBody>
            <a:bodyPr/>
            <a:lstStyle/>
            <a:p>
              <a:endParaRPr lang="en-RO"/>
            </a:p>
          </p:txBody>
        </p:sp>
        <p:sp>
          <p:nvSpPr>
            <p:cNvPr id="6" name="TextBox 6">
              <a:extLst>
                <a:ext uri="{FF2B5EF4-FFF2-40B4-BE49-F238E27FC236}">
                  <a16:creationId xmlns:a16="http://schemas.microsoft.com/office/drawing/2014/main" id="{E452A91D-FBF1-F9F9-E3CB-17A0A0ABE3F9}"/>
                </a:ext>
              </a:extLst>
            </p:cNvPr>
            <p:cNvSpPr txBox="1"/>
            <p:nvPr/>
          </p:nvSpPr>
          <p:spPr>
            <a:xfrm>
              <a:off x="0" y="-38100"/>
              <a:ext cx="2408296" cy="114145"/>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a:extLst>
              <a:ext uri="{FF2B5EF4-FFF2-40B4-BE49-F238E27FC236}">
                <a16:creationId xmlns:a16="http://schemas.microsoft.com/office/drawing/2014/main" id="{612B8673-FDAA-37ED-C879-461286B57A9D}"/>
              </a:ext>
            </a:extLst>
          </p:cNvPr>
          <p:cNvSpPr/>
          <p:nvPr/>
        </p:nvSpPr>
        <p:spPr>
          <a:xfrm>
            <a:off x="15276987" y="190500"/>
            <a:ext cx="2817637" cy="1388327"/>
          </a:xfrm>
          <a:custGeom>
            <a:avLst/>
            <a:gdLst/>
            <a:ahLst/>
            <a:cxnLst/>
            <a:rect l="l" t="t" r="r" b="b"/>
            <a:pathLst>
              <a:path w="2817637" h="1388327">
                <a:moveTo>
                  <a:pt x="0" y="0"/>
                </a:moveTo>
                <a:lnTo>
                  <a:pt x="2817637" y="0"/>
                </a:lnTo>
                <a:lnTo>
                  <a:pt x="2817637" y="1388327"/>
                </a:lnTo>
                <a:lnTo>
                  <a:pt x="0" y="138832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RO"/>
          </a:p>
        </p:txBody>
      </p:sp>
      <p:graphicFrame>
        <p:nvGraphicFramePr>
          <p:cNvPr id="8" name="Table 7">
            <a:extLst>
              <a:ext uri="{FF2B5EF4-FFF2-40B4-BE49-F238E27FC236}">
                <a16:creationId xmlns:a16="http://schemas.microsoft.com/office/drawing/2014/main" id="{27B9418B-9C27-F5D5-6057-900D893635A4}"/>
              </a:ext>
            </a:extLst>
          </p:cNvPr>
          <p:cNvGraphicFramePr>
            <a:graphicFrameLocks noGrp="1"/>
          </p:cNvGraphicFramePr>
          <p:nvPr>
            <p:extLst>
              <p:ext uri="{D42A27DB-BD31-4B8C-83A1-F6EECF244321}">
                <p14:modId xmlns:p14="http://schemas.microsoft.com/office/powerpoint/2010/main" val="4289863753"/>
              </p:ext>
            </p:extLst>
          </p:nvPr>
        </p:nvGraphicFramePr>
        <p:xfrm>
          <a:off x="2771298" y="2734355"/>
          <a:ext cx="3609975" cy="5562600"/>
        </p:xfrm>
        <a:graphic>
          <a:graphicData uri="http://schemas.openxmlformats.org/drawingml/2006/table">
            <a:tbl>
              <a:tblPr firstRow="1" firstCol="1" bandRow="1">
                <a:tableStyleId>{18603FDC-E32A-4AB5-989C-0864C3EAD2B8}</a:tableStyleId>
              </a:tblPr>
              <a:tblGrid>
                <a:gridCol w="1828800">
                  <a:extLst>
                    <a:ext uri="{9D8B030D-6E8A-4147-A177-3AD203B41FA5}">
                      <a16:colId xmlns:a16="http://schemas.microsoft.com/office/drawing/2014/main" val="4282953924"/>
                    </a:ext>
                  </a:extLst>
                </a:gridCol>
                <a:gridCol w="365760">
                  <a:extLst>
                    <a:ext uri="{9D8B030D-6E8A-4147-A177-3AD203B41FA5}">
                      <a16:colId xmlns:a16="http://schemas.microsoft.com/office/drawing/2014/main" val="1099943974"/>
                    </a:ext>
                  </a:extLst>
                </a:gridCol>
                <a:gridCol w="363855">
                  <a:extLst>
                    <a:ext uri="{9D8B030D-6E8A-4147-A177-3AD203B41FA5}">
                      <a16:colId xmlns:a16="http://schemas.microsoft.com/office/drawing/2014/main" val="2950077994"/>
                    </a:ext>
                  </a:extLst>
                </a:gridCol>
                <a:gridCol w="1051560">
                  <a:extLst>
                    <a:ext uri="{9D8B030D-6E8A-4147-A177-3AD203B41FA5}">
                      <a16:colId xmlns:a16="http://schemas.microsoft.com/office/drawing/2014/main" val="3388134384"/>
                    </a:ext>
                  </a:extLst>
                </a:gridCol>
              </a:tblGrid>
              <a:tr h="370840">
                <a:tc>
                  <a:txBody>
                    <a:bodyPr/>
                    <a:lstStyle/>
                    <a:p>
                      <a:pPr algn="ctr"/>
                      <a:r>
                        <a:rPr lang="en-US" dirty="0"/>
                        <a:t>Operation</a:t>
                      </a:r>
                    </a:p>
                  </a:txBody>
                  <a:tcPr/>
                </a:tc>
                <a:tc>
                  <a:txBody>
                    <a:bodyPr/>
                    <a:lstStyle/>
                    <a:p>
                      <a:pPr algn="ctr"/>
                      <a:r>
                        <a:rPr lang="en-US" dirty="0"/>
                        <a:t>A</a:t>
                      </a:r>
                    </a:p>
                  </a:txBody>
                  <a:tcPr/>
                </a:tc>
                <a:tc>
                  <a:txBody>
                    <a:bodyPr/>
                    <a:lstStyle/>
                    <a:p>
                      <a:pPr algn="ctr"/>
                      <a:r>
                        <a:rPr lang="en-US" dirty="0"/>
                        <a:t>B</a:t>
                      </a:r>
                    </a:p>
                  </a:txBody>
                  <a:tcPr/>
                </a:tc>
                <a:tc>
                  <a:txBody>
                    <a:bodyPr/>
                    <a:lstStyle/>
                    <a:p>
                      <a:pPr algn="ctr"/>
                      <a:r>
                        <a:rPr lang="en-US" dirty="0"/>
                        <a:t>OUTPUT</a:t>
                      </a:r>
                    </a:p>
                  </a:txBody>
                  <a:tcPr/>
                </a:tc>
                <a:extLst>
                  <a:ext uri="{0D108BD9-81ED-4DB2-BD59-A6C34878D82A}">
                    <a16:rowId xmlns:a16="http://schemas.microsoft.com/office/drawing/2014/main" val="505333434"/>
                  </a:ext>
                </a:extLst>
              </a:tr>
              <a:tr h="370840">
                <a:tc rowSpan="2">
                  <a:txBody>
                    <a:bodyPr/>
                    <a:lstStyle/>
                    <a:p>
                      <a:pPr algn="ctr"/>
                      <a:r>
                        <a:rPr lang="en-US" dirty="0"/>
                        <a:t>NOT ( ~ )</a:t>
                      </a:r>
                    </a:p>
                  </a:txBody>
                  <a:tcPr anchor="ctr"/>
                </a:tc>
                <a:tc gridSpan="2">
                  <a:txBody>
                    <a:bodyPr/>
                    <a:lstStyle/>
                    <a:p>
                      <a:pPr algn="ctr"/>
                      <a:r>
                        <a:rPr lang="en-US" dirty="0"/>
                        <a:t>1</a:t>
                      </a:r>
                    </a:p>
                  </a:txBody>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tc>
                <a:extLst>
                  <a:ext uri="{0D108BD9-81ED-4DB2-BD59-A6C34878D82A}">
                    <a16:rowId xmlns:a16="http://schemas.microsoft.com/office/drawing/2014/main" val="3817004645"/>
                  </a:ext>
                </a:extLst>
              </a:tr>
              <a:tr h="370840">
                <a:tc v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dirty="0"/>
                        <a:t>0</a:t>
                      </a:r>
                    </a:p>
                  </a:txBody>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tc>
                <a:extLst>
                  <a:ext uri="{0D108BD9-81ED-4DB2-BD59-A6C34878D82A}">
                    <a16:rowId xmlns:a16="http://schemas.microsoft.com/office/drawing/2014/main" val="2920042409"/>
                  </a:ext>
                </a:extLst>
              </a:tr>
              <a:tr h="370840">
                <a:tc rowSpan="4">
                  <a:txBody>
                    <a:bodyPr/>
                    <a:lstStyle/>
                    <a:p>
                      <a:pPr algn="ctr"/>
                      <a:r>
                        <a:rPr lang="en-US" dirty="0"/>
                        <a:t>AND ( &amp; )</a:t>
                      </a:r>
                    </a:p>
                  </a:txBody>
                  <a:tcPr anchor="ctr">
                    <a:solidFill>
                      <a:srgbClr val="F4CE51"/>
                    </a:solidFill>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1890087358"/>
                  </a:ext>
                </a:extLst>
              </a:tr>
              <a:tr h="370840">
                <a:tc vMerge="1">
                  <a:txBody>
                    <a:bodyPr/>
                    <a:lstStyle/>
                    <a:p>
                      <a:endParaRPr lang="en-US" dirty="0"/>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2396240213"/>
                  </a:ext>
                </a:extLst>
              </a:tr>
              <a:tr h="370840">
                <a:tc vMerge="1">
                  <a:txBody>
                    <a:bodyPr/>
                    <a:lstStyle/>
                    <a:p>
                      <a:endParaRPr lang="en-US" dirty="0"/>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2981488432"/>
                  </a:ext>
                </a:extLst>
              </a:tr>
              <a:tr h="370840">
                <a:tc vMerge="1">
                  <a:txBody>
                    <a:bodyPr/>
                    <a:lstStyle/>
                    <a:p>
                      <a:endParaRPr lang="en-US" dirty="0"/>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940971515"/>
                  </a:ext>
                </a:extLst>
              </a:tr>
              <a:tr h="370840">
                <a:tc rowSpan="4">
                  <a:txBody>
                    <a:bodyPr/>
                    <a:lstStyle/>
                    <a:p>
                      <a:pPr algn="ctr"/>
                      <a:r>
                        <a:rPr lang="en-US" dirty="0"/>
                        <a:t>OR ( | )</a:t>
                      </a:r>
                    </a:p>
                  </a:txBody>
                  <a:tcPr anchor="ct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875362794"/>
                  </a:ext>
                </a:extLst>
              </a:tr>
              <a:tr h="370840">
                <a:tc vMerge="1">
                  <a:txBody>
                    <a:bodyPr/>
                    <a:lstStyle/>
                    <a:p>
                      <a:endParaRPr lang="en-US" dirty="0"/>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3799959153"/>
                  </a:ext>
                </a:extLst>
              </a:tr>
              <a:tr h="370840">
                <a:tc vMerge="1">
                  <a:txBody>
                    <a:bodyPr/>
                    <a:lstStyle/>
                    <a:p>
                      <a:endParaRPr lang="en-US" dirty="0"/>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501311278"/>
                  </a:ext>
                </a:extLst>
              </a:tr>
              <a:tr h="370840">
                <a:tc vMerge="1">
                  <a:txBody>
                    <a:bodyPr/>
                    <a:lstStyle/>
                    <a:p>
                      <a:endParaRPr lang="en-US" dirty="0"/>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3089223163"/>
                  </a:ext>
                </a:extLst>
              </a:tr>
              <a:tr h="370840">
                <a:tc rowSpan="4">
                  <a:txBody>
                    <a:bodyPr/>
                    <a:lstStyle/>
                    <a:p>
                      <a:pPr algn="ctr"/>
                      <a:r>
                        <a:rPr lang="en-US" dirty="0"/>
                        <a:t>XOR ( ^ )</a:t>
                      </a:r>
                    </a:p>
                  </a:txBody>
                  <a:tcPr anchor="ctr">
                    <a:solidFill>
                      <a:srgbClr val="CAAB42"/>
                    </a:solidFill>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1774693844"/>
                  </a:ext>
                </a:extLst>
              </a:tr>
              <a:tr h="370840">
                <a:tc vMerge="1">
                  <a:txBody>
                    <a:bodyPr/>
                    <a:lstStyle/>
                    <a:p>
                      <a:endParaRPr lang="en-US" dirty="0"/>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1900252075"/>
                  </a:ext>
                </a:extLst>
              </a:tr>
              <a:tr h="370840">
                <a:tc vMerge="1">
                  <a:txBody>
                    <a:bodyPr/>
                    <a:lstStyle/>
                    <a:p>
                      <a:endParaRPr lang="en-US" dirty="0"/>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339821289"/>
                  </a:ext>
                </a:extLst>
              </a:tr>
              <a:tr h="370840">
                <a:tc vMerge="1">
                  <a:txBody>
                    <a:bodyPr/>
                    <a:lstStyle/>
                    <a:p>
                      <a:endParaRPr lang="en-US" dirty="0"/>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1063935814"/>
                  </a:ext>
                </a:extLst>
              </a:tr>
            </a:tbl>
          </a:graphicData>
        </a:graphic>
      </p:graphicFrame>
      <p:graphicFrame>
        <p:nvGraphicFramePr>
          <p:cNvPr id="9" name="Table 8">
            <a:extLst>
              <a:ext uri="{FF2B5EF4-FFF2-40B4-BE49-F238E27FC236}">
                <a16:creationId xmlns:a16="http://schemas.microsoft.com/office/drawing/2014/main" id="{2F4D405E-9E6C-1372-FBCA-A654ED0D82A1}"/>
              </a:ext>
            </a:extLst>
          </p:cNvPr>
          <p:cNvGraphicFramePr>
            <a:graphicFrameLocks noGrp="1"/>
          </p:cNvGraphicFramePr>
          <p:nvPr>
            <p:extLst>
              <p:ext uri="{D42A27DB-BD31-4B8C-83A1-F6EECF244321}">
                <p14:modId xmlns:p14="http://schemas.microsoft.com/office/powerpoint/2010/main" val="1381338390"/>
              </p:ext>
            </p:extLst>
          </p:nvPr>
        </p:nvGraphicFramePr>
        <p:xfrm>
          <a:off x="7696199" y="2734355"/>
          <a:ext cx="4274631" cy="1391586"/>
        </p:xfrm>
        <a:graphic>
          <a:graphicData uri="http://schemas.openxmlformats.org/drawingml/2006/table">
            <a:tbl>
              <a:tblPr firstRow="1" firstCol="1" bandRow="1">
                <a:tableStyleId>{18603FDC-E32A-4AB5-989C-0864C3EAD2B8}</a:tableStyleId>
              </a:tblPr>
              <a:tblGrid>
                <a:gridCol w="1760031">
                  <a:extLst>
                    <a:ext uri="{9D8B030D-6E8A-4147-A177-3AD203B41FA5}">
                      <a16:colId xmlns:a16="http://schemas.microsoft.com/office/drawing/2014/main" val="4275179162"/>
                    </a:ext>
                  </a:extLst>
                </a:gridCol>
                <a:gridCol w="731520">
                  <a:extLst>
                    <a:ext uri="{9D8B030D-6E8A-4147-A177-3AD203B41FA5}">
                      <a16:colId xmlns:a16="http://schemas.microsoft.com/office/drawing/2014/main" val="1235980372"/>
                    </a:ext>
                  </a:extLst>
                </a:gridCol>
                <a:gridCol w="731520">
                  <a:extLst>
                    <a:ext uri="{9D8B030D-6E8A-4147-A177-3AD203B41FA5}">
                      <a16:colId xmlns:a16="http://schemas.microsoft.com/office/drawing/2014/main" val="3833626147"/>
                    </a:ext>
                  </a:extLst>
                </a:gridCol>
                <a:gridCol w="1051560">
                  <a:extLst>
                    <a:ext uri="{9D8B030D-6E8A-4147-A177-3AD203B41FA5}">
                      <a16:colId xmlns:a16="http://schemas.microsoft.com/office/drawing/2014/main" val="1760919569"/>
                    </a:ext>
                  </a:extLst>
                </a:gridCol>
              </a:tblGrid>
              <a:tr h="338105">
                <a:tc>
                  <a:txBody>
                    <a:bodyPr/>
                    <a:lstStyle/>
                    <a:p>
                      <a:pPr algn="ctr"/>
                      <a:r>
                        <a:rPr lang="en-US" sz="1600" dirty="0"/>
                        <a:t>Operation</a:t>
                      </a:r>
                    </a:p>
                  </a:txBody>
                  <a:tcPr marL="83368" marR="83368" marT="41684" marB="41684" anchor="ctr"/>
                </a:tc>
                <a:tc>
                  <a:txBody>
                    <a:bodyPr/>
                    <a:lstStyle/>
                    <a:p>
                      <a:pPr algn="ctr"/>
                      <a:r>
                        <a:rPr lang="en-US" sz="1600" dirty="0"/>
                        <a:t>A</a:t>
                      </a:r>
                    </a:p>
                  </a:txBody>
                  <a:tcPr marL="83368" marR="83368" marT="41684" marB="41684" anchor="ctr"/>
                </a:tc>
                <a:tc>
                  <a:txBody>
                    <a:bodyPr/>
                    <a:lstStyle/>
                    <a:p>
                      <a:pPr algn="ctr"/>
                      <a:r>
                        <a:rPr lang="en-US" sz="1600" dirty="0"/>
                        <a:t>B</a:t>
                      </a:r>
                    </a:p>
                  </a:txBody>
                  <a:tcPr marL="83368" marR="83368" marT="41684" marB="41684" anchor="ctr"/>
                </a:tc>
                <a:tc>
                  <a:txBody>
                    <a:bodyPr/>
                    <a:lstStyle/>
                    <a:p>
                      <a:pPr algn="ctr"/>
                      <a:r>
                        <a:rPr lang="en-US" sz="1600" dirty="0"/>
                        <a:t>OUTPUT</a:t>
                      </a:r>
                    </a:p>
                  </a:txBody>
                  <a:tcPr marL="83368" marR="83368" marT="41684" marB="41684" anchor="ctr"/>
                </a:tc>
                <a:extLst>
                  <a:ext uri="{0D108BD9-81ED-4DB2-BD59-A6C34878D82A}">
                    <a16:rowId xmlns:a16="http://schemas.microsoft.com/office/drawing/2014/main" val="2999674218"/>
                  </a:ext>
                </a:extLst>
              </a:tr>
              <a:tr h="338105">
                <a:tc>
                  <a:txBody>
                    <a:bodyPr/>
                    <a:lstStyle/>
                    <a:p>
                      <a:pPr algn="ctr"/>
                      <a:r>
                        <a:rPr lang="en-US" sz="1800" dirty="0"/>
                        <a:t>NOT ( ! )</a:t>
                      </a:r>
                    </a:p>
                  </a:txBody>
                  <a:tcPr marL="83368" marR="83368" marT="41684" marB="41684" anchor="ctr"/>
                </a:tc>
                <a:tc gridSpan="2">
                  <a:txBody>
                    <a:bodyPr/>
                    <a:lstStyle/>
                    <a:p>
                      <a:pPr algn="ctr"/>
                      <a:r>
                        <a:rPr lang="en-US" sz="1800" dirty="0"/>
                        <a:t>0x04</a:t>
                      </a:r>
                    </a:p>
                  </a:txBody>
                  <a:tcPr marL="83368" marR="83368" marT="41684" marB="41684" anchor="ctr"/>
                </a:tc>
                <a:tc hMerge="1">
                  <a:txBody>
                    <a:bodyPr/>
                    <a:lstStyle/>
                    <a:p>
                      <a:pPr algn="ctr"/>
                      <a:endParaRPr lang="en-US" sz="1800" dirty="0"/>
                    </a:p>
                  </a:txBody>
                  <a:tcPr marL="83368" marR="83368" marT="41684" marB="41684" anchor="ctr"/>
                </a:tc>
                <a:tc>
                  <a:txBody>
                    <a:bodyPr/>
                    <a:lstStyle/>
                    <a:p>
                      <a:pPr algn="ctr"/>
                      <a:r>
                        <a:rPr lang="en-US" sz="1600" dirty="0"/>
                        <a:t>0</a:t>
                      </a:r>
                    </a:p>
                  </a:txBody>
                  <a:tcPr marL="83368" marR="83368" marT="41684" marB="41684" anchor="ctr"/>
                </a:tc>
                <a:extLst>
                  <a:ext uri="{0D108BD9-81ED-4DB2-BD59-A6C34878D82A}">
                    <a16:rowId xmlns:a16="http://schemas.microsoft.com/office/drawing/2014/main" val="1209353763"/>
                  </a:ext>
                </a:extLst>
              </a:tr>
              <a:tr h="338105">
                <a:tc>
                  <a:txBody>
                    <a:bodyPr/>
                    <a:lstStyle/>
                    <a:p>
                      <a:pPr algn="ctr"/>
                      <a:r>
                        <a:rPr lang="en-US" sz="1800" dirty="0"/>
                        <a:t>AND ( &amp;&amp; )</a:t>
                      </a:r>
                    </a:p>
                  </a:txBody>
                  <a:tcPr marL="83368" marR="83368" marT="41684" marB="41684" anchor="ctr"/>
                </a:tc>
                <a:tc>
                  <a:txBody>
                    <a:bodyPr/>
                    <a:lstStyle/>
                    <a:p>
                      <a:pPr algn="ctr"/>
                      <a:r>
                        <a:rPr lang="en-US" sz="1800" dirty="0"/>
                        <a:t>0x04</a:t>
                      </a:r>
                    </a:p>
                  </a:txBody>
                  <a:tcPr marL="83368" marR="83368" marT="41684" marB="41684" anchor="ctr"/>
                </a:tc>
                <a:tc>
                  <a:txBody>
                    <a:bodyPr/>
                    <a:lstStyle/>
                    <a:p>
                      <a:pPr algn="ctr"/>
                      <a:r>
                        <a:rPr lang="en-US" sz="1800" dirty="0"/>
                        <a:t>0x08</a:t>
                      </a:r>
                    </a:p>
                  </a:txBody>
                  <a:tcPr marL="83368" marR="83368" marT="41684" marB="41684" anchor="ctr"/>
                </a:tc>
                <a:tc>
                  <a:txBody>
                    <a:bodyPr/>
                    <a:lstStyle/>
                    <a:p>
                      <a:pPr algn="ctr"/>
                      <a:r>
                        <a:rPr lang="en-US" sz="1600" dirty="0"/>
                        <a:t>1</a:t>
                      </a:r>
                    </a:p>
                  </a:txBody>
                  <a:tcPr marL="83368" marR="83368" marT="41684" marB="41684" anchor="ctr"/>
                </a:tc>
                <a:extLst>
                  <a:ext uri="{0D108BD9-81ED-4DB2-BD59-A6C34878D82A}">
                    <a16:rowId xmlns:a16="http://schemas.microsoft.com/office/drawing/2014/main" val="1867715064"/>
                  </a:ext>
                </a:extLst>
              </a:tr>
              <a:tr h="338105">
                <a:tc>
                  <a:txBody>
                    <a:bodyPr/>
                    <a:lstStyle/>
                    <a:p>
                      <a:pPr algn="ctr"/>
                      <a:r>
                        <a:rPr lang="en-US" sz="1600" dirty="0"/>
                        <a:t>OR ( || )</a:t>
                      </a:r>
                    </a:p>
                  </a:txBody>
                  <a:tcPr marL="83368" marR="83368" marT="41684" marB="41684" anchor="ctr"/>
                </a:tc>
                <a:tc>
                  <a:txBody>
                    <a:bodyPr/>
                    <a:lstStyle/>
                    <a:p>
                      <a:pPr algn="ctr"/>
                      <a:r>
                        <a:rPr lang="en-US" sz="1600" dirty="0"/>
                        <a:t>0x04</a:t>
                      </a:r>
                    </a:p>
                  </a:txBody>
                  <a:tcPr marL="83368" marR="83368" marT="41684" marB="41684" anchor="ctr"/>
                </a:tc>
                <a:tc>
                  <a:txBody>
                    <a:bodyPr/>
                    <a:lstStyle/>
                    <a:p>
                      <a:pPr algn="ctr"/>
                      <a:r>
                        <a:rPr lang="en-US" sz="1600" dirty="0"/>
                        <a:t>0x08</a:t>
                      </a:r>
                    </a:p>
                  </a:txBody>
                  <a:tcPr marL="83368" marR="83368" marT="41684" marB="41684" anchor="ctr"/>
                </a:tc>
                <a:tc>
                  <a:txBody>
                    <a:bodyPr/>
                    <a:lstStyle/>
                    <a:p>
                      <a:pPr algn="ctr"/>
                      <a:r>
                        <a:rPr lang="en-US" sz="1600" dirty="0"/>
                        <a:t>1</a:t>
                      </a:r>
                    </a:p>
                  </a:txBody>
                  <a:tcPr marL="83368" marR="83368" marT="41684" marB="41684" anchor="ctr"/>
                </a:tc>
                <a:extLst>
                  <a:ext uri="{0D108BD9-81ED-4DB2-BD59-A6C34878D82A}">
                    <a16:rowId xmlns:a16="http://schemas.microsoft.com/office/drawing/2014/main" val="3839607471"/>
                  </a:ext>
                </a:extLst>
              </a:tr>
            </a:tbl>
          </a:graphicData>
        </a:graphic>
      </p:graphicFrame>
    </p:spTree>
    <p:extLst>
      <p:ext uri="{BB962C8B-B14F-4D97-AF65-F5344CB8AC3E}">
        <p14:creationId xmlns:p14="http://schemas.microsoft.com/office/powerpoint/2010/main" val="17370509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ACF56-53FA-2D1A-BFF8-0A22D5DB4A5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9C839BC-CF45-AA9D-3E6C-9083BD6EA627}"/>
              </a:ext>
            </a:extLst>
          </p:cNvPr>
          <p:cNvSpPr/>
          <p:nvPr/>
        </p:nvSpPr>
        <p:spPr>
          <a:xfrm>
            <a:off x="13937966" y="3083251"/>
            <a:ext cx="10946941" cy="8896877"/>
          </a:xfrm>
          <a:custGeom>
            <a:avLst/>
            <a:gdLst/>
            <a:ahLst/>
            <a:cxnLst/>
            <a:rect l="l" t="t" r="r" b="b"/>
            <a:pathLst>
              <a:path w="10946941" h="8896877">
                <a:moveTo>
                  <a:pt x="0" y="0"/>
                </a:moveTo>
                <a:lnTo>
                  <a:pt x="10946941" y="0"/>
                </a:lnTo>
                <a:lnTo>
                  <a:pt x="10946941" y="8896877"/>
                </a:lnTo>
                <a:lnTo>
                  <a:pt x="0" y="889687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RO"/>
          </a:p>
        </p:txBody>
      </p:sp>
      <p:sp>
        <p:nvSpPr>
          <p:cNvPr id="3" name="Freeform 3">
            <a:extLst>
              <a:ext uri="{FF2B5EF4-FFF2-40B4-BE49-F238E27FC236}">
                <a16:creationId xmlns:a16="http://schemas.microsoft.com/office/drawing/2014/main" id="{962CCA6D-2CE6-D554-3E33-BE955CAC2E04}"/>
              </a:ext>
            </a:extLst>
          </p:cNvPr>
          <p:cNvSpPr/>
          <p:nvPr/>
        </p:nvSpPr>
        <p:spPr>
          <a:xfrm>
            <a:off x="-4615041" y="-2057400"/>
            <a:ext cx="5643741" cy="4114800"/>
          </a:xfrm>
          <a:custGeom>
            <a:avLst/>
            <a:gdLst/>
            <a:ahLst/>
            <a:cxnLst/>
            <a:rect l="l" t="t" r="r" b="b"/>
            <a:pathLst>
              <a:path w="5643741" h="4114800">
                <a:moveTo>
                  <a:pt x="0" y="0"/>
                </a:moveTo>
                <a:lnTo>
                  <a:pt x="5643741" y="0"/>
                </a:lnTo>
                <a:lnTo>
                  <a:pt x="5643741"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RO"/>
          </a:p>
        </p:txBody>
      </p:sp>
      <p:grpSp>
        <p:nvGrpSpPr>
          <p:cNvPr id="4" name="Group 4">
            <a:extLst>
              <a:ext uri="{FF2B5EF4-FFF2-40B4-BE49-F238E27FC236}">
                <a16:creationId xmlns:a16="http://schemas.microsoft.com/office/drawing/2014/main" id="{CE5856F2-1ED5-ACF4-5820-60E361512E3A}"/>
              </a:ext>
            </a:extLst>
          </p:cNvPr>
          <p:cNvGrpSpPr/>
          <p:nvPr/>
        </p:nvGrpSpPr>
        <p:grpSpPr>
          <a:xfrm>
            <a:off x="0" y="9998267"/>
            <a:ext cx="9144000" cy="288733"/>
            <a:chOff x="0" y="0"/>
            <a:chExt cx="2408296" cy="76045"/>
          </a:xfrm>
        </p:grpSpPr>
        <p:sp>
          <p:nvSpPr>
            <p:cNvPr id="5" name="Freeform 5">
              <a:extLst>
                <a:ext uri="{FF2B5EF4-FFF2-40B4-BE49-F238E27FC236}">
                  <a16:creationId xmlns:a16="http://schemas.microsoft.com/office/drawing/2014/main" id="{6B0CABA4-8293-F3D1-A4A8-113EDBCD3E3A}"/>
                </a:ext>
              </a:extLst>
            </p:cNvPr>
            <p:cNvSpPr/>
            <p:nvPr/>
          </p:nvSpPr>
          <p:spPr>
            <a:xfrm>
              <a:off x="0" y="0"/>
              <a:ext cx="2408296" cy="76045"/>
            </a:xfrm>
            <a:custGeom>
              <a:avLst/>
              <a:gdLst/>
              <a:ahLst/>
              <a:cxnLst/>
              <a:rect l="l" t="t" r="r" b="b"/>
              <a:pathLst>
                <a:path w="2408296" h="76045">
                  <a:moveTo>
                    <a:pt x="0" y="0"/>
                  </a:moveTo>
                  <a:lnTo>
                    <a:pt x="2408296" y="0"/>
                  </a:lnTo>
                  <a:lnTo>
                    <a:pt x="2408296" y="76045"/>
                  </a:lnTo>
                  <a:lnTo>
                    <a:pt x="0" y="76045"/>
                  </a:lnTo>
                  <a:close/>
                </a:path>
              </a:pathLst>
            </a:custGeom>
            <a:solidFill>
              <a:srgbClr val="E1AD27"/>
            </a:solidFill>
          </p:spPr>
          <p:txBody>
            <a:bodyPr/>
            <a:lstStyle/>
            <a:p>
              <a:endParaRPr lang="en-RO"/>
            </a:p>
          </p:txBody>
        </p:sp>
        <p:sp>
          <p:nvSpPr>
            <p:cNvPr id="6" name="TextBox 6">
              <a:extLst>
                <a:ext uri="{FF2B5EF4-FFF2-40B4-BE49-F238E27FC236}">
                  <a16:creationId xmlns:a16="http://schemas.microsoft.com/office/drawing/2014/main" id="{457EEC52-223C-4540-91B5-D526B98A7266}"/>
                </a:ext>
              </a:extLst>
            </p:cNvPr>
            <p:cNvSpPr txBox="1"/>
            <p:nvPr/>
          </p:nvSpPr>
          <p:spPr>
            <a:xfrm>
              <a:off x="0" y="-38100"/>
              <a:ext cx="2408296" cy="114145"/>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a:extLst>
              <a:ext uri="{FF2B5EF4-FFF2-40B4-BE49-F238E27FC236}">
                <a16:creationId xmlns:a16="http://schemas.microsoft.com/office/drawing/2014/main" id="{95684A61-B5E0-378F-0C16-7698E0D61365}"/>
              </a:ext>
            </a:extLst>
          </p:cNvPr>
          <p:cNvSpPr/>
          <p:nvPr/>
        </p:nvSpPr>
        <p:spPr>
          <a:xfrm>
            <a:off x="15276987" y="190500"/>
            <a:ext cx="2817637" cy="1388327"/>
          </a:xfrm>
          <a:custGeom>
            <a:avLst/>
            <a:gdLst/>
            <a:ahLst/>
            <a:cxnLst/>
            <a:rect l="l" t="t" r="r" b="b"/>
            <a:pathLst>
              <a:path w="2817637" h="1388327">
                <a:moveTo>
                  <a:pt x="0" y="0"/>
                </a:moveTo>
                <a:lnTo>
                  <a:pt x="2817637" y="0"/>
                </a:lnTo>
                <a:lnTo>
                  <a:pt x="2817637" y="1388327"/>
                </a:lnTo>
                <a:lnTo>
                  <a:pt x="0" y="138832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RO"/>
          </a:p>
        </p:txBody>
      </p:sp>
      <p:sp>
        <p:nvSpPr>
          <p:cNvPr id="8" name="Rectangle 7">
            <a:extLst>
              <a:ext uri="{FF2B5EF4-FFF2-40B4-BE49-F238E27FC236}">
                <a16:creationId xmlns:a16="http://schemas.microsoft.com/office/drawing/2014/main" id="{305101C7-9059-E3A3-12A7-24CA8919A4DA}"/>
              </a:ext>
            </a:extLst>
          </p:cNvPr>
          <p:cNvSpPr/>
          <p:nvPr/>
        </p:nvSpPr>
        <p:spPr>
          <a:xfrm>
            <a:off x="4648200" y="4076700"/>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0</a:t>
            </a:r>
          </a:p>
        </p:txBody>
      </p:sp>
      <p:sp>
        <p:nvSpPr>
          <p:cNvPr id="9" name="Rectangle 8">
            <a:extLst>
              <a:ext uri="{FF2B5EF4-FFF2-40B4-BE49-F238E27FC236}">
                <a16:creationId xmlns:a16="http://schemas.microsoft.com/office/drawing/2014/main" id="{F682BAF2-F907-D574-859D-9559E918DF71}"/>
              </a:ext>
            </a:extLst>
          </p:cNvPr>
          <p:cNvSpPr/>
          <p:nvPr/>
        </p:nvSpPr>
        <p:spPr>
          <a:xfrm>
            <a:off x="5562600" y="4076700"/>
            <a:ext cx="914400" cy="9144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0" lang="en-US" sz="4000" b="0" i="0" u="none" strike="noStrike" kern="1200" cap="none" spc="0" normalizeH="0" baseline="0" noProof="0" dirty="0">
                <a:ln>
                  <a:noFill/>
                </a:ln>
                <a:solidFill>
                  <a:prstClr val="white"/>
                </a:solidFill>
                <a:effectLst/>
                <a:uLnTx/>
                <a:uFillTx/>
                <a:latin typeface="Calibri"/>
                <a:ea typeface="+mn-ea"/>
                <a:cs typeface="+mn-cs"/>
              </a:rPr>
              <a:t>1</a:t>
            </a:r>
            <a:endParaRPr lang="en-US" dirty="0"/>
          </a:p>
        </p:txBody>
      </p:sp>
      <p:sp>
        <p:nvSpPr>
          <p:cNvPr id="10" name="Rectangle 9">
            <a:extLst>
              <a:ext uri="{FF2B5EF4-FFF2-40B4-BE49-F238E27FC236}">
                <a16:creationId xmlns:a16="http://schemas.microsoft.com/office/drawing/2014/main" id="{CA6A6197-BE16-5BC5-E867-31839C0F82D5}"/>
              </a:ext>
            </a:extLst>
          </p:cNvPr>
          <p:cNvSpPr/>
          <p:nvPr/>
        </p:nvSpPr>
        <p:spPr>
          <a:xfrm>
            <a:off x="6477000" y="4076700"/>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en-US" sz="4000" b="0" i="0" u="none" strike="noStrike" kern="1200" cap="none" spc="0" normalizeH="0" baseline="0" noProof="0" dirty="0">
                <a:ln>
                  <a:noFill/>
                </a:ln>
                <a:solidFill>
                  <a:prstClr val="white"/>
                </a:solidFill>
                <a:effectLst/>
                <a:uLnTx/>
                <a:uFillTx/>
                <a:latin typeface="Calibri"/>
                <a:ea typeface="+mn-ea"/>
                <a:cs typeface="+mn-cs"/>
              </a:rPr>
              <a:t>0</a:t>
            </a:r>
            <a:endParaRPr lang="en-US" dirty="0"/>
          </a:p>
        </p:txBody>
      </p:sp>
      <p:sp>
        <p:nvSpPr>
          <p:cNvPr id="11" name="Rectangle 10">
            <a:extLst>
              <a:ext uri="{FF2B5EF4-FFF2-40B4-BE49-F238E27FC236}">
                <a16:creationId xmlns:a16="http://schemas.microsoft.com/office/drawing/2014/main" id="{6F4AF6C1-04E5-FC05-F0DC-D1DE6439BBE0}"/>
              </a:ext>
            </a:extLst>
          </p:cNvPr>
          <p:cNvSpPr/>
          <p:nvPr/>
        </p:nvSpPr>
        <p:spPr>
          <a:xfrm>
            <a:off x="7391400" y="4076700"/>
            <a:ext cx="914400" cy="9144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0" lang="en-US" sz="4000" b="0" i="0" u="none" strike="noStrike" kern="1200" cap="none" spc="0" normalizeH="0" baseline="0" noProof="0">
                <a:ln>
                  <a:noFill/>
                </a:ln>
                <a:solidFill>
                  <a:prstClr val="white"/>
                </a:solidFill>
                <a:effectLst/>
                <a:uLnTx/>
                <a:uFillTx/>
                <a:latin typeface="Calibri"/>
                <a:ea typeface="+mn-ea"/>
                <a:cs typeface="+mn-cs"/>
              </a:rPr>
              <a:t>0</a:t>
            </a:r>
            <a:endParaRPr lang="en-US" dirty="0"/>
          </a:p>
        </p:txBody>
      </p:sp>
      <p:sp>
        <p:nvSpPr>
          <p:cNvPr id="16" name="Rectangle 15">
            <a:extLst>
              <a:ext uri="{FF2B5EF4-FFF2-40B4-BE49-F238E27FC236}">
                <a16:creationId xmlns:a16="http://schemas.microsoft.com/office/drawing/2014/main" id="{D1EB7B26-9C6D-10D4-21C6-FE0102FB88DB}"/>
              </a:ext>
            </a:extLst>
          </p:cNvPr>
          <p:cNvSpPr/>
          <p:nvPr/>
        </p:nvSpPr>
        <p:spPr>
          <a:xfrm>
            <a:off x="4648200" y="2171700"/>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1</a:t>
            </a:r>
          </a:p>
        </p:txBody>
      </p:sp>
      <p:sp>
        <p:nvSpPr>
          <p:cNvPr id="17" name="Rectangle 16">
            <a:extLst>
              <a:ext uri="{FF2B5EF4-FFF2-40B4-BE49-F238E27FC236}">
                <a16:creationId xmlns:a16="http://schemas.microsoft.com/office/drawing/2014/main" id="{03D82F75-7751-6BED-C781-34F163156B37}"/>
              </a:ext>
            </a:extLst>
          </p:cNvPr>
          <p:cNvSpPr/>
          <p:nvPr/>
        </p:nvSpPr>
        <p:spPr>
          <a:xfrm>
            <a:off x="5562600" y="2171700"/>
            <a:ext cx="914400" cy="9144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0" lang="en-US" sz="4000" b="0" i="0" u="none" strike="noStrike" kern="1200" cap="none" spc="0" normalizeH="0" baseline="0" noProof="0" dirty="0">
                <a:ln>
                  <a:noFill/>
                </a:ln>
                <a:solidFill>
                  <a:prstClr val="white"/>
                </a:solidFill>
                <a:effectLst/>
                <a:uLnTx/>
                <a:uFillTx/>
                <a:latin typeface="Calibri"/>
                <a:ea typeface="+mn-ea"/>
                <a:cs typeface="+mn-cs"/>
              </a:rPr>
              <a:t>0</a:t>
            </a:r>
            <a:endParaRPr lang="en-US" dirty="0"/>
          </a:p>
        </p:txBody>
      </p:sp>
      <p:sp>
        <p:nvSpPr>
          <p:cNvPr id="18" name="Rectangle 17">
            <a:extLst>
              <a:ext uri="{FF2B5EF4-FFF2-40B4-BE49-F238E27FC236}">
                <a16:creationId xmlns:a16="http://schemas.microsoft.com/office/drawing/2014/main" id="{94E9C89F-CDD6-B4F0-07AB-2BA3106A058A}"/>
              </a:ext>
            </a:extLst>
          </p:cNvPr>
          <p:cNvSpPr/>
          <p:nvPr/>
        </p:nvSpPr>
        <p:spPr>
          <a:xfrm>
            <a:off x="6477000" y="2171700"/>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en-US" sz="4000" b="0" i="0" u="none" strike="noStrike" kern="1200" cap="none" spc="0" normalizeH="0" baseline="0" noProof="0" dirty="0">
                <a:ln>
                  <a:noFill/>
                </a:ln>
                <a:solidFill>
                  <a:prstClr val="white"/>
                </a:solidFill>
                <a:effectLst/>
                <a:uLnTx/>
                <a:uFillTx/>
                <a:latin typeface="Calibri"/>
                <a:ea typeface="+mn-ea"/>
                <a:cs typeface="+mn-cs"/>
              </a:rPr>
              <a:t>0</a:t>
            </a:r>
            <a:endParaRPr lang="en-US" dirty="0"/>
          </a:p>
        </p:txBody>
      </p:sp>
      <p:sp>
        <p:nvSpPr>
          <p:cNvPr id="19" name="Rectangle 18">
            <a:extLst>
              <a:ext uri="{FF2B5EF4-FFF2-40B4-BE49-F238E27FC236}">
                <a16:creationId xmlns:a16="http://schemas.microsoft.com/office/drawing/2014/main" id="{4A35519E-6D44-8717-C66B-7D82491AAA70}"/>
              </a:ext>
            </a:extLst>
          </p:cNvPr>
          <p:cNvSpPr/>
          <p:nvPr/>
        </p:nvSpPr>
        <p:spPr>
          <a:xfrm>
            <a:off x="7391400" y="2171700"/>
            <a:ext cx="914400" cy="9144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0" lang="en-US" sz="4000" b="0" i="0" u="none" strike="noStrike" kern="1200" cap="none" spc="0" normalizeH="0" baseline="0" noProof="0">
                <a:ln>
                  <a:noFill/>
                </a:ln>
                <a:solidFill>
                  <a:prstClr val="white"/>
                </a:solidFill>
                <a:effectLst/>
                <a:uLnTx/>
                <a:uFillTx/>
                <a:latin typeface="Calibri"/>
                <a:ea typeface="+mn-ea"/>
                <a:cs typeface="+mn-cs"/>
              </a:rPr>
              <a:t>0</a:t>
            </a:r>
            <a:endParaRPr lang="en-US" dirty="0"/>
          </a:p>
        </p:txBody>
      </p:sp>
      <p:sp>
        <p:nvSpPr>
          <p:cNvPr id="24" name="TextBox 23">
            <a:extLst>
              <a:ext uri="{FF2B5EF4-FFF2-40B4-BE49-F238E27FC236}">
                <a16:creationId xmlns:a16="http://schemas.microsoft.com/office/drawing/2014/main" id="{1B9C6443-F36E-7B1C-1B9E-1402FE1381C2}"/>
              </a:ext>
            </a:extLst>
          </p:cNvPr>
          <p:cNvSpPr txBox="1"/>
          <p:nvPr/>
        </p:nvSpPr>
        <p:spPr>
          <a:xfrm>
            <a:off x="3124200" y="2305734"/>
            <a:ext cx="1981200" cy="646331"/>
          </a:xfrm>
          <a:prstGeom prst="rect">
            <a:avLst/>
          </a:prstGeom>
          <a:noFill/>
        </p:spPr>
        <p:txBody>
          <a:bodyPr wrap="square" rtlCol="0">
            <a:spAutoFit/>
          </a:bodyPr>
          <a:lstStyle/>
          <a:p>
            <a:r>
              <a:rPr lang="en-US" sz="3600" dirty="0"/>
              <a:t>0x08</a:t>
            </a:r>
          </a:p>
        </p:txBody>
      </p:sp>
      <p:sp>
        <p:nvSpPr>
          <p:cNvPr id="25" name="TextBox 24">
            <a:extLst>
              <a:ext uri="{FF2B5EF4-FFF2-40B4-BE49-F238E27FC236}">
                <a16:creationId xmlns:a16="http://schemas.microsoft.com/office/drawing/2014/main" id="{0182AAC4-BCA4-8689-5BDE-54A2FE2E1F39}"/>
              </a:ext>
            </a:extLst>
          </p:cNvPr>
          <p:cNvSpPr txBox="1"/>
          <p:nvPr/>
        </p:nvSpPr>
        <p:spPr>
          <a:xfrm>
            <a:off x="3124200" y="4210734"/>
            <a:ext cx="1981200" cy="646331"/>
          </a:xfrm>
          <a:prstGeom prst="rect">
            <a:avLst/>
          </a:prstGeom>
          <a:noFill/>
        </p:spPr>
        <p:txBody>
          <a:bodyPr wrap="square" rtlCol="0">
            <a:spAutoFit/>
          </a:bodyPr>
          <a:lstStyle/>
          <a:p>
            <a:r>
              <a:rPr lang="en-US" sz="3600" dirty="0"/>
              <a:t>0x04</a:t>
            </a:r>
          </a:p>
        </p:txBody>
      </p:sp>
      <p:graphicFrame>
        <p:nvGraphicFramePr>
          <p:cNvPr id="26" name="Table 25">
            <a:extLst>
              <a:ext uri="{FF2B5EF4-FFF2-40B4-BE49-F238E27FC236}">
                <a16:creationId xmlns:a16="http://schemas.microsoft.com/office/drawing/2014/main" id="{9EDA7B61-E9AB-3EEB-1CD5-3483A2A90DD5}"/>
              </a:ext>
            </a:extLst>
          </p:cNvPr>
          <p:cNvGraphicFramePr>
            <a:graphicFrameLocks noGrp="1"/>
          </p:cNvGraphicFramePr>
          <p:nvPr>
            <p:extLst>
              <p:ext uri="{D42A27DB-BD31-4B8C-83A1-F6EECF244321}">
                <p14:modId xmlns:p14="http://schemas.microsoft.com/office/powerpoint/2010/main" val="1482780609"/>
              </p:ext>
            </p:extLst>
          </p:nvPr>
        </p:nvGraphicFramePr>
        <p:xfrm>
          <a:off x="3124200" y="5444589"/>
          <a:ext cx="5867400" cy="2012950"/>
        </p:xfrm>
        <a:graphic>
          <a:graphicData uri="http://schemas.openxmlformats.org/drawingml/2006/table">
            <a:tbl>
              <a:tblPr firstRow="1" bandRow="1">
                <a:tableStyleId>{18603FDC-E32A-4AB5-989C-0864C3EAD2B8}</a:tableStyleId>
              </a:tblPr>
              <a:tblGrid>
                <a:gridCol w="1955800">
                  <a:extLst>
                    <a:ext uri="{9D8B030D-6E8A-4147-A177-3AD203B41FA5}">
                      <a16:colId xmlns:a16="http://schemas.microsoft.com/office/drawing/2014/main" val="1762146238"/>
                    </a:ext>
                  </a:extLst>
                </a:gridCol>
                <a:gridCol w="1955800">
                  <a:extLst>
                    <a:ext uri="{9D8B030D-6E8A-4147-A177-3AD203B41FA5}">
                      <a16:colId xmlns:a16="http://schemas.microsoft.com/office/drawing/2014/main" val="3716039932"/>
                    </a:ext>
                  </a:extLst>
                </a:gridCol>
                <a:gridCol w="1955800">
                  <a:extLst>
                    <a:ext uri="{9D8B030D-6E8A-4147-A177-3AD203B41FA5}">
                      <a16:colId xmlns:a16="http://schemas.microsoft.com/office/drawing/2014/main" val="3064710563"/>
                    </a:ext>
                  </a:extLst>
                </a:gridCol>
              </a:tblGrid>
              <a:tr h="402590">
                <a:tc>
                  <a:txBody>
                    <a:bodyPr/>
                    <a:lstStyle/>
                    <a:p>
                      <a:pPr algn="ctr"/>
                      <a:r>
                        <a:rPr lang="en-US" dirty="0"/>
                        <a:t>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Bitwise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Logical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6759324"/>
                  </a:ext>
                </a:extLst>
              </a:tr>
              <a:tr h="402590">
                <a:tc>
                  <a:txBody>
                    <a:bodyPr/>
                    <a:lstStyle/>
                    <a:p>
                      <a:pPr algn="ctr"/>
                      <a:r>
                        <a:rPr lang="en-US" dirty="0"/>
                        <a:t>NOT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0111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813654"/>
                  </a:ext>
                </a:extLst>
              </a:tr>
              <a:tr h="402590">
                <a:tc>
                  <a:txBody>
                    <a:bodyPr/>
                    <a:lstStyle/>
                    <a:p>
                      <a:pPr algn="ctr"/>
                      <a:r>
                        <a:rPr lang="en-US" dirty="0"/>
                        <a:t>AND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0732731"/>
                  </a:ext>
                </a:extLst>
              </a:tr>
              <a:tr h="402590">
                <a:tc>
                  <a:txBody>
                    <a:bodyPr/>
                    <a:lstStyle/>
                    <a:p>
                      <a:pPr algn="ctr"/>
                      <a:r>
                        <a:rPr lang="en-US" dirty="0"/>
                        <a: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4732178"/>
                  </a:ext>
                </a:extLst>
              </a:tr>
              <a:tr h="402590">
                <a:tc>
                  <a:txBody>
                    <a:bodyPr/>
                    <a:lstStyle/>
                    <a:p>
                      <a:pPr algn="ctr"/>
                      <a:r>
                        <a:rPr lang="en-US" dirty="0"/>
                        <a:t>XOR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t>1</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5969300"/>
                  </a:ext>
                </a:extLst>
              </a:tr>
            </a:tbl>
          </a:graphicData>
        </a:graphic>
      </p:graphicFrame>
    </p:spTree>
    <p:extLst>
      <p:ext uri="{BB962C8B-B14F-4D97-AF65-F5344CB8AC3E}">
        <p14:creationId xmlns:p14="http://schemas.microsoft.com/office/powerpoint/2010/main" val="3061332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8F52A-9F97-375F-5D88-5239D3B4957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474C172-7443-83A7-DB17-B53733626389}"/>
              </a:ext>
            </a:extLst>
          </p:cNvPr>
          <p:cNvSpPr/>
          <p:nvPr/>
        </p:nvSpPr>
        <p:spPr>
          <a:xfrm>
            <a:off x="13937966" y="3083251"/>
            <a:ext cx="10946941" cy="8896877"/>
          </a:xfrm>
          <a:custGeom>
            <a:avLst/>
            <a:gdLst/>
            <a:ahLst/>
            <a:cxnLst/>
            <a:rect l="l" t="t" r="r" b="b"/>
            <a:pathLst>
              <a:path w="10946941" h="8896877">
                <a:moveTo>
                  <a:pt x="0" y="0"/>
                </a:moveTo>
                <a:lnTo>
                  <a:pt x="10946941" y="0"/>
                </a:lnTo>
                <a:lnTo>
                  <a:pt x="10946941" y="8896877"/>
                </a:lnTo>
                <a:lnTo>
                  <a:pt x="0" y="889687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RO"/>
          </a:p>
        </p:txBody>
      </p:sp>
      <p:sp>
        <p:nvSpPr>
          <p:cNvPr id="3" name="Freeform 3">
            <a:extLst>
              <a:ext uri="{FF2B5EF4-FFF2-40B4-BE49-F238E27FC236}">
                <a16:creationId xmlns:a16="http://schemas.microsoft.com/office/drawing/2014/main" id="{CD52C399-EB52-2518-9399-AE9D819B8790}"/>
              </a:ext>
            </a:extLst>
          </p:cNvPr>
          <p:cNvSpPr/>
          <p:nvPr/>
        </p:nvSpPr>
        <p:spPr>
          <a:xfrm>
            <a:off x="-4615041" y="-2057400"/>
            <a:ext cx="5643741" cy="4114800"/>
          </a:xfrm>
          <a:custGeom>
            <a:avLst/>
            <a:gdLst/>
            <a:ahLst/>
            <a:cxnLst/>
            <a:rect l="l" t="t" r="r" b="b"/>
            <a:pathLst>
              <a:path w="5643741" h="4114800">
                <a:moveTo>
                  <a:pt x="0" y="0"/>
                </a:moveTo>
                <a:lnTo>
                  <a:pt x="5643741" y="0"/>
                </a:lnTo>
                <a:lnTo>
                  <a:pt x="5643741"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RO"/>
          </a:p>
        </p:txBody>
      </p:sp>
      <p:grpSp>
        <p:nvGrpSpPr>
          <p:cNvPr id="4" name="Group 4">
            <a:extLst>
              <a:ext uri="{FF2B5EF4-FFF2-40B4-BE49-F238E27FC236}">
                <a16:creationId xmlns:a16="http://schemas.microsoft.com/office/drawing/2014/main" id="{75BE6906-06B7-ADFD-6221-33EA1D105B48}"/>
              </a:ext>
            </a:extLst>
          </p:cNvPr>
          <p:cNvGrpSpPr/>
          <p:nvPr/>
        </p:nvGrpSpPr>
        <p:grpSpPr>
          <a:xfrm>
            <a:off x="0" y="9998267"/>
            <a:ext cx="9144000" cy="288733"/>
            <a:chOff x="0" y="0"/>
            <a:chExt cx="2408296" cy="76045"/>
          </a:xfrm>
        </p:grpSpPr>
        <p:sp>
          <p:nvSpPr>
            <p:cNvPr id="5" name="Freeform 5">
              <a:extLst>
                <a:ext uri="{FF2B5EF4-FFF2-40B4-BE49-F238E27FC236}">
                  <a16:creationId xmlns:a16="http://schemas.microsoft.com/office/drawing/2014/main" id="{0F9C3688-DF91-2A06-CD15-A536056E6E42}"/>
                </a:ext>
              </a:extLst>
            </p:cNvPr>
            <p:cNvSpPr/>
            <p:nvPr/>
          </p:nvSpPr>
          <p:spPr>
            <a:xfrm>
              <a:off x="0" y="0"/>
              <a:ext cx="2408296" cy="76045"/>
            </a:xfrm>
            <a:custGeom>
              <a:avLst/>
              <a:gdLst/>
              <a:ahLst/>
              <a:cxnLst/>
              <a:rect l="l" t="t" r="r" b="b"/>
              <a:pathLst>
                <a:path w="2408296" h="76045">
                  <a:moveTo>
                    <a:pt x="0" y="0"/>
                  </a:moveTo>
                  <a:lnTo>
                    <a:pt x="2408296" y="0"/>
                  </a:lnTo>
                  <a:lnTo>
                    <a:pt x="2408296" y="76045"/>
                  </a:lnTo>
                  <a:lnTo>
                    <a:pt x="0" y="76045"/>
                  </a:lnTo>
                  <a:close/>
                </a:path>
              </a:pathLst>
            </a:custGeom>
            <a:solidFill>
              <a:srgbClr val="E1AD27"/>
            </a:solidFill>
          </p:spPr>
          <p:txBody>
            <a:bodyPr/>
            <a:lstStyle/>
            <a:p>
              <a:endParaRPr lang="en-RO"/>
            </a:p>
          </p:txBody>
        </p:sp>
        <p:sp>
          <p:nvSpPr>
            <p:cNvPr id="6" name="TextBox 6">
              <a:extLst>
                <a:ext uri="{FF2B5EF4-FFF2-40B4-BE49-F238E27FC236}">
                  <a16:creationId xmlns:a16="http://schemas.microsoft.com/office/drawing/2014/main" id="{26D506D2-9D30-1768-03BD-A86A75F9A03E}"/>
                </a:ext>
              </a:extLst>
            </p:cNvPr>
            <p:cNvSpPr txBox="1"/>
            <p:nvPr/>
          </p:nvSpPr>
          <p:spPr>
            <a:xfrm>
              <a:off x="0" y="-38100"/>
              <a:ext cx="2408296" cy="114145"/>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a:extLst>
              <a:ext uri="{FF2B5EF4-FFF2-40B4-BE49-F238E27FC236}">
                <a16:creationId xmlns:a16="http://schemas.microsoft.com/office/drawing/2014/main" id="{F7E4B3F3-864F-5D57-3480-3490F948FFFA}"/>
              </a:ext>
            </a:extLst>
          </p:cNvPr>
          <p:cNvSpPr/>
          <p:nvPr/>
        </p:nvSpPr>
        <p:spPr>
          <a:xfrm>
            <a:off x="15276987" y="190500"/>
            <a:ext cx="2817637" cy="1388327"/>
          </a:xfrm>
          <a:custGeom>
            <a:avLst/>
            <a:gdLst/>
            <a:ahLst/>
            <a:cxnLst/>
            <a:rect l="l" t="t" r="r" b="b"/>
            <a:pathLst>
              <a:path w="2817637" h="1388327">
                <a:moveTo>
                  <a:pt x="0" y="0"/>
                </a:moveTo>
                <a:lnTo>
                  <a:pt x="2817637" y="0"/>
                </a:lnTo>
                <a:lnTo>
                  <a:pt x="2817637" y="1388327"/>
                </a:lnTo>
                <a:lnTo>
                  <a:pt x="0" y="138832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RO"/>
          </a:p>
        </p:txBody>
      </p:sp>
      <p:sp>
        <p:nvSpPr>
          <p:cNvPr id="8" name="Content Placeholder 11">
            <a:extLst>
              <a:ext uri="{FF2B5EF4-FFF2-40B4-BE49-F238E27FC236}">
                <a16:creationId xmlns:a16="http://schemas.microsoft.com/office/drawing/2014/main" id="{075D625B-A49A-C0DD-A494-6EAFA0F27DAD}"/>
              </a:ext>
            </a:extLst>
          </p:cNvPr>
          <p:cNvSpPr>
            <a:spLocks noGrp="1"/>
          </p:cNvSpPr>
          <p:nvPr/>
        </p:nvSpPr>
        <p:spPr>
          <a:xfrm>
            <a:off x="4572000" y="4238097"/>
            <a:ext cx="7300919" cy="3029477"/>
          </a:xfrm>
          <a:prstGeom prst="rect">
            <a:avLst/>
          </a:prstGeom>
        </p:spPr>
        <p:txBody>
          <a:bodyPr vert="horz" lIns="34290" tIns="17145" rIns="34290" bIns="17145" rtlCol="0" anchor="t">
            <a:normAutofit/>
          </a:bodyPr>
          <a:lstStyle>
            <a:defPPr>
              <a:defRPr lang="en-US"/>
            </a:defPPr>
            <a:lvl1pPr marL="0" indent="-3429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1pPr>
            <a:lvl2pPr marL="228600" indent="-28575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2pPr>
            <a:lvl3pPr marL="4572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3pPr>
            <a:lvl4pPr marL="6858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4pPr>
            <a:lvl5pPr marL="9144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5pPr>
            <a:lvl6pPr marL="11430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6pPr>
            <a:lvl7pPr marL="13716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7pPr>
            <a:lvl8pPr marL="16002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8pPr>
            <a:lvl9pPr marL="18288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9pPr>
          </a:lstStyle>
          <a:p>
            <a:pPr indent="0">
              <a:buNone/>
            </a:pPr>
            <a:r>
              <a:rPr lang="en-GB" sz="1800" dirty="0">
                <a:ea typeface="Calibri"/>
                <a:cs typeface="Calibri"/>
              </a:rPr>
              <a:t>Bit masks</a:t>
            </a:r>
          </a:p>
          <a:p>
            <a:pPr marL="285750" indent="-285750"/>
            <a:r>
              <a:rPr lang="en-GB" sz="1800" dirty="0">
                <a:ea typeface="Calibri"/>
                <a:cs typeface="Calibri"/>
              </a:rPr>
              <a:t>Used to read/set/clear/toggle one or more bits</a:t>
            </a:r>
          </a:p>
          <a:p>
            <a:pPr marL="285750" indent="-285750"/>
            <a:r>
              <a:rPr lang="en-GB" sz="1800" dirty="0">
                <a:ea typeface="Calibri"/>
                <a:cs typeface="Calibri"/>
              </a:rPr>
              <a:t>The same length as the object (not necessary)</a:t>
            </a:r>
          </a:p>
          <a:p>
            <a:pPr marL="285750" indent="-285750"/>
            <a:r>
              <a:rPr lang="en-GB" sz="1800" dirty="0">
                <a:ea typeface="Calibri"/>
                <a:cs typeface="Calibri"/>
              </a:rPr>
              <a:t>Used in cryptography often</a:t>
            </a:r>
          </a:p>
          <a:p>
            <a:pPr marL="285750" indent="-285750"/>
            <a:endParaRPr lang="en-GB" sz="1800" dirty="0">
              <a:ea typeface="Calibri"/>
              <a:cs typeface="Calibri"/>
            </a:endParaRPr>
          </a:p>
          <a:p>
            <a:pPr marL="285750" indent="-285750"/>
            <a:r>
              <a:rPr lang="en-GB" sz="1800" dirty="0">
                <a:ea typeface="Calibri"/>
                <a:cs typeface="Calibri"/>
              </a:rPr>
              <a:t>! </a:t>
            </a:r>
            <a:r>
              <a:rPr lang="en-GB" sz="1800" b="1" dirty="0">
                <a:ea typeface="Calibri"/>
                <a:cs typeface="Calibri"/>
              </a:rPr>
              <a:t>ALWAYS</a:t>
            </a:r>
            <a:r>
              <a:rPr lang="en-GB" sz="1800" dirty="0">
                <a:ea typeface="Calibri"/>
                <a:cs typeface="Calibri"/>
              </a:rPr>
              <a:t> use shifts when defining a mask</a:t>
            </a:r>
          </a:p>
          <a:p>
            <a:pPr marL="285750" indent="-285750"/>
            <a:endParaRPr lang="en-GB" sz="1800" dirty="0">
              <a:ea typeface="Calibri"/>
              <a:cs typeface="Calibri"/>
            </a:endParaRPr>
          </a:p>
          <a:p>
            <a:pPr marL="285750" indent="-285750"/>
            <a:endParaRPr lang="en-GB" sz="1800" dirty="0">
              <a:ea typeface="Calibri"/>
              <a:cs typeface="Calibri"/>
            </a:endParaRPr>
          </a:p>
        </p:txBody>
      </p:sp>
    </p:spTree>
    <p:extLst>
      <p:ext uri="{BB962C8B-B14F-4D97-AF65-F5344CB8AC3E}">
        <p14:creationId xmlns:p14="http://schemas.microsoft.com/office/powerpoint/2010/main" val="23432159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F4748-B574-5384-5A05-9E8B698562A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3846B35-0568-2617-B3E9-24698F3512C0}"/>
              </a:ext>
            </a:extLst>
          </p:cNvPr>
          <p:cNvSpPr/>
          <p:nvPr/>
        </p:nvSpPr>
        <p:spPr>
          <a:xfrm>
            <a:off x="13937966" y="3083251"/>
            <a:ext cx="10946941" cy="8896877"/>
          </a:xfrm>
          <a:custGeom>
            <a:avLst/>
            <a:gdLst/>
            <a:ahLst/>
            <a:cxnLst/>
            <a:rect l="l" t="t" r="r" b="b"/>
            <a:pathLst>
              <a:path w="10946941" h="8896877">
                <a:moveTo>
                  <a:pt x="0" y="0"/>
                </a:moveTo>
                <a:lnTo>
                  <a:pt x="10946941" y="0"/>
                </a:lnTo>
                <a:lnTo>
                  <a:pt x="10946941" y="8896877"/>
                </a:lnTo>
                <a:lnTo>
                  <a:pt x="0" y="889687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RO"/>
          </a:p>
        </p:txBody>
      </p:sp>
      <p:sp>
        <p:nvSpPr>
          <p:cNvPr id="3" name="Freeform 3">
            <a:extLst>
              <a:ext uri="{FF2B5EF4-FFF2-40B4-BE49-F238E27FC236}">
                <a16:creationId xmlns:a16="http://schemas.microsoft.com/office/drawing/2014/main" id="{6A8F37DA-BF4A-4283-F7C0-AD804CC83B70}"/>
              </a:ext>
            </a:extLst>
          </p:cNvPr>
          <p:cNvSpPr/>
          <p:nvPr/>
        </p:nvSpPr>
        <p:spPr>
          <a:xfrm>
            <a:off x="-4615041" y="-2057400"/>
            <a:ext cx="5643741" cy="4114800"/>
          </a:xfrm>
          <a:custGeom>
            <a:avLst/>
            <a:gdLst/>
            <a:ahLst/>
            <a:cxnLst/>
            <a:rect l="l" t="t" r="r" b="b"/>
            <a:pathLst>
              <a:path w="5643741" h="4114800">
                <a:moveTo>
                  <a:pt x="0" y="0"/>
                </a:moveTo>
                <a:lnTo>
                  <a:pt x="5643741" y="0"/>
                </a:lnTo>
                <a:lnTo>
                  <a:pt x="5643741"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RO"/>
          </a:p>
        </p:txBody>
      </p:sp>
      <p:grpSp>
        <p:nvGrpSpPr>
          <p:cNvPr id="4" name="Group 4">
            <a:extLst>
              <a:ext uri="{FF2B5EF4-FFF2-40B4-BE49-F238E27FC236}">
                <a16:creationId xmlns:a16="http://schemas.microsoft.com/office/drawing/2014/main" id="{0C440E07-0BAD-1F09-6814-247CD5D812B9}"/>
              </a:ext>
            </a:extLst>
          </p:cNvPr>
          <p:cNvGrpSpPr/>
          <p:nvPr/>
        </p:nvGrpSpPr>
        <p:grpSpPr>
          <a:xfrm>
            <a:off x="0" y="9998267"/>
            <a:ext cx="9144000" cy="288733"/>
            <a:chOff x="0" y="0"/>
            <a:chExt cx="2408296" cy="76045"/>
          </a:xfrm>
        </p:grpSpPr>
        <p:sp>
          <p:nvSpPr>
            <p:cNvPr id="5" name="Freeform 5">
              <a:extLst>
                <a:ext uri="{FF2B5EF4-FFF2-40B4-BE49-F238E27FC236}">
                  <a16:creationId xmlns:a16="http://schemas.microsoft.com/office/drawing/2014/main" id="{043A1C61-B472-76CB-8FBB-877AD7517D70}"/>
                </a:ext>
              </a:extLst>
            </p:cNvPr>
            <p:cNvSpPr/>
            <p:nvPr/>
          </p:nvSpPr>
          <p:spPr>
            <a:xfrm>
              <a:off x="0" y="0"/>
              <a:ext cx="2408296" cy="76045"/>
            </a:xfrm>
            <a:custGeom>
              <a:avLst/>
              <a:gdLst/>
              <a:ahLst/>
              <a:cxnLst/>
              <a:rect l="l" t="t" r="r" b="b"/>
              <a:pathLst>
                <a:path w="2408296" h="76045">
                  <a:moveTo>
                    <a:pt x="0" y="0"/>
                  </a:moveTo>
                  <a:lnTo>
                    <a:pt x="2408296" y="0"/>
                  </a:lnTo>
                  <a:lnTo>
                    <a:pt x="2408296" y="76045"/>
                  </a:lnTo>
                  <a:lnTo>
                    <a:pt x="0" y="76045"/>
                  </a:lnTo>
                  <a:close/>
                </a:path>
              </a:pathLst>
            </a:custGeom>
            <a:solidFill>
              <a:srgbClr val="E1AD27"/>
            </a:solidFill>
          </p:spPr>
          <p:txBody>
            <a:bodyPr/>
            <a:lstStyle/>
            <a:p>
              <a:endParaRPr lang="en-RO"/>
            </a:p>
          </p:txBody>
        </p:sp>
        <p:sp>
          <p:nvSpPr>
            <p:cNvPr id="6" name="TextBox 6">
              <a:extLst>
                <a:ext uri="{FF2B5EF4-FFF2-40B4-BE49-F238E27FC236}">
                  <a16:creationId xmlns:a16="http://schemas.microsoft.com/office/drawing/2014/main" id="{2BF625F5-EF45-D5B4-B3F6-1D86FE5131B7}"/>
                </a:ext>
              </a:extLst>
            </p:cNvPr>
            <p:cNvSpPr txBox="1"/>
            <p:nvPr/>
          </p:nvSpPr>
          <p:spPr>
            <a:xfrm>
              <a:off x="0" y="-38100"/>
              <a:ext cx="2408296" cy="114145"/>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a:extLst>
              <a:ext uri="{FF2B5EF4-FFF2-40B4-BE49-F238E27FC236}">
                <a16:creationId xmlns:a16="http://schemas.microsoft.com/office/drawing/2014/main" id="{0F43DEEB-27B7-C8C5-7817-6C4C0391CA55}"/>
              </a:ext>
            </a:extLst>
          </p:cNvPr>
          <p:cNvSpPr/>
          <p:nvPr/>
        </p:nvSpPr>
        <p:spPr>
          <a:xfrm>
            <a:off x="15276987" y="190500"/>
            <a:ext cx="2817637" cy="1388327"/>
          </a:xfrm>
          <a:custGeom>
            <a:avLst/>
            <a:gdLst/>
            <a:ahLst/>
            <a:cxnLst/>
            <a:rect l="l" t="t" r="r" b="b"/>
            <a:pathLst>
              <a:path w="2817637" h="1388327">
                <a:moveTo>
                  <a:pt x="0" y="0"/>
                </a:moveTo>
                <a:lnTo>
                  <a:pt x="2817637" y="0"/>
                </a:lnTo>
                <a:lnTo>
                  <a:pt x="2817637" y="1388327"/>
                </a:lnTo>
                <a:lnTo>
                  <a:pt x="0" y="138832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RO"/>
          </a:p>
        </p:txBody>
      </p:sp>
      <p:sp>
        <p:nvSpPr>
          <p:cNvPr id="8" name="Rectangle 7">
            <a:extLst>
              <a:ext uri="{FF2B5EF4-FFF2-40B4-BE49-F238E27FC236}">
                <a16:creationId xmlns:a16="http://schemas.microsoft.com/office/drawing/2014/main" id="{82DB18C6-8E75-AC44-BCB6-770C98C488ED}"/>
              </a:ext>
            </a:extLst>
          </p:cNvPr>
          <p:cNvSpPr/>
          <p:nvPr/>
        </p:nvSpPr>
        <p:spPr>
          <a:xfrm>
            <a:off x="4648200" y="5143500"/>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0</a:t>
            </a:r>
          </a:p>
        </p:txBody>
      </p:sp>
      <p:sp>
        <p:nvSpPr>
          <p:cNvPr id="9" name="Rectangle 8">
            <a:extLst>
              <a:ext uri="{FF2B5EF4-FFF2-40B4-BE49-F238E27FC236}">
                <a16:creationId xmlns:a16="http://schemas.microsoft.com/office/drawing/2014/main" id="{F8C28F4B-A0BA-03DD-FD24-9D2B95FE387E}"/>
              </a:ext>
            </a:extLst>
          </p:cNvPr>
          <p:cNvSpPr/>
          <p:nvPr/>
        </p:nvSpPr>
        <p:spPr>
          <a:xfrm>
            <a:off x="5562600" y="5143500"/>
            <a:ext cx="914400" cy="9144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0" lang="en-US" sz="4000" b="0" i="0" u="none" strike="noStrike" kern="1200" cap="none" spc="0" normalizeH="0" baseline="0" noProof="0" dirty="0">
                <a:ln>
                  <a:noFill/>
                </a:ln>
                <a:solidFill>
                  <a:prstClr val="white"/>
                </a:solidFill>
                <a:effectLst/>
                <a:uLnTx/>
                <a:uFillTx/>
                <a:latin typeface="Calibri"/>
                <a:ea typeface="+mn-ea"/>
                <a:cs typeface="+mn-cs"/>
              </a:rPr>
              <a:t>0</a:t>
            </a:r>
            <a:endParaRPr lang="en-US" dirty="0"/>
          </a:p>
        </p:txBody>
      </p:sp>
      <p:sp>
        <p:nvSpPr>
          <p:cNvPr id="10" name="Rectangle 9">
            <a:extLst>
              <a:ext uri="{FF2B5EF4-FFF2-40B4-BE49-F238E27FC236}">
                <a16:creationId xmlns:a16="http://schemas.microsoft.com/office/drawing/2014/main" id="{F79EF091-A810-8510-D773-C0C389F86037}"/>
              </a:ext>
            </a:extLst>
          </p:cNvPr>
          <p:cNvSpPr/>
          <p:nvPr/>
        </p:nvSpPr>
        <p:spPr>
          <a:xfrm>
            <a:off x="6477000" y="5143500"/>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prstClr val="white"/>
                </a:solidFill>
                <a:latin typeface="Calibri"/>
              </a:rPr>
              <a:t>0</a:t>
            </a:r>
            <a:endParaRPr lang="en-US" dirty="0"/>
          </a:p>
        </p:txBody>
      </p:sp>
      <p:sp>
        <p:nvSpPr>
          <p:cNvPr id="11" name="Rectangle 10">
            <a:extLst>
              <a:ext uri="{FF2B5EF4-FFF2-40B4-BE49-F238E27FC236}">
                <a16:creationId xmlns:a16="http://schemas.microsoft.com/office/drawing/2014/main" id="{C95BA0AB-71DF-0CD7-89EB-64D5A5B1EED6}"/>
              </a:ext>
            </a:extLst>
          </p:cNvPr>
          <p:cNvSpPr/>
          <p:nvPr/>
        </p:nvSpPr>
        <p:spPr>
          <a:xfrm>
            <a:off x="7391400" y="5143500"/>
            <a:ext cx="914400" cy="9144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0" lang="en-US" sz="4000" b="0" i="0" u="none" strike="noStrike" kern="1200" cap="none" spc="0" normalizeH="0" baseline="0" noProof="0">
                <a:ln>
                  <a:noFill/>
                </a:ln>
                <a:solidFill>
                  <a:prstClr val="white"/>
                </a:solidFill>
                <a:effectLst/>
                <a:uLnTx/>
                <a:uFillTx/>
                <a:latin typeface="Calibri"/>
                <a:ea typeface="+mn-ea"/>
                <a:cs typeface="+mn-cs"/>
              </a:rPr>
              <a:t>0</a:t>
            </a:r>
            <a:endParaRPr lang="en-US" dirty="0"/>
          </a:p>
        </p:txBody>
      </p:sp>
      <p:sp>
        <p:nvSpPr>
          <p:cNvPr id="12" name="Rectangle 11">
            <a:extLst>
              <a:ext uri="{FF2B5EF4-FFF2-40B4-BE49-F238E27FC236}">
                <a16:creationId xmlns:a16="http://schemas.microsoft.com/office/drawing/2014/main" id="{FC8D470A-BDD4-B891-A031-6D8E5B31C7E1}"/>
              </a:ext>
            </a:extLst>
          </p:cNvPr>
          <p:cNvSpPr/>
          <p:nvPr/>
        </p:nvSpPr>
        <p:spPr>
          <a:xfrm>
            <a:off x="8305800" y="5143500"/>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en-US" sz="4000" b="0" i="0" u="none" strike="noStrike" kern="1200" cap="none" spc="0" normalizeH="0" baseline="0" noProof="0" dirty="0">
                <a:ln>
                  <a:noFill/>
                </a:ln>
                <a:solidFill>
                  <a:prstClr val="white"/>
                </a:solidFill>
                <a:effectLst/>
                <a:uLnTx/>
                <a:uFillTx/>
                <a:latin typeface="Calibri"/>
                <a:ea typeface="+mn-ea"/>
                <a:cs typeface="+mn-cs"/>
              </a:rPr>
              <a:t>0</a:t>
            </a:r>
            <a:endParaRPr lang="en-US" dirty="0"/>
          </a:p>
        </p:txBody>
      </p:sp>
      <p:sp>
        <p:nvSpPr>
          <p:cNvPr id="13" name="Rectangle 12">
            <a:extLst>
              <a:ext uri="{FF2B5EF4-FFF2-40B4-BE49-F238E27FC236}">
                <a16:creationId xmlns:a16="http://schemas.microsoft.com/office/drawing/2014/main" id="{601AAD2F-B904-D4A5-6094-6416E5B61F6C}"/>
              </a:ext>
            </a:extLst>
          </p:cNvPr>
          <p:cNvSpPr/>
          <p:nvPr/>
        </p:nvSpPr>
        <p:spPr>
          <a:xfrm>
            <a:off x="9220200" y="5143500"/>
            <a:ext cx="914400" cy="9144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0" lang="en-US" sz="4000" b="0" i="0" u="none" strike="noStrike" kern="1200" cap="none" spc="0" normalizeH="0" baseline="0" noProof="0" dirty="0">
                <a:ln>
                  <a:noFill/>
                </a:ln>
                <a:solidFill>
                  <a:prstClr val="white"/>
                </a:solidFill>
                <a:effectLst/>
                <a:uLnTx/>
                <a:uFillTx/>
                <a:latin typeface="Calibri"/>
                <a:ea typeface="+mn-ea"/>
                <a:cs typeface="+mn-cs"/>
              </a:rPr>
              <a:t>1</a:t>
            </a:r>
            <a:endParaRPr lang="en-US" dirty="0"/>
          </a:p>
        </p:txBody>
      </p:sp>
      <p:sp>
        <p:nvSpPr>
          <p:cNvPr id="14" name="Rectangle 13">
            <a:extLst>
              <a:ext uri="{FF2B5EF4-FFF2-40B4-BE49-F238E27FC236}">
                <a16:creationId xmlns:a16="http://schemas.microsoft.com/office/drawing/2014/main" id="{0C852D67-616F-6BB2-4100-FE66529144EA}"/>
              </a:ext>
            </a:extLst>
          </p:cNvPr>
          <p:cNvSpPr/>
          <p:nvPr/>
        </p:nvSpPr>
        <p:spPr>
          <a:xfrm>
            <a:off x="10134600" y="5143500"/>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prstClr val="white"/>
                </a:solidFill>
                <a:latin typeface="Calibri"/>
              </a:rPr>
              <a:t>1</a:t>
            </a:r>
            <a:endParaRPr lang="en-US" dirty="0"/>
          </a:p>
        </p:txBody>
      </p:sp>
      <p:sp>
        <p:nvSpPr>
          <p:cNvPr id="15" name="Rectangle 14">
            <a:extLst>
              <a:ext uri="{FF2B5EF4-FFF2-40B4-BE49-F238E27FC236}">
                <a16:creationId xmlns:a16="http://schemas.microsoft.com/office/drawing/2014/main" id="{A7D4B464-D734-2345-9F43-988907335870}"/>
              </a:ext>
            </a:extLst>
          </p:cNvPr>
          <p:cNvSpPr/>
          <p:nvPr/>
        </p:nvSpPr>
        <p:spPr>
          <a:xfrm>
            <a:off x="11049000" y="5143500"/>
            <a:ext cx="914400" cy="9144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0" lang="en-US" sz="4000" b="0" i="0" u="none" strike="noStrike" kern="1200" cap="none" spc="0" normalizeH="0" baseline="0" noProof="0" dirty="0">
                <a:ln>
                  <a:noFill/>
                </a:ln>
                <a:solidFill>
                  <a:prstClr val="white"/>
                </a:solidFill>
                <a:effectLst/>
                <a:uLnTx/>
                <a:uFillTx/>
                <a:latin typeface="Calibri"/>
                <a:ea typeface="+mn-ea"/>
                <a:cs typeface="+mn-cs"/>
              </a:rPr>
              <a:t>1</a:t>
            </a:r>
            <a:endParaRPr lang="en-US" dirty="0"/>
          </a:p>
        </p:txBody>
      </p:sp>
      <p:sp>
        <p:nvSpPr>
          <p:cNvPr id="16" name="Rectangle 15">
            <a:extLst>
              <a:ext uri="{FF2B5EF4-FFF2-40B4-BE49-F238E27FC236}">
                <a16:creationId xmlns:a16="http://schemas.microsoft.com/office/drawing/2014/main" id="{7A64B4CA-0D29-0554-1002-CBDD54480BB2}"/>
              </a:ext>
            </a:extLst>
          </p:cNvPr>
          <p:cNvSpPr/>
          <p:nvPr/>
        </p:nvSpPr>
        <p:spPr>
          <a:xfrm>
            <a:off x="4648200" y="3771900"/>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1</a:t>
            </a:r>
          </a:p>
        </p:txBody>
      </p:sp>
      <p:sp>
        <p:nvSpPr>
          <p:cNvPr id="17" name="Rectangle 16">
            <a:extLst>
              <a:ext uri="{FF2B5EF4-FFF2-40B4-BE49-F238E27FC236}">
                <a16:creationId xmlns:a16="http://schemas.microsoft.com/office/drawing/2014/main" id="{869C37D8-6934-009F-C727-26A4E64E8589}"/>
              </a:ext>
            </a:extLst>
          </p:cNvPr>
          <p:cNvSpPr/>
          <p:nvPr/>
        </p:nvSpPr>
        <p:spPr>
          <a:xfrm>
            <a:off x="5562600" y="3771900"/>
            <a:ext cx="914400" cy="9144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0" lang="en-US" sz="4000" b="0" i="0" u="none" strike="noStrike" kern="1200" cap="none" spc="0" normalizeH="0" baseline="0" noProof="0" dirty="0">
                <a:ln>
                  <a:noFill/>
                </a:ln>
                <a:solidFill>
                  <a:prstClr val="white"/>
                </a:solidFill>
                <a:effectLst/>
                <a:uLnTx/>
                <a:uFillTx/>
                <a:latin typeface="Calibri"/>
                <a:ea typeface="+mn-ea"/>
                <a:cs typeface="+mn-cs"/>
              </a:rPr>
              <a:t>0</a:t>
            </a:r>
            <a:endParaRPr lang="en-US" dirty="0"/>
          </a:p>
        </p:txBody>
      </p:sp>
      <p:sp>
        <p:nvSpPr>
          <p:cNvPr id="18" name="Rectangle 17">
            <a:extLst>
              <a:ext uri="{FF2B5EF4-FFF2-40B4-BE49-F238E27FC236}">
                <a16:creationId xmlns:a16="http://schemas.microsoft.com/office/drawing/2014/main" id="{7CA46DAA-7EC8-25CD-203A-3DF096B96913}"/>
              </a:ext>
            </a:extLst>
          </p:cNvPr>
          <p:cNvSpPr/>
          <p:nvPr/>
        </p:nvSpPr>
        <p:spPr>
          <a:xfrm>
            <a:off x="6477000" y="3771900"/>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en-US" sz="4000" b="0" i="0" u="none" strike="noStrike" kern="1200" cap="none" spc="0" normalizeH="0" baseline="0" noProof="0" dirty="0">
                <a:ln>
                  <a:noFill/>
                </a:ln>
                <a:solidFill>
                  <a:prstClr val="white"/>
                </a:solidFill>
                <a:effectLst/>
                <a:uLnTx/>
                <a:uFillTx/>
                <a:latin typeface="Calibri"/>
                <a:ea typeface="+mn-ea"/>
                <a:cs typeface="+mn-cs"/>
              </a:rPr>
              <a:t>1</a:t>
            </a:r>
            <a:endParaRPr lang="en-US" dirty="0"/>
          </a:p>
        </p:txBody>
      </p:sp>
      <p:sp>
        <p:nvSpPr>
          <p:cNvPr id="19" name="Rectangle 18">
            <a:extLst>
              <a:ext uri="{FF2B5EF4-FFF2-40B4-BE49-F238E27FC236}">
                <a16:creationId xmlns:a16="http://schemas.microsoft.com/office/drawing/2014/main" id="{10621EFB-2A18-5266-B745-CF88B6DC91B7}"/>
              </a:ext>
            </a:extLst>
          </p:cNvPr>
          <p:cNvSpPr/>
          <p:nvPr/>
        </p:nvSpPr>
        <p:spPr>
          <a:xfrm>
            <a:off x="7391400" y="3771900"/>
            <a:ext cx="914400" cy="9144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0" lang="en-US" sz="4000" b="0" i="0" u="none" strike="noStrike" kern="1200" cap="none" spc="0" normalizeH="0" baseline="0" noProof="0">
                <a:ln>
                  <a:noFill/>
                </a:ln>
                <a:solidFill>
                  <a:prstClr val="white"/>
                </a:solidFill>
                <a:effectLst/>
                <a:uLnTx/>
                <a:uFillTx/>
                <a:latin typeface="Calibri"/>
                <a:ea typeface="+mn-ea"/>
                <a:cs typeface="+mn-cs"/>
              </a:rPr>
              <a:t>0</a:t>
            </a:r>
            <a:endParaRPr lang="en-US" dirty="0"/>
          </a:p>
        </p:txBody>
      </p:sp>
      <p:sp>
        <p:nvSpPr>
          <p:cNvPr id="20" name="Rectangle 19">
            <a:extLst>
              <a:ext uri="{FF2B5EF4-FFF2-40B4-BE49-F238E27FC236}">
                <a16:creationId xmlns:a16="http://schemas.microsoft.com/office/drawing/2014/main" id="{958DC780-0BC1-05B2-DD9B-8D96B30167A4}"/>
              </a:ext>
            </a:extLst>
          </p:cNvPr>
          <p:cNvSpPr/>
          <p:nvPr/>
        </p:nvSpPr>
        <p:spPr>
          <a:xfrm>
            <a:off x="8305800" y="3771900"/>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en-US" sz="4000" b="0" i="0" u="none" strike="noStrike" kern="1200" cap="none" spc="0" normalizeH="0" baseline="0" noProof="0" dirty="0">
                <a:ln>
                  <a:noFill/>
                </a:ln>
                <a:solidFill>
                  <a:prstClr val="white"/>
                </a:solidFill>
                <a:effectLst/>
                <a:uLnTx/>
                <a:uFillTx/>
                <a:latin typeface="Calibri"/>
                <a:ea typeface="+mn-ea"/>
                <a:cs typeface="+mn-cs"/>
              </a:rPr>
              <a:t>0</a:t>
            </a:r>
            <a:endParaRPr lang="en-US" dirty="0"/>
          </a:p>
        </p:txBody>
      </p:sp>
      <p:sp>
        <p:nvSpPr>
          <p:cNvPr id="21" name="Rectangle 20">
            <a:extLst>
              <a:ext uri="{FF2B5EF4-FFF2-40B4-BE49-F238E27FC236}">
                <a16:creationId xmlns:a16="http://schemas.microsoft.com/office/drawing/2014/main" id="{E4C221F5-ED51-DB01-9A27-DF559BC4DF12}"/>
              </a:ext>
            </a:extLst>
          </p:cNvPr>
          <p:cNvSpPr/>
          <p:nvPr/>
        </p:nvSpPr>
        <p:spPr>
          <a:xfrm>
            <a:off x="9220200" y="3771900"/>
            <a:ext cx="914400" cy="9144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0" lang="en-US" sz="4000" b="0" i="0" u="none" strike="noStrike" kern="1200" cap="none" spc="0" normalizeH="0" baseline="0" noProof="0" dirty="0">
                <a:ln>
                  <a:noFill/>
                </a:ln>
                <a:solidFill>
                  <a:prstClr val="white"/>
                </a:solidFill>
                <a:effectLst/>
                <a:uLnTx/>
                <a:uFillTx/>
                <a:latin typeface="Calibri"/>
                <a:ea typeface="+mn-ea"/>
                <a:cs typeface="+mn-cs"/>
              </a:rPr>
              <a:t>1</a:t>
            </a:r>
            <a:endParaRPr lang="en-US" dirty="0"/>
          </a:p>
        </p:txBody>
      </p:sp>
      <p:sp>
        <p:nvSpPr>
          <p:cNvPr id="22" name="Rectangle 21">
            <a:extLst>
              <a:ext uri="{FF2B5EF4-FFF2-40B4-BE49-F238E27FC236}">
                <a16:creationId xmlns:a16="http://schemas.microsoft.com/office/drawing/2014/main" id="{1EAFEC64-0510-0B9F-E110-04AA9034498A}"/>
              </a:ext>
            </a:extLst>
          </p:cNvPr>
          <p:cNvSpPr/>
          <p:nvPr/>
        </p:nvSpPr>
        <p:spPr>
          <a:xfrm>
            <a:off x="10134600" y="3771900"/>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en-US" sz="4000" b="0" i="0" u="none" strike="noStrike" kern="1200" cap="none" spc="0" normalizeH="0" baseline="0" noProof="0">
                <a:ln>
                  <a:noFill/>
                </a:ln>
                <a:solidFill>
                  <a:prstClr val="white"/>
                </a:solidFill>
                <a:effectLst/>
                <a:uLnTx/>
                <a:uFillTx/>
                <a:latin typeface="Calibri"/>
                <a:ea typeface="+mn-ea"/>
                <a:cs typeface="+mn-cs"/>
              </a:rPr>
              <a:t>0</a:t>
            </a:r>
            <a:endParaRPr lang="en-US" dirty="0"/>
          </a:p>
        </p:txBody>
      </p:sp>
      <p:sp>
        <p:nvSpPr>
          <p:cNvPr id="23" name="Rectangle 22">
            <a:extLst>
              <a:ext uri="{FF2B5EF4-FFF2-40B4-BE49-F238E27FC236}">
                <a16:creationId xmlns:a16="http://schemas.microsoft.com/office/drawing/2014/main" id="{3DBE6D09-00B4-E7F2-5820-891F94B6057A}"/>
              </a:ext>
            </a:extLst>
          </p:cNvPr>
          <p:cNvSpPr/>
          <p:nvPr/>
        </p:nvSpPr>
        <p:spPr>
          <a:xfrm>
            <a:off x="11049000" y="3771900"/>
            <a:ext cx="914400" cy="9144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0" lang="en-US" sz="4000" b="0" i="0" u="none" strike="noStrike" kern="1200" cap="none" spc="0" normalizeH="0" baseline="0" noProof="0" dirty="0">
                <a:ln>
                  <a:noFill/>
                </a:ln>
                <a:solidFill>
                  <a:prstClr val="white"/>
                </a:solidFill>
                <a:effectLst/>
                <a:uLnTx/>
                <a:uFillTx/>
                <a:latin typeface="Calibri"/>
                <a:ea typeface="+mn-ea"/>
                <a:cs typeface="+mn-cs"/>
              </a:rPr>
              <a:t>1</a:t>
            </a:r>
            <a:endParaRPr lang="en-US" dirty="0"/>
          </a:p>
        </p:txBody>
      </p:sp>
      <p:sp>
        <p:nvSpPr>
          <p:cNvPr id="24" name="TextBox 23">
            <a:extLst>
              <a:ext uri="{FF2B5EF4-FFF2-40B4-BE49-F238E27FC236}">
                <a16:creationId xmlns:a16="http://schemas.microsoft.com/office/drawing/2014/main" id="{3537154C-F759-707E-D865-91F8E671A290}"/>
              </a:ext>
            </a:extLst>
          </p:cNvPr>
          <p:cNvSpPr txBox="1"/>
          <p:nvPr/>
        </p:nvSpPr>
        <p:spPr>
          <a:xfrm>
            <a:off x="3124200" y="3905934"/>
            <a:ext cx="1981200" cy="646331"/>
          </a:xfrm>
          <a:prstGeom prst="rect">
            <a:avLst/>
          </a:prstGeom>
          <a:noFill/>
        </p:spPr>
        <p:txBody>
          <a:bodyPr wrap="square" rtlCol="0">
            <a:spAutoFit/>
          </a:bodyPr>
          <a:lstStyle/>
          <a:p>
            <a:r>
              <a:rPr lang="en-US" sz="3600" dirty="0"/>
              <a:t>object</a:t>
            </a:r>
          </a:p>
        </p:txBody>
      </p:sp>
      <p:sp>
        <p:nvSpPr>
          <p:cNvPr id="25" name="TextBox 24">
            <a:extLst>
              <a:ext uri="{FF2B5EF4-FFF2-40B4-BE49-F238E27FC236}">
                <a16:creationId xmlns:a16="http://schemas.microsoft.com/office/drawing/2014/main" id="{2BA7DFAA-9171-DB4C-5563-533984D61D52}"/>
              </a:ext>
            </a:extLst>
          </p:cNvPr>
          <p:cNvSpPr txBox="1"/>
          <p:nvPr/>
        </p:nvSpPr>
        <p:spPr>
          <a:xfrm>
            <a:off x="3124200" y="5277534"/>
            <a:ext cx="1981200" cy="646331"/>
          </a:xfrm>
          <a:prstGeom prst="rect">
            <a:avLst/>
          </a:prstGeom>
          <a:noFill/>
        </p:spPr>
        <p:txBody>
          <a:bodyPr wrap="square" rtlCol="0">
            <a:spAutoFit/>
          </a:bodyPr>
          <a:lstStyle/>
          <a:p>
            <a:r>
              <a:rPr lang="en-US" sz="3600" dirty="0"/>
              <a:t>mask</a:t>
            </a:r>
          </a:p>
        </p:txBody>
      </p:sp>
      <p:sp>
        <p:nvSpPr>
          <p:cNvPr id="26" name="Rectangle 25">
            <a:extLst>
              <a:ext uri="{FF2B5EF4-FFF2-40B4-BE49-F238E27FC236}">
                <a16:creationId xmlns:a16="http://schemas.microsoft.com/office/drawing/2014/main" id="{E0902053-083B-790F-250B-EF48FB81AF32}"/>
              </a:ext>
            </a:extLst>
          </p:cNvPr>
          <p:cNvSpPr/>
          <p:nvPr/>
        </p:nvSpPr>
        <p:spPr>
          <a:xfrm>
            <a:off x="4648200" y="6515099"/>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0</a:t>
            </a:r>
          </a:p>
        </p:txBody>
      </p:sp>
      <p:sp>
        <p:nvSpPr>
          <p:cNvPr id="27" name="Rectangle 26">
            <a:extLst>
              <a:ext uri="{FF2B5EF4-FFF2-40B4-BE49-F238E27FC236}">
                <a16:creationId xmlns:a16="http://schemas.microsoft.com/office/drawing/2014/main" id="{8450B226-A0E1-DD16-B494-F8BB3851678E}"/>
              </a:ext>
            </a:extLst>
          </p:cNvPr>
          <p:cNvSpPr/>
          <p:nvPr/>
        </p:nvSpPr>
        <p:spPr>
          <a:xfrm>
            <a:off x="5562600" y="6515099"/>
            <a:ext cx="914400" cy="9144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0" lang="en-US" sz="4000" b="0" i="0" u="none" strike="noStrike" kern="1200" cap="none" spc="0" normalizeH="0" baseline="0" noProof="0" dirty="0">
                <a:ln>
                  <a:noFill/>
                </a:ln>
                <a:solidFill>
                  <a:prstClr val="white"/>
                </a:solidFill>
                <a:effectLst/>
                <a:uLnTx/>
                <a:uFillTx/>
                <a:latin typeface="Calibri"/>
                <a:ea typeface="+mn-ea"/>
                <a:cs typeface="+mn-cs"/>
              </a:rPr>
              <a:t>0</a:t>
            </a:r>
            <a:endParaRPr lang="en-US" dirty="0"/>
          </a:p>
        </p:txBody>
      </p:sp>
      <p:sp>
        <p:nvSpPr>
          <p:cNvPr id="28" name="Rectangle 27">
            <a:extLst>
              <a:ext uri="{FF2B5EF4-FFF2-40B4-BE49-F238E27FC236}">
                <a16:creationId xmlns:a16="http://schemas.microsoft.com/office/drawing/2014/main" id="{01199125-998D-964B-ADBB-249EB3F053AF}"/>
              </a:ext>
            </a:extLst>
          </p:cNvPr>
          <p:cNvSpPr/>
          <p:nvPr/>
        </p:nvSpPr>
        <p:spPr>
          <a:xfrm>
            <a:off x="6477000" y="6515099"/>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prstClr val="white"/>
                </a:solidFill>
                <a:latin typeface="Calibri"/>
              </a:rPr>
              <a:t>0</a:t>
            </a:r>
            <a:endParaRPr lang="en-US" dirty="0"/>
          </a:p>
        </p:txBody>
      </p:sp>
      <p:sp>
        <p:nvSpPr>
          <p:cNvPr id="29" name="Rectangle 28">
            <a:extLst>
              <a:ext uri="{FF2B5EF4-FFF2-40B4-BE49-F238E27FC236}">
                <a16:creationId xmlns:a16="http://schemas.microsoft.com/office/drawing/2014/main" id="{848BEC16-656D-8107-427C-158870D5219A}"/>
              </a:ext>
            </a:extLst>
          </p:cNvPr>
          <p:cNvSpPr/>
          <p:nvPr/>
        </p:nvSpPr>
        <p:spPr>
          <a:xfrm>
            <a:off x="7391400" y="6515099"/>
            <a:ext cx="914400" cy="9144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0" lang="en-US" sz="4000" b="0" i="0" u="none" strike="noStrike" kern="1200" cap="none" spc="0" normalizeH="0" baseline="0" noProof="0">
                <a:ln>
                  <a:noFill/>
                </a:ln>
                <a:solidFill>
                  <a:prstClr val="white"/>
                </a:solidFill>
                <a:effectLst/>
                <a:uLnTx/>
                <a:uFillTx/>
                <a:latin typeface="Calibri"/>
                <a:ea typeface="+mn-ea"/>
                <a:cs typeface="+mn-cs"/>
              </a:rPr>
              <a:t>0</a:t>
            </a:r>
            <a:endParaRPr lang="en-US" dirty="0"/>
          </a:p>
        </p:txBody>
      </p:sp>
      <p:sp>
        <p:nvSpPr>
          <p:cNvPr id="30" name="Rectangle 29">
            <a:extLst>
              <a:ext uri="{FF2B5EF4-FFF2-40B4-BE49-F238E27FC236}">
                <a16:creationId xmlns:a16="http://schemas.microsoft.com/office/drawing/2014/main" id="{9E3B9693-3ACB-9171-6B36-3CF147903C0C}"/>
              </a:ext>
            </a:extLst>
          </p:cNvPr>
          <p:cNvSpPr/>
          <p:nvPr/>
        </p:nvSpPr>
        <p:spPr>
          <a:xfrm>
            <a:off x="8305800" y="6515099"/>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en-US" sz="4000" b="0" i="0" u="none" strike="noStrike" kern="1200" cap="none" spc="0" normalizeH="0" baseline="0" noProof="0" dirty="0">
                <a:ln>
                  <a:noFill/>
                </a:ln>
                <a:solidFill>
                  <a:prstClr val="white"/>
                </a:solidFill>
                <a:effectLst/>
                <a:uLnTx/>
                <a:uFillTx/>
                <a:latin typeface="Calibri"/>
                <a:ea typeface="+mn-ea"/>
                <a:cs typeface="+mn-cs"/>
              </a:rPr>
              <a:t>0</a:t>
            </a:r>
            <a:endParaRPr lang="en-US" dirty="0"/>
          </a:p>
        </p:txBody>
      </p:sp>
      <p:sp>
        <p:nvSpPr>
          <p:cNvPr id="31" name="Rectangle 30">
            <a:extLst>
              <a:ext uri="{FF2B5EF4-FFF2-40B4-BE49-F238E27FC236}">
                <a16:creationId xmlns:a16="http://schemas.microsoft.com/office/drawing/2014/main" id="{A44440AD-855A-0AD7-D35C-769DABA8D6F2}"/>
              </a:ext>
            </a:extLst>
          </p:cNvPr>
          <p:cNvSpPr/>
          <p:nvPr/>
        </p:nvSpPr>
        <p:spPr>
          <a:xfrm>
            <a:off x="9220200" y="6515099"/>
            <a:ext cx="914400" cy="9144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0" lang="en-US" sz="4000" b="0" i="0" u="none" strike="noStrike" kern="1200" cap="none" spc="0" normalizeH="0" baseline="0" noProof="0" dirty="0">
                <a:ln>
                  <a:noFill/>
                </a:ln>
                <a:solidFill>
                  <a:prstClr val="white"/>
                </a:solidFill>
                <a:effectLst/>
                <a:uLnTx/>
                <a:uFillTx/>
                <a:latin typeface="Calibri"/>
                <a:ea typeface="+mn-ea"/>
                <a:cs typeface="+mn-cs"/>
              </a:rPr>
              <a:t>1</a:t>
            </a:r>
            <a:endParaRPr lang="en-US" dirty="0"/>
          </a:p>
        </p:txBody>
      </p:sp>
      <p:sp>
        <p:nvSpPr>
          <p:cNvPr id="32" name="Rectangle 31">
            <a:extLst>
              <a:ext uri="{FF2B5EF4-FFF2-40B4-BE49-F238E27FC236}">
                <a16:creationId xmlns:a16="http://schemas.microsoft.com/office/drawing/2014/main" id="{75AD609B-76E8-FE3E-DAF3-11885A503C7C}"/>
              </a:ext>
            </a:extLst>
          </p:cNvPr>
          <p:cNvSpPr/>
          <p:nvPr/>
        </p:nvSpPr>
        <p:spPr>
          <a:xfrm>
            <a:off x="10134600" y="6515099"/>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prstClr val="white"/>
                </a:solidFill>
                <a:latin typeface="Calibri"/>
              </a:rPr>
              <a:t>0</a:t>
            </a:r>
            <a:endParaRPr lang="en-US" dirty="0"/>
          </a:p>
        </p:txBody>
      </p:sp>
      <p:sp>
        <p:nvSpPr>
          <p:cNvPr id="33" name="Rectangle 32">
            <a:extLst>
              <a:ext uri="{FF2B5EF4-FFF2-40B4-BE49-F238E27FC236}">
                <a16:creationId xmlns:a16="http://schemas.microsoft.com/office/drawing/2014/main" id="{327CFA4F-9593-9166-9C00-8B534607F1D9}"/>
              </a:ext>
            </a:extLst>
          </p:cNvPr>
          <p:cNvSpPr/>
          <p:nvPr/>
        </p:nvSpPr>
        <p:spPr>
          <a:xfrm>
            <a:off x="11049000" y="6515099"/>
            <a:ext cx="914400" cy="9144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0" lang="en-US" sz="4000" b="0" i="0" u="none" strike="noStrike" kern="1200" cap="none" spc="0" normalizeH="0" baseline="0" noProof="0" dirty="0">
                <a:ln>
                  <a:noFill/>
                </a:ln>
                <a:solidFill>
                  <a:prstClr val="white"/>
                </a:solidFill>
                <a:effectLst/>
                <a:uLnTx/>
                <a:uFillTx/>
                <a:latin typeface="Calibri"/>
                <a:ea typeface="+mn-ea"/>
                <a:cs typeface="+mn-cs"/>
              </a:rPr>
              <a:t>1</a:t>
            </a:r>
            <a:endParaRPr lang="en-US" dirty="0"/>
          </a:p>
        </p:txBody>
      </p:sp>
      <p:sp>
        <p:nvSpPr>
          <p:cNvPr id="34" name="TextBox 33">
            <a:extLst>
              <a:ext uri="{FF2B5EF4-FFF2-40B4-BE49-F238E27FC236}">
                <a16:creationId xmlns:a16="http://schemas.microsoft.com/office/drawing/2014/main" id="{878DC7B2-AD44-7096-2EA5-942C07C19982}"/>
              </a:ext>
            </a:extLst>
          </p:cNvPr>
          <p:cNvSpPr txBox="1"/>
          <p:nvPr/>
        </p:nvSpPr>
        <p:spPr>
          <a:xfrm>
            <a:off x="3124200" y="6649133"/>
            <a:ext cx="1981200" cy="646331"/>
          </a:xfrm>
          <a:prstGeom prst="rect">
            <a:avLst/>
          </a:prstGeom>
          <a:noFill/>
        </p:spPr>
        <p:txBody>
          <a:bodyPr wrap="square" rtlCol="0">
            <a:spAutoFit/>
          </a:bodyPr>
          <a:lstStyle/>
          <a:p>
            <a:r>
              <a:rPr lang="en-US" sz="3600" dirty="0"/>
              <a:t>result</a:t>
            </a:r>
          </a:p>
        </p:txBody>
      </p:sp>
    </p:spTree>
    <p:extLst>
      <p:ext uri="{BB962C8B-B14F-4D97-AF65-F5344CB8AC3E}">
        <p14:creationId xmlns:p14="http://schemas.microsoft.com/office/powerpoint/2010/main" val="5245273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94635-54EA-8201-115D-EE3CAF0A348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0235770-2B67-196E-F587-D2F069D429FE}"/>
              </a:ext>
            </a:extLst>
          </p:cNvPr>
          <p:cNvSpPr/>
          <p:nvPr/>
        </p:nvSpPr>
        <p:spPr>
          <a:xfrm>
            <a:off x="13937966" y="3083251"/>
            <a:ext cx="10946941" cy="8896877"/>
          </a:xfrm>
          <a:custGeom>
            <a:avLst/>
            <a:gdLst/>
            <a:ahLst/>
            <a:cxnLst/>
            <a:rect l="l" t="t" r="r" b="b"/>
            <a:pathLst>
              <a:path w="10946941" h="8896877">
                <a:moveTo>
                  <a:pt x="0" y="0"/>
                </a:moveTo>
                <a:lnTo>
                  <a:pt x="10946941" y="0"/>
                </a:lnTo>
                <a:lnTo>
                  <a:pt x="10946941" y="8896877"/>
                </a:lnTo>
                <a:lnTo>
                  <a:pt x="0" y="88968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RO"/>
          </a:p>
        </p:txBody>
      </p:sp>
      <p:sp>
        <p:nvSpPr>
          <p:cNvPr id="3" name="Freeform 3">
            <a:extLst>
              <a:ext uri="{FF2B5EF4-FFF2-40B4-BE49-F238E27FC236}">
                <a16:creationId xmlns:a16="http://schemas.microsoft.com/office/drawing/2014/main" id="{FCB12A34-973F-2A60-DDD5-713AFEE89842}"/>
              </a:ext>
            </a:extLst>
          </p:cNvPr>
          <p:cNvSpPr/>
          <p:nvPr/>
        </p:nvSpPr>
        <p:spPr>
          <a:xfrm>
            <a:off x="-4615041" y="-2057400"/>
            <a:ext cx="5643741" cy="4114800"/>
          </a:xfrm>
          <a:custGeom>
            <a:avLst/>
            <a:gdLst/>
            <a:ahLst/>
            <a:cxnLst/>
            <a:rect l="l" t="t" r="r" b="b"/>
            <a:pathLst>
              <a:path w="5643741" h="4114800">
                <a:moveTo>
                  <a:pt x="0" y="0"/>
                </a:moveTo>
                <a:lnTo>
                  <a:pt x="5643741" y="0"/>
                </a:lnTo>
                <a:lnTo>
                  <a:pt x="564374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RO"/>
          </a:p>
        </p:txBody>
      </p:sp>
      <p:grpSp>
        <p:nvGrpSpPr>
          <p:cNvPr id="4" name="Group 4">
            <a:extLst>
              <a:ext uri="{FF2B5EF4-FFF2-40B4-BE49-F238E27FC236}">
                <a16:creationId xmlns:a16="http://schemas.microsoft.com/office/drawing/2014/main" id="{F30242DE-51E7-D50A-7605-FA6E95487272}"/>
              </a:ext>
            </a:extLst>
          </p:cNvPr>
          <p:cNvGrpSpPr/>
          <p:nvPr/>
        </p:nvGrpSpPr>
        <p:grpSpPr>
          <a:xfrm>
            <a:off x="0" y="9998267"/>
            <a:ext cx="9144000" cy="288733"/>
            <a:chOff x="0" y="0"/>
            <a:chExt cx="2408296" cy="76045"/>
          </a:xfrm>
        </p:grpSpPr>
        <p:sp>
          <p:nvSpPr>
            <p:cNvPr id="5" name="Freeform 5">
              <a:extLst>
                <a:ext uri="{FF2B5EF4-FFF2-40B4-BE49-F238E27FC236}">
                  <a16:creationId xmlns:a16="http://schemas.microsoft.com/office/drawing/2014/main" id="{1F17BEDC-E1AA-A2AC-6459-1F57DF94D296}"/>
                </a:ext>
              </a:extLst>
            </p:cNvPr>
            <p:cNvSpPr/>
            <p:nvPr/>
          </p:nvSpPr>
          <p:spPr>
            <a:xfrm>
              <a:off x="0" y="0"/>
              <a:ext cx="2408296" cy="76045"/>
            </a:xfrm>
            <a:custGeom>
              <a:avLst/>
              <a:gdLst/>
              <a:ahLst/>
              <a:cxnLst/>
              <a:rect l="l" t="t" r="r" b="b"/>
              <a:pathLst>
                <a:path w="2408296" h="76045">
                  <a:moveTo>
                    <a:pt x="0" y="0"/>
                  </a:moveTo>
                  <a:lnTo>
                    <a:pt x="2408296" y="0"/>
                  </a:lnTo>
                  <a:lnTo>
                    <a:pt x="2408296" y="76045"/>
                  </a:lnTo>
                  <a:lnTo>
                    <a:pt x="0" y="76045"/>
                  </a:lnTo>
                  <a:close/>
                </a:path>
              </a:pathLst>
            </a:custGeom>
            <a:solidFill>
              <a:srgbClr val="E1AD27"/>
            </a:solidFill>
          </p:spPr>
          <p:txBody>
            <a:bodyPr/>
            <a:lstStyle/>
            <a:p>
              <a:endParaRPr lang="en-RO"/>
            </a:p>
          </p:txBody>
        </p:sp>
        <p:sp>
          <p:nvSpPr>
            <p:cNvPr id="6" name="TextBox 6">
              <a:extLst>
                <a:ext uri="{FF2B5EF4-FFF2-40B4-BE49-F238E27FC236}">
                  <a16:creationId xmlns:a16="http://schemas.microsoft.com/office/drawing/2014/main" id="{474C175F-2539-0CD7-6CE5-00836C9C8349}"/>
                </a:ext>
              </a:extLst>
            </p:cNvPr>
            <p:cNvSpPr txBox="1"/>
            <p:nvPr/>
          </p:nvSpPr>
          <p:spPr>
            <a:xfrm>
              <a:off x="0" y="-38100"/>
              <a:ext cx="2408296" cy="114145"/>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a:extLst>
              <a:ext uri="{FF2B5EF4-FFF2-40B4-BE49-F238E27FC236}">
                <a16:creationId xmlns:a16="http://schemas.microsoft.com/office/drawing/2014/main" id="{34F89815-680E-6D27-FBA2-B8A75744196A}"/>
              </a:ext>
            </a:extLst>
          </p:cNvPr>
          <p:cNvSpPr/>
          <p:nvPr/>
        </p:nvSpPr>
        <p:spPr>
          <a:xfrm>
            <a:off x="15276987" y="190500"/>
            <a:ext cx="2817637" cy="1388327"/>
          </a:xfrm>
          <a:custGeom>
            <a:avLst/>
            <a:gdLst/>
            <a:ahLst/>
            <a:cxnLst/>
            <a:rect l="l" t="t" r="r" b="b"/>
            <a:pathLst>
              <a:path w="2817637" h="1388327">
                <a:moveTo>
                  <a:pt x="0" y="0"/>
                </a:moveTo>
                <a:lnTo>
                  <a:pt x="2817637" y="0"/>
                </a:lnTo>
                <a:lnTo>
                  <a:pt x="2817637" y="1388327"/>
                </a:lnTo>
                <a:lnTo>
                  <a:pt x="0" y="138832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RO"/>
          </a:p>
        </p:txBody>
      </p:sp>
      <p:sp>
        <p:nvSpPr>
          <p:cNvPr id="8" name="Rectangle 7">
            <a:extLst>
              <a:ext uri="{FF2B5EF4-FFF2-40B4-BE49-F238E27FC236}">
                <a16:creationId xmlns:a16="http://schemas.microsoft.com/office/drawing/2014/main" id="{2E3E114D-1004-D374-F52E-7FC212502288}"/>
              </a:ext>
            </a:extLst>
          </p:cNvPr>
          <p:cNvSpPr/>
          <p:nvPr/>
        </p:nvSpPr>
        <p:spPr>
          <a:xfrm>
            <a:off x="7849837" y="4404836"/>
            <a:ext cx="2588326" cy="1938992"/>
          </a:xfrm>
          <a:prstGeom prst="rect">
            <a:avLst/>
          </a:prstGeom>
          <a:noFill/>
        </p:spPr>
        <p:txBody>
          <a:bodyPr wrap="square" lIns="91440" tIns="45720" rIns="91440" bIns="45720">
            <a:spAutoFit/>
          </a:bodyPr>
          <a:lstStyle/>
          <a:p>
            <a:pPr algn="ctr"/>
            <a:r>
              <a:rPr lang="en-US" sz="12000" b="1" cap="none" spc="0" dirty="0">
                <a:ln w="22225">
                  <a:solidFill>
                    <a:schemeClr val="accent2"/>
                  </a:solidFill>
                  <a:prstDash val="solid"/>
                </a:ln>
                <a:solidFill>
                  <a:schemeClr val="accent2">
                    <a:lumMod val="40000"/>
                    <a:lumOff val="60000"/>
                  </a:schemeClr>
                </a:solidFill>
                <a:effectLst/>
              </a:rPr>
              <a:t>B</a:t>
            </a:r>
          </a:p>
        </p:txBody>
      </p:sp>
    </p:spTree>
    <p:extLst>
      <p:ext uri="{BB962C8B-B14F-4D97-AF65-F5344CB8AC3E}">
        <p14:creationId xmlns:p14="http://schemas.microsoft.com/office/powerpoint/2010/main" val="24012812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5F253-F74C-8B20-1BAA-E5E92A27295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EAB0EEB-CBC8-FA27-33DB-0B7020664613}"/>
              </a:ext>
            </a:extLst>
          </p:cNvPr>
          <p:cNvSpPr/>
          <p:nvPr/>
        </p:nvSpPr>
        <p:spPr>
          <a:xfrm>
            <a:off x="13937966" y="3083251"/>
            <a:ext cx="10946941" cy="8896877"/>
          </a:xfrm>
          <a:custGeom>
            <a:avLst/>
            <a:gdLst/>
            <a:ahLst/>
            <a:cxnLst/>
            <a:rect l="l" t="t" r="r" b="b"/>
            <a:pathLst>
              <a:path w="10946941" h="8896877">
                <a:moveTo>
                  <a:pt x="0" y="0"/>
                </a:moveTo>
                <a:lnTo>
                  <a:pt x="10946941" y="0"/>
                </a:lnTo>
                <a:lnTo>
                  <a:pt x="10946941" y="8896877"/>
                </a:lnTo>
                <a:lnTo>
                  <a:pt x="0" y="889687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RO"/>
          </a:p>
        </p:txBody>
      </p:sp>
      <p:sp>
        <p:nvSpPr>
          <p:cNvPr id="3" name="Freeform 3">
            <a:extLst>
              <a:ext uri="{FF2B5EF4-FFF2-40B4-BE49-F238E27FC236}">
                <a16:creationId xmlns:a16="http://schemas.microsoft.com/office/drawing/2014/main" id="{D9BEA1A0-9585-A480-6D73-74EA563B3003}"/>
              </a:ext>
            </a:extLst>
          </p:cNvPr>
          <p:cNvSpPr/>
          <p:nvPr/>
        </p:nvSpPr>
        <p:spPr>
          <a:xfrm>
            <a:off x="-4615041" y="-2057400"/>
            <a:ext cx="5643741" cy="4114800"/>
          </a:xfrm>
          <a:custGeom>
            <a:avLst/>
            <a:gdLst/>
            <a:ahLst/>
            <a:cxnLst/>
            <a:rect l="l" t="t" r="r" b="b"/>
            <a:pathLst>
              <a:path w="5643741" h="4114800">
                <a:moveTo>
                  <a:pt x="0" y="0"/>
                </a:moveTo>
                <a:lnTo>
                  <a:pt x="5643741" y="0"/>
                </a:lnTo>
                <a:lnTo>
                  <a:pt x="5643741"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RO"/>
          </a:p>
        </p:txBody>
      </p:sp>
      <p:grpSp>
        <p:nvGrpSpPr>
          <p:cNvPr id="4" name="Group 4">
            <a:extLst>
              <a:ext uri="{FF2B5EF4-FFF2-40B4-BE49-F238E27FC236}">
                <a16:creationId xmlns:a16="http://schemas.microsoft.com/office/drawing/2014/main" id="{72AD94E1-5C23-93EC-D88F-F9C8895033BB}"/>
              </a:ext>
            </a:extLst>
          </p:cNvPr>
          <p:cNvGrpSpPr/>
          <p:nvPr/>
        </p:nvGrpSpPr>
        <p:grpSpPr>
          <a:xfrm>
            <a:off x="0" y="9998267"/>
            <a:ext cx="9144000" cy="288733"/>
            <a:chOff x="0" y="0"/>
            <a:chExt cx="2408296" cy="76045"/>
          </a:xfrm>
        </p:grpSpPr>
        <p:sp>
          <p:nvSpPr>
            <p:cNvPr id="5" name="Freeform 5">
              <a:extLst>
                <a:ext uri="{FF2B5EF4-FFF2-40B4-BE49-F238E27FC236}">
                  <a16:creationId xmlns:a16="http://schemas.microsoft.com/office/drawing/2014/main" id="{0D3CFEF2-1EB2-2935-C07F-96F7EE78444E}"/>
                </a:ext>
              </a:extLst>
            </p:cNvPr>
            <p:cNvSpPr/>
            <p:nvPr/>
          </p:nvSpPr>
          <p:spPr>
            <a:xfrm>
              <a:off x="0" y="0"/>
              <a:ext cx="2408296" cy="76045"/>
            </a:xfrm>
            <a:custGeom>
              <a:avLst/>
              <a:gdLst/>
              <a:ahLst/>
              <a:cxnLst/>
              <a:rect l="l" t="t" r="r" b="b"/>
              <a:pathLst>
                <a:path w="2408296" h="76045">
                  <a:moveTo>
                    <a:pt x="0" y="0"/>
                  </a:moveTo>
                  <a:lnTo>
                    <a:pt x="2408296" y="0"/>
                  </a:lnTo>
                  <a:lnTo>
                    <a:pt x="2408296" y="76045"/>
                  </a:lnTo>
                  <a:lnTo>
                    <a:pt x="0" y="76045"/>
                  </a:lnTo>
                  <a:close/>
                </a:path>
              </a:pathLst>
            </a:custGeom>
            <a:solidFill>
              <a:srgbClr val="E1AD27"/>
            </a:solidFill>
          </p:spPr>
          <p:txBody>
            <a:bodyPr/>
            <a:lstStyle/>
            <a:p>
              <a:endParaRPr lang="en-RO"/>
            </a:p>
          </p:txBody>
        </p:sp>
        <p:sp>
          <p:nvSpPr>
            <p:cNvPr id="6" name="TextBox 6">
              <a:extLst>
                <a:ext uri="{FF2B5EF4-FFF2-40B4-BE49-F238E27FC236}">
                  <a16:creationId xmlns:a16="http://schemas.microsoft.com/office/drawing/2014/main" id="{9BC640EA-BBAD-2102-5836-528A949065D0}"/>
                </a:ext>
              </a:extLst>
            </p:cNvPr>
            <p:cNvSpPr txBox="1"/>
            <p:nvPr/>
          </p:nvSpPr>
          <p:spPr>
            <a:xfrm>
              <a:off x="0" y="-38100"/>
              <a:ext cx="2408296" cy="114145"/>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a:extLst>
              <a:ext uri="{FF2B5EF4-FFF2-40B4-BE49-F238E27FC236}">
                <a16:creationId xmlns:a16="http://schemas.microsoft.com/office/drawing/2014/main" id="{DF3328D0-F6E3-55D7-7087-D6AEC3C3C4E7}"/>
              </a:ext>
            </a:extLst>
          </p:cNvPr>
          <p:cNvSpPr/>
          <p:nvPr/>
        </p:nvSpPr>
        <p:spPr>
          <a:xfrm>
            <a:off x="15276987" y="190500"/>
            <a:ext cx="2817637" cy="1388327"/>
          </a:xfrm>
          <a:custGeom>
            <a:avLst/>
            <a:gdLst/>
            <a:ahLst/>
            <a:cxnLst/>
            <a:rect l="l" t="t" r="r" b="b"/>
            <a:pathLst>
              <a:path w="2817637" h="1388327">
                <a:moveTo>
                  <a:pt x="0" y="0"/>
                </a:moveTo>
                <a:lnTo>
                  <a:pt x="2817637" y="0"/>
                </a:lnTo>
                <a:lnTo>
                  <a:pt x="2817637" y="1388327"/>
                </a:lnTo>
                <a:lnTo>
                  <a:pt x="0" y="138832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RO"/>
          </a:p>
        </p:txBody>
      </p:sp>
      <p:sp>
        <p:nvSpPr>
          <p:cNvPr id="8" name="Content Placeholder 11">
            <a:extLst>
              <a:ext uri="{FF2B5EF4-FFF2-40B4-BE49-F238E27FC236}">
                <a16:creationId xmlns:a16="http://schemas.microsoft.com/office/drawing/2014/main" id="{52CD12F8-0AC0-F689-6F97-D59C9EC98FA3}"/>
              </a:ext>
            </a:extLst>
          </p:cNvPr>
          <p:cNvSpPr>
            <a:spLocks noGrp="1"/>
          </p:cNvSpPr>
          <p:nvPr/>
        </p:nvSpPr>
        <p:spPr>
          <a:xfrm>
            <a:off x="4572000" y="4238097"/>
            <a:ext cx="7300919" cy="3029477"/>
          </a:xfrm>
          <a:prstGeom prst="rect">
            <a:avLst/>
          </a:prstGeom>
        </p:spPr>
        <p:txBody>
          <a:bodyPr vert="horz" lIns="34290" tIns="17145" rIns="34290" bIns="17145" rtlCol="0" anchor="t">
            <a:normAutofit/>
          </a:bodyPr>
          <a:lstStyle>
            <a:defPPr>
              <a:defRPr lang="en-US"/>
            </a:defPPr>
            <a:lvl1pPr marL="0" indent="-3429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1pPr>
            <a:lvl2pPr marL="228600" indent="-28575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2pPr>
            <a:lvl3pPr marL="4572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3pPr>
            <a:lvl4pPr marL="6858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4pPr>
            <a:lvl5pPr marL="9144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5pPr>
            <a:lvl6pPr marL="11430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6pPr>
            <a:lvl7pPr marL="13716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7pPr>
            <a:lvl8pPr marL="16002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8pPr>
            <a:lvl9pPr marL="18288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9pPr>
          </a:lstStyle>
          <a:p>
            <a:pPr indent="0">
              <a:buNone/>
            </a:pPr>
            <a:r>
              <a:rPr lang="en-GB" sz="3200" dirty="0">
                <a:ea typeface="Calibri"/>
                <a:cs typeface="Calibri"/>
              </a:rPr>
              <a:t>Build chain</a:t>
            </a:r>
          </a:p>
          <a:p>
            <a:pPr marL="342900">
              <a:buFont typeface="+mj-lt"/>
              <a:buAutoNum type="arabicPeriod"/>
            </a:pPr>
            <a:r>
              <a:rPr lang="en-US" sz="3200" dirty="0"/>
              <a:t>Preprocessor</a:t>
            </a:r>
          </a:p>
          <a:p>
            <a:pPr marL="342900">
              <a:buFont typeface="+mj-lt"/>
              <a:buAutoNum type="arabicPeriod"/>
            </a:pPr>
            <a:r>
              <a:rPr lang="en-US" sz="3200" dirty="0"/>
              <a:t>Compiler</a:t>
            </a:r>
          </a:p>
          <a:p>
            <a:pPr marL="342900">
              <a:buFont typeface="+mj-lt"/>
              <a:buAutoNum type="arabicPeriod"/>
            </a:pPr>
            <a:r>
              <a:rPr lang="en-US" sz="3200" dirty="0"/>
              <a:t>Assembler</a:t>
            </a:r>
          </a:p>
          <a:p>
            <a:pPr marL="342900">
              <a:buFont typeface="+mj-lt"/>
              <a:buAutoNum type="arabicPeriod"/>
            </a:pPr>
            <a:r>
              <a:rPr lang="en-US" sz="3200" dirty="0"/>
              <a:t>Linker</a:t>
            </a:r>
            <a:endParaRPr lang="en-GB" sz="3200" dirty="0">
              <a:ea typeface="Calibri"/>
              <a:cs typeface="Calibri"/>
            </a:endParaRPr>
          </a:p>
          <a:p>
            <a:pPr marL="285750" indent="-285750"/>
            <a:endParaRPr lang="en-GB" sz="1800" dirty="0">
              <a:ea typeface="Calibri"/>
              <a:cs typeface="Calibri"/>
            </a:endParaRPr>
          </a:p>
        </p:txBody>
      </p:sp>
      <p:sp>
        <p:nvSpPr>
          <p:cNvPr id="23" name="Arc 22">
            <a:extLst>
              <a:ext uri="{FF2B5EF4-FFF2-40B4-BE49-F238E27FC236}">
                <a16:creationId xmlns:a16="http://schemas.microsoft.com/office/drawing/2014/main" id="{A5E47D1F-479F-F3A7-7B0C-FE8DC28C5732}"/>
              </a:ext>
            </a:extLst>
          </p:cNvPr>
          <p:cNvSpPr/>
          <p:nvPr/>
        </p:nvSpPr>
        <p:spPr>
          <a:xfrm rot="5400000">
            <a:off x="6867797" y="5133706"/>
            <a:ext cx="455378" cy="474972"/>
          </a:xfrm>
          <a:prstGeom prst="arc">
            <a:avLst>
              <a:gd name="adj1" fmla="val 10800000"/>
              <a:gd name="adj2" fmla="val 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Arc 23">
            <a:extLst>
              <a:ext uri="{FF2B5EF4-FFF2-40B4-BE49-F238E27FC236}">
                <a16:creationId xmlns:a16="http://schemas.microsoft.com/office/drawing/2014/main" id="{D74B3C98-DC42-21DA-1429-E195BC8218EC}"/>
              </a:ext>
            </a:extLst>
          </p:cNvPr>
          <p:cNvSpPr/>
          <p:nvPr/>
        </p:nvSpPr>
        <p:spPr>
          <a:xfrm rot="5400000">
            <a:off x="6867799" y="5774149"/>
            <a:ext cx="455376" cy="474972"/>
          </a:xfrm>
          <a:prstGeom prst="arc">
            <a:avLst>
              <a:gd name="adj1" fmla="val 10800000"/>
              <a:gd name="adj2" fmla="val 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Arc 24">
            <a:extLst>
              <a:ext uri="{FF2B5EF4-FFF2-40B4-BE49-F238E27FC236}">
                <a16:creationId xmlns:a16="http://schemas.microsoft.com/office/drawing/2014/main" id="{AD160253-ECA6-18DC-03A4-BD8B2FD1E28C}"/>
              </a:ext>
            </a:extLst>
          </p:cNvPr>
          <p:cNvSpPr/>
          <p:nvPr/>
        </p:nvSpPr>
        <p:spPr>
          <a:xfrm rot="5400000">
            <a:off x="6867798" y="6414593"/>
            <a:ext cx="455376" cy="474972"/>
          </a:xfrm>
          <a:prstGeom prst="arc">
            <a:avLst>
              <a:gd name="adj1" fmla="val 10800000"/>
              <a:gd name="adj2" fmla="val 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2194793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2A367-1636-5416-4DDB-7F86E749EB1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DCEF966-9C26-E870-8C5A-C8AE26908859}"/>
              </a:ext>
            </a:extLst>
          </p:cNvPr>
          <p:cNvSpPr/>
          <p:nvPr/>
        </p:nvSpPr>
        <p:spPr>
          <a:xfrm>
            <a:off x="13937966" y="3083251"/>
            <a:ext cx="10946941" cy="8896877"/>
          </a:xfrm>
          <a:custGeom>
            <a:avLst/>
            <a:gdLst/>
            <a:ahLst/>
            <a:cxnLst/>
            <a:rect l="l" t="t" r="r" b="b"/>
            <a:pathLst>
              <a:path w="10946941" h="8896877">
                <a:moveTo>
                  <a:pt x="0" y="0"/>
                </a:moveTo>
                <a:lnTo>
                  <a:pt x="10946941" y="0"/>
                </a:lnTo>
                <a:lnTo>
                  <a:pt x="10946941" y="8896877"/>
                </a:lnTo>
                <a:lnTo>
                  <a:pt x="0" y="88968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RO"/>
          </a:p>
        </p:txBody>
      </p:sp>
      <p:sp>
        <p:nvSpPr>
          <p:cNvPr id="3" name="Freeform 3">
            <a:extLst>
              <a:ext uri="{FF2B5EF4-FFF2-40B4-BE49-F238E27FC236}">
                <a16:creationId xmlns:a16="http://schemas.microsoft.com/office/drawing/2014/main" id="{EE49F26D-3509-AF80-66EB-B04197C48999}"/>
              </a:ext>
            </a:extLst>
          </p:cNvPr>
          <p:cNvSpPr/>
          <p:nvPr/>
        </p:nvSpPr>
        <p:spPr>
          <a:xfrm>
            <a:off x="-4615041" y="-2057400"/>
            <a:ext cx="5643741" cy="4114800"/>
          </a:xfrm>
          <a:custGeom>
            <a:avLst/>
            <a:gdLst/>
            <a:ahLst/>
            <a:cxnLst/>
            <a:rect l="l" t="t" r="r" b="b"/>
            <a:pathLst>
              <a:path w="5643741" h="4114800">
                <a:moveTo>
                  <a:pt x="0" y="0"/>
                </a:moveTo>
                <a:lnTo>
                  <a:pt x="5643741" y="0"/>
                </a:lnTo>
                <a:lnTo>
                  <a:pt x="564374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RO"/>
          </a:p>
        </p:txBody>
      </p:sp>
      <p:grpSp>
        <p:nvGrpSpPr>
          <p:cNvPr id="4" name="Group 4">
            <a:extLst>
              <a:ext uri="{FF2B5EF4-FFF2-40B4-BE49-F238E27FC236}">
                <a16:creationId xmlns:a16="http://schemas.microsoft.com/office/drawing/2014/main" id="{01FAFC0F-2689-C34D-16F9-CB5D082D50AD}"/>
              </a:ext>
            </a:extLst>
          </p:cNvPr>
          <p:cNvGrpSpPr/>
          <p:nvPr/>
        </p:nvGrpSpPr>
        <p:grpSpPr>
          <a:xfrm>
            <a:off x="0" y="9998267"/>
            <a:ext cx="9144000" cy="288733"/>
            <a:chOff x="0" y="0"/>
            <a:chExt cx="2408296" cy="76045"/>
          </a:xfrm>
        </p:grpSpPr>
        <p:sp>
          <p:nvSpPr>
            <p:cNvPr id="5" name="Freeform 5">
              <a:extLst>
                <a:ext uri="{FF2B5EF4-FFF2-40B4-BE49-F238E27FC236}">
                  <a16:creationId xmlns:a16="http://schemas.microsoft.com/office/drawing/2014/main" id="{8E2F74E8-2B32-45F7-C040-80844A04FFF8}"/>
                </a:ext>
              </a:extLst>
            </p:cNvPr>
            <p:cNvSpPr/>
            <p:nvPr/>
          </p:nvSpPr>
          <p:spPr>
            <a:xfrm>
              <a:off x="0" y="0"/>
              <a:ext cx="2408296" cy="76045"/>
            </a:xfrm>
            <a:custGeom>
              <a:avLst/>
              <a:gdLst/>
              <a:ahLst/>
              <a:cxnLst/>
              <a:rect l="l" t="t" r="r" b="b"/>
              <a:pathLst>
                <a:path w="2408296" h="76045">
                  <a:moveTo>
                    <a:pt x="0" y="0"/>
                  </a:moveTo>
                  <a:lnTo>
                    <a:pt x="2408296" y="0"/>
                  </a:lnTo>
                  <a:lnTo>
                    <a:pt x="2408296" y="76045"/>
                  </a:lnTo>
                  <a:lnTo>
                    <a:pt x="0" y="76045"/>
                  </a:lnTo>
                  <a:close/>
                </a:path>
              </a:pathLst>
            </a:custGeom>
            <a:solidFill>
              <a:srgbClr val="E1AD27"/>
            </a:solidFill>
          </p:spPr>
          <p:txBody>
            <a:bodyPr/>
            <a:lstStyle/>
            <a:p>
              <a:endParaRPr lang="en-RO"/>
            </a:p>
          </p:txBody>
        </p:sp>
        <p:sp>
          <p:nvSpPr>
            <p:cNvPr id="6" name="TextBox 6">
              <a:extLst>
                <a:ext uri="{FF2B5EF4-FFF2-40B4-BE49-F238E27FC236}">
                  <a16:creationId xmlns:a16="http://schemas.microsoft.com/office/drawing/2014/main" id="{51883AA8-A2BC-B774-9E22-C4AC990ACBBC}"/>
                </a:ext>
              </a:extLst>
            </p:cNvPr>
            <p:cNvSpPr txBox="1"/>
            <p:nvPr/>
          </p:nvSpPr>
          <p:spPr>
            <a:xfrm>
              <a:off x="0" y="-38100"/>
              <a:ext cx="2408296" cy="114145"/>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a:extLst>
              <a:ext uri="{FF2B5EF4-FFF2-40B4-BE49-F238E27FC236}">
                <a16:creationId xmlns:a16="http://schemas.microsoft.com/office/drawing/2014/main" id="{8B0EA98A-8607-74D4-7685-CE281CA21FE5}"/>
              </a:ext>
            </a:extLst>
          </p:cNvPr>
          <p:cNvSpPr/>
          <p:nvPr/>
        </p:nvSpPr>
        <p:spPr>
          <a:xfrm>
            <a:off x="15276987" y="190500"/>
            <a:ext cx="2817637" cy="1388327"/>
          </a:xfrm>
          <a:custGeom>
            <a:avLst/>
            <a:gdLst/>
            <a:ahLst/>
            <a:cxnLst/>
            <a:rect l="l" t="t" r="r" b="b"/>
            <a:pathLst>
              <a:path w="2817637" h="1388327">
                <a:moveTo>
                  <a:pt x="0" y="0"/>
                </a:moveTo>
                <a:lnTo>
                  <a:pt x="2817637" y="0"/>
                </a:lnTo>
                <a:lnTo>
                  <a:pt x="2817637" y="1388327"/>
                </a:lnTo>
                <a:lnTo>
                  <a:pt x="0" y="138832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RO"/>
          </a:p>
        </p:txBody>
      </p:sp>
      <p:sp>
        <p:nvSpPr>
          <p:cNvPr id="8" name="Content Placeholder 11">
            <a:extLst>
              <a:ext uri="{FF2B5EF4-FFF2-40B4-BE49-F238E27FC236}">
                <a16:creationId xmlns:a16="http://schemas.microsoft.com/office/drawing/2014/main" id="{D0A921EE-1248-2581-6841-593B50BD5F97}"/>
              </a:ext>
            </a:extLst>
          </p:cNvPr>
          <p:cNvSpPr>
            <a:spLocks noGrp="1"/>
          </p:cNvSpPr>
          <p:nvPr/>
        </p:nvSpPr>
        <p:spPr>
          <a:xfrm>
            <a:off x="4572000" y="4238097"/>
            <a:ext cx="7300919" cy="1743603"/>
          </a:xfrm>
          <a:prstGeom prst="rect">
            <a:avLst/>
          </a:prstGeom>
        </p:spPr>
        <p:txBody>
          <a:bodyPr vert="horz" lIns="34290" tIns="17145" rIns="34290" bIns="17145" rtlCol="0" anchor="ctr">
            <a:normAutofit/>
          </a:bodyPr>
          <a:lstStyle>
            <a:defPPr>
              <a:defRPr lang="en-US"/>
            </a:defPPr>
            <a:lvl1pPr marL="0" indent="-3429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1pPr>
            <a:lvl2pPr marL="228600" indent="-28575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2pPr>
            <a:lvl3pPr marL="4572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3pPr>
            <a:lvl4pPr marL="6858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4pPr>
            <a:lvl5pPr marL="9144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5pPr>
            <a:lvl6pPr marL="11430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6pPr>
            <a:lvl7pPr marL="13716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7pPr>
            <a:lvl8pPr marL="16002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8pPr>
            <a:lvl9pPr marL="1828800" indent="-228600" algn="l" defTabSz="457200" rtl="0" eaLnBrk="1" latinLnBrk="0" hangingPunct="1">
              <a:spcBef>
                <a:spcPct val="20000"/>
              </a:spcBef>
              <a:buFont typeface="Arial" pitchFamily="34" charset="0"/>
              <a:buChar char="•"/>
              <a:defRPr sz="900" kern="1200">
                <a:solidFill>
                  <a:schemeClr val="tx1"/>
                </a:solidFill>
                <a:latin typeface="+mn-lt"/>
                <a:ea typeface="+mn-ea"/>
                <a:cs typeface="+mn-cs"/>
              </a:defRPr>
            </a:lvl9pPr>
          </a:lstStyle>
          <a:p>
            <a:pPr indent="0" algn="ctr">
              <a:buNone/>
            </a:pPr>
            <a:r>
              <a:rPr lang="en-US" sz="5000" dirty="0">
                <a:latin typeface="Calibri"/>
                <a:ea typeface="Calibri"/>
                <a:cs typeface="Calibri"/>
              </a:rPr>
              <a:t>Thank you!</a:t>
            </a:r>
            <a:endParaRPr lang="en-GB" sz="5000" dirty="0">
              <a:latin typeface="Calibri"/>
              <a:ea typeface="Calibri"/>
              <a:cs typeface="Calibri"/>
            </a:endParaRPr>
          </a:p>
        </p:txBody>
      </p:sp>
    </p:spTree>
    <p:extLst>
      <p:ext uri="{BB962C8B-B14F-4D97-AF65-F5344CB8AC3E}">
        <p14:creationId xmlns:p14="http://schemas.microsoft.com/office/powerpoint/2010/main" val="1918684742"/>
      </p:ext>
    </p:extLst>
  </p:cSld>
  <p:clrMapOvr>
    <a:masterClrMapping/>
  </p:clrMapOvr>
</p:sld>
</file>

<file path=ppt/theme/theme1.xml><?xml version="1.0" encoding="utf-8"?>
<a:theme xmlns:a="http://schemas.openxmlformats.org/drawingml/2006/main" name="Office Theme">
  <a:themeElements>
    <a:clrScheme name="CLH_LOGO">
      <a:dk1>
        <a:sysClr val="windowText" lastClr="000000"/>
      </a:dk1>
      <a:lt1>
        <a:sysClr val="window" lastClr="FFFFFF"/>
      </a:lt1>
      <a:dk2>
        <a:srgbClr val="1F497D"/>
      </a:dk2>
      <a:lt2>
        <a:srgbClr val="EEECE1"/>
      </a:lt2>
      <a:accent1>
        <a:srgbClr val="E0AD2E"/>
      </a:accent1>
      <a:accent2>
        <a:srgbClr val="EECF6A"/>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3313</TotalTime>
  <Words>1682</Words>
  <Application>Microsoft Office PowerPoint</Application>
  <PresentationFormat>Custom</PresentationFormat>
  <Paragraphs>303</Paragraphs>
  <Slides>17</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Poppins Bold</vt:lpstr>
      <vt:lpstr>Roboto Slab</vt:lpstr>
      <vt:lpstr>Wingdings</vt:lpstr>
      <vt:lpstr>Aptos</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IDPS</dc:title>
  <cp:lastModifiedBy>Iosif Eugen</cp:lastModifiedBy>
  <cp:revision>37</cp:revision>
  <dcterms:created xsi:type="dcterms:W3CDTF">2006-08-16T00:00:00Z</dcterms:created>
  <dcterms:modified xsi:type="dcterms:W3CDTF">2026-03-06T21:46:17Z</dcterms:modified>
  <dc:identifier>DAGCdlFyf5Y</dc:identifier>
</cp:coreProperties>
</file>