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90" r:id="rId3"/>
    <p:sldId id="287" r:id="rId4"/>
    <p:sldId id="294" r:id="rId5"/>
    <p:sldId id="296" r:id="rId6"/>
    <p:sldId id="297" r:id="rId7"/>
    <p:sldId id="298" r:id="rId8"/>
    <p:sldId id="301" r:id="rId9"/>
    <p:sldId id="303" r:id="rId10"/>
    <p:sldId id="304" r:id="rId11"/>
    <p:sldId id="306" r:id="rId12"/>
    <p:sldId id="299" r:id="rId13"/>
    <p:sldId id="300" r:id="rId14"/>
    <p:sldId id="307" r:id="rId15"/>
    <p:sldId id="308" r:id="rId16"/>
    <p:sldId id="309" r:id="rId17"/>
    <p:sldId id="295" r:id="rId18"/>
    <p:sldId id="291" r:id="rId19"/>
    <p:sldId id="310" r:id="rId20"/>
  </p:sldIdLst>
  <p:sldSz cx="18288000" cy="10287000"/>
  <p:notesSz cx="6858000" cy="9144000"/>
  <p:embeddedFontLst>
    <p:embeddedFont>
      <p:font typeface="Aptos Narrow" panose="020B0004020202020204" pitchFamily="34" charset="0"/>
      <p:regular r:id="rId22"/>
      <p:bold r:id="rId23"/>
      <p:italic r:id="rId24"/>
      <p:boldItalic r:id="rId25"/>
    </p:embeddedFont>
    <p:embeddedFont>
      <p:font typeface="Consolas" panose="020B0609020204030204" pitchFamily="49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E51"/>
    <a:srgbClr val="CAAB42"/>
    <a:srgbClr val="C2A43F"/>
    <a:srgbClr val="F3CD50"/>
    <a:srgbClr val="F0D165"/>
    <a:srgbClr val="E1AD27"/>
    <a:srgbClr val="E9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8" autoAdjust="0"/>
    <p:restoredTop sz="81450" autoAdjust="0"/>
  </p:normalViewPr>
  <p:slideViewPr>
    <p:cSldViewPr>
      <p:cViewPr varScale="1">
        <p:scale>
          <a:sx n="85" d="100"/>
          <a:sy n="85" d="100"/>
        </p:scale>
        <p:origin x="1782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CA709B2B-A38F-4CF5-91CA-35B81FBA853F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FBD3ABC-CF0F-42F9-B775-725C472B46F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06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31F3-60B2-965F-49F4-A6E6219C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89DA4-0959-0AF8-08EA-382E23CF5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7E278-6435-2C07-E5B0-078AC4F8A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577DF-BB2C-970D-A24A-113C7DBB7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50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77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5DE3-D97D-F6A1-3EAE-B3D600B3B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D20BC-5D75-329C-B4D1-6BA935D23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59407-4B8F-14A7-3EC3-EC898AD4F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963CE-A3B1-CBA9-993E-1EECDF371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38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C0C0D-5C4D-FC82-ECDE-BC4A5FFA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C9F23-DA73-2122-9C0F-8DCA78057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83686-4CA6-D3FA-5BE6-121064F98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F9F31-38E8-B790-CD6E-C85510A92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6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7718-9B83-083D-FBC5-2B2FB45AC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4B7A5-10D8-7745-EFDD-252127051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E3729-200F-0E9C-6E76-EDEACCB80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0D273-CC11-30FE-24EE-9DAD7D157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3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56FBE-8979-37AD-3F0C-FF23590AC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B5E35-F36A-C644-EE7D-8CC22EB7E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D9CD0-015F-D332-6EE5-35038187F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702CA-10DF-069B-9213-C2AB6E616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88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A4CF9-E20D-0464-2376-74971F3BA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5750D-80BB-F38B-07C5-A1570F290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F213E-0EB5-B0CB-47A2-82F11111D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8895E-C63C-96C8-823D-3E66C8BA5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98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8AD7-7672-CB90-68C8-A5C0C2D7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A9CA8-A320-D484-C3A3-6F4E3F339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04BFF-87AA-605E-67D5-8E8DCE482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Oversampling (16) – check in the middle – check at 6 8 and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1B252-A180-7D6E-C411-1142B1A7B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30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F3E97-F2FC-88A8-06CD-433E1D13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C8E59-DF1D-7C2E-0991-FA76A821A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2A2B3-CFC1-0472-2856-813B10C21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UART relies on a start-stop protocol. Because there is no shared clock, both devices must oscillate at a frequency within a ~2% tolerance of each other to avoid bit-drift.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Frame Structure: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A standard frame consists of 1 Start Bit (low), 5–9 Data Bits, an optional Parity Bit (for error checking), and 1–2 Stop Bits (high).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Baud Rate Generation: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The MCU uses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Baud Rate Generator (BRG)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—essentially a frequency divider that taps off the system clock ($f_{sys}$).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Sampling: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The receiver typically oversamples the incoming line at 16x the baud rate. It looks for the high-to-low transition of the Start Bit and then samples at the 8th clock pulse of every bit-period to ensure it hits the center of the data bit where the signal is most stable.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7FBD1-F2CF-2C4D-06FD-B3A01C26E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26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C28FF-996E-7319-4359-EB8733DE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BCAE4-C4E9-6C8A-52F4-E8B24612E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85685-EFAF-699E-AC29-07AA969D4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https://www.ti.com/lit/an/sloa101b/sloa101b.pdf?ts=1775019890412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1C05C-9384-96AB-004C-D8E4D9C6F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83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10739-8083-C2CA-DA2C-5CFFA99D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59AB2-CA27-2BCA-70F9-B8EDC0E88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01719-D684-AD2B-97F2-E340A595E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18D56-E656-CD28-3E48-744778DB4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84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665F2-3FEE-7ABF-3BA1-A1CA811FA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B2500-490E-B1F5-7623-4CF469408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78626-78B6-8A02-6775-0B25E6515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41DF2-E4B4-87B0-E63E-E4892E926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4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07AC-77CE-217A-0072-B6874C54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ADE40-CEEB-2320-2677-9AB97C523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9921E-BCC1-A5F4-19C6-C7267D921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A3328-2A41-F6F3-5E28-5580009C6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38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CABD-28DE-494A-B726-3F2F32BF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D232A-8D0A-92C1-EB5A-6456B4216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C7611-EA6B-F1C0-5D40-5818D1EC6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643C5-DF78-A090-23B3-295DCFC87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84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CE536-AE77-1E2F-DBA9-5D604AAED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8EAC0-C9D4-BF47-78AE-3B6A15858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9EABB-FC7E-4890-94AC-B01523CDC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6275C-192F-B024-92F8-372DA8C90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71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5B91B-83CC-8F5E-3CB3-D3DA00EB5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2E92A-2778-4E2B-B0FC-485FBE57C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DFAF2-D804-EA6F-E33F-70B71A0BD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DA39C-2189-1FB4-E89B-C05A61F66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122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A8884-58F0-8CAF-80D6-B4CE3BD1E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4824B-D281-9D33-5680-F3FC346B7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D3D56-A337-9918-A97F-C438CC6AF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28D21-9276-45DB-58A8-57720A5A1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628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C0C6-4727-C906-4893-F9D2E71C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5223E-DB28-FC70-1094-28F168834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A598E-113D-E555-4013-7488F655E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9492B-15AC-BDE0-195D-1C5769B49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D3ABC-CF0F-42F9-B775-725C472B46F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22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53278" y="2615657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3243554" y="-1718684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828800" y="2396116"/>
            <a:ext cx="7315200" cy="3604399"/>
          </a:xfrm>
          <a:custGeom>
            <a:avLst/>
            <a:gdLst/>
            <a:ahLst/>
            <a:cxnLst/>
            <a:rect l="l" t="t" r="r" b="b"/>
            <a:pathLst>
              <a:path w="7315200" h="3604399">
                <a:moveTo>
                  <a:pt x="0" y="0"/>
                </a:moveTo>
                <a:lnTo>
                  <a:pt x="7315200" y="0"/>
                </a:lnTo>
                <a:lnTo>
                  <a:pt x="7315200" y="3604399"/>
                </a:lnTo>
                <a:lnTo>
                  <a:pt x="0" y="3604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TextBox 8"/>
          <p:cNvSpPr txBox="1"/>
          <p:nvPr/>
        </p:nvSpPr>
        <p:spPr>
          <a:xfrm>
            <a:off x="2228216" y="6154626"/>
            <a:ext cx="6915784" cy="50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699" b="1" dirty="0">
                <a:solidFill>
                  <a:srgbClr val="1D1D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oppins Bold"/>
              </a:rPr>
              <a:t>Your partner for vehicle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4443-9CC5-F300-434F-7DA8E5981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B425A0-35D2-9DA5-4AE7-75F5F2565502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7ABDD87-6159-9640-B8E3-EA39E909B94E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0993115-90CF-3D3A-7D32-6C33D06D5585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459B471-F94A-9D6B-2ECE-882C3C0AEC1E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24BBCE3-14E3-D618-6538-289D63F96206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2947B03-F598-9FF2-D2D1-B0DF86BEC281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C9917B18-A902-ADEB-2079-89698FAC394E}"/>
              </a:ext>
            </a:extLst>
          </p:cNvPr>
          <p:cNvSpPr>
            <a:spLocks noGrp="1"/>
          </p:cNvSpPr>
          <p:nvPr/>
        </p:nvSpPr>
        <p:spPr>
          <a:xfrm>
            <a:off x="5493540" y="5143500"/>
            <a:ext cx="7300919" cy="2060249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dirty="0"/>
              <a:t>In an embedded system, communication isn't just an "extra feature"—it is the “nervous system” that allows the controller to interact with the </a:t>
            </a:r>
            <a:r>
              <a:rPr lang="en-US" sz="1800" b="1" dirty="0"/>
              <a:t>physical world</a:t>
            </a:r>
            <a:r>
              <a:rPr lang="en-US" sz="1800" dirty="0"/>
              <a:t> and other </a:t>
            </a:r>
            <a:r>
              <a:rPr lang="en-US" sz="1800" b="1" dirty="0"/>
              <a:t>digital entities</a:t>
            </a:r>
            <a:r>
              <a:rPr lang="en-US" sz="1800" dirty="0"/>
              <a:t>.</a:t>
            </a: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7423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10258-52EA-8C5D-CF01-5ECE4EDB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73B4B3-8844-9D53-94B1-DBCFDE3B6FBF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7B852B6-B20A-2EB5-B26A-187AF635C647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9C79ED4-6D67-B1AD-815E-2CF1AA9FC4FD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1F3230C-925D-2693-B282-A3BD7D859107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E3725DD-F968-D21A-999D-986545280F50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2D56A76-703C-CA8B-06B9-253BD309FCD3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D3F46652-30EF-FCAF-0C9B-83BD93BBC4E2}"/>
              </a:ext>
            </a:extLst>
          </p:cNvPr>
          <p:cNvSpPr>
            <a:spLocks noGrp="1"/>
          </p:cNvSpPr>
          <p:nvPr/>
        </p:nvSpPr>
        <p:spPr>
          <a:xfrm>
            <a:off x="5257800" y="5105400"/>
            <a:ext cx="7300919" cy="3029477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dirty="0"/>
              <a:t>Most embedded systems need to gather data from the environment. Sensors (temperature, acceleration, light) and actuators (motors, displays) often use specific communication protocols like </a:t>
            </a:r>
            <a:r>
              <a:rPr lang="en-US" sz="1800" b="1" dirty="0"/>
              <a:t>I</a:t>
            </a:r>
            <a:r>
              <a:rPr lang="en-US" sz="1800" b="1" baseline="30000" dirty="0"/>
              <a:t>2</a:t>
            </a:r>
            <a:r>
              <a:rPr lang="en-US" sz="1800" b="1" dirty="0"/>
              <a:t>C</a:t>
            </a:r>
            <a:r>
              <a:rPr lang="en-US" sz="1800" dirty="0"/>
              <a:t>, </a:t>
            </a:r>
            <a:r>
              <a:rPr lang="en-US" sz="1800" b="1" dirty="0"/>
              <a:t>SPI</a:t>
            </a:r>
            <a:r>
              <a:rPr lang="en-US" sz="1800" dirty="0"/>
              <a:t>, or </a:t>
            </a:r>
            <a:r>
              <a:rPr lang="en-US" sz="1800" b="1" dirty="0"/>
              <a:t>UART</a:t>
            </a:r>
            <a:r>
              <a:rPr lang="en-US" sz="1800" dirty="0"/>
              <a:t> to talk to the main processor.</a:t>
            </a: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505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2F7D6-20DD-0F55-6D51-AE3DA15F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778764-C345-16C7-1104-6C12ADA557FB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160F975-D445-70C8-11D1-CA2A302F33BE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23D2B46-B658-7388-EFAB-390DB371DA40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B45B04C-A4F9-1C82-E881-901B389DC986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CE2DDE1-E21A-C132-CA91-48003C2DC97D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63F5E14-61F2-540D-CC20-0546971496CA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D347FE-7B1C-EF5A-C289-B34D9F46C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514120"/>
              </p:ext>
            </p:extLst>
          </p:nvPr>
        </p:nvGraphicFramePr>
        <p:xfrm>
          <a:off x="5070634" y="2866710"/>
          <a:ext cx="8146732" cy="4553580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2088317">
                  <a:extLst>
                    <a:ext uri="{9D8B030D-6E8A-4147-A177-3AD203B41FA5}">
                      <a16:colId xmlns:a16="http://schemas.microsoft.com/office/drawing/2014/main" val="3218825183"/>
                    </a:ext>
                  </a:extLst>
                </a:gridCol>
                <a:gridCol w="2088317">
                  <a:extLst>
                    <a:ext uri="{9D8B030D-6E8A-4147-A177-3AD203B41FA5}">
                      <a16:colId xmlns:a16="http://schemas.microsoft.com/office/drawing/2014/main" val="165542534"/>
                    </a:ext>
                  </a:extLst>
                </a:gridCol>
                <a:gridCol w="2088317">
                  <a:extLst>
                    <a:ext uri="{9D8B030D-6E8A-4147-A177-3AD203B41FA5}">
                      <a16:colId xmlns:a16="http://schemas.microsoft.com/office/drawing/2014/main" val="1796746332"/>
                    </a:ext>
                  </a:extLst>
                </a:gridCol>
                <a:gridCol w="1881781">
                  <a:extLst>
                    <a:ext uri="{9D8B030D-6E8A-4147-A177-3AD203B41FA5}">
                      <a16:colId xmlns:a16="http://schemas.microsoft.com/office/drawing/2014/main" val="134975332"/>
                    </a:ext>
                  </a:extLst>
                </a:gridCol>
              </a:tblGrid>
              <a:tr h="5732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Protocol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Distance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Speed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Primary Use Case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90519" marT="150865" marB="150865" anchor="ctr"/>
                </a:tc>
                <a:extLst>
                  <a:ext uri="{0D108BD9-81ED-4DB2-BD59-A6C34878D82A}">
                    <a16:rowId xmlns:a16="http://schemas.microsoft.com/office/drawing/2014/main" val="3778964792"/>
                  </a:ext>
                </a:extLst>
              </a:tr>
              <a:tr h="8448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UART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Short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Low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Debugging, GPS modules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90519" marT="150865" marB="150865" anchor="ctr"/>
                </a:tc>
                <a:extLst>
                  <a:ext uri="{0D108BD9-81ED-4DB2-BD59-A6C34878D82A}">
                    <a16:rowId xmlns:a16="http://schemas.microsoft.com/office/drawing/2014/main" val="1114320445"/>
                  </a:ext>
                </a:extLst>
              </a:tr>
              <a:tr h="8448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I2C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Short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Medium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Low-power sensors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90519" marT="150865" marB="150865" anchor="ctr"/>
                </a:tc>
                <a:extLst>
                  <a:ext uri="{0D108BD9-81ED-4DB2-BD59-A6C34878D82A}">
                    <a16:rowId xmlns:a16="http://schemas.microsoft.com/office/drawing/2014/main" val="627381873"/>
                  </a:ext>
                </a:extLst>
              </a:tr>
              <a:tr h="5732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SPI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Short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High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SD cards, Displays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90519" marT="150865" marB="150865" anchor="ctr"/>
                </a:tc>
                <a:extLst>
                  <a:ext uri="{0D108BD9-81ED-4DB2-BD59-A6C34878D82A}">
                    <a16:rowId xmlns:a16="http://schemas.microsoft.com/office/drawing/2014/main" val="1467875778"/>
                  </a:ext>
                </a:extLst>
              </a:tr>
              <a:tr h="8448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CAN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Long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Medium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Automotive, Robotics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90519" marT="150865" marB="150865" anchor="ctr"/>
                </a:tc>
                <a:extLst>
                  <a:ext uri="{0D108BD9-81ED-4DB2-BD59-A6C34878D82A}">
                    <a16:rowId xmlns:a16="http://schemas.microsoft.com/office/drawing/2014/main" val="4012040791"/>
                  </a:ext>
                </a:extLst>
              </a:tr>
              <a:tr h="8448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Ethernet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Long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Very High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113149" marT="150865" marB="150865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Industrial automation, IoT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519" marR="90519" marT="150865" marB="150865" anchor="ctr"/>
                </a:tc>
                <a:extLst>
                  <a:ext uri="{0D108BD9-81ED-4DB2-BD59-A6C34878D82A}">
                    <a16:rowId xmlns:a16="http://schemas.microsoft.com/office/drawing/2014/main" val="1956196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89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902C9-7F4A-25EF-1D64-5E73829C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C3D4C32-BC1D-F670-FD8E-E69709499AD6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53CE823-7920-B734-12D8-0C3E4F2A4023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6547DFF-E3AC-7A61-A652-9BEFA15C66C9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1C0283C-D99D-9DB8-7F5D-4FCA575EC853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018F079-9EB5-B24F-F709-6535518FD28F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77F3FD0-536F-3F2B-ED17-BBB864DA676D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942C3BCF-014F-3AB4-304A-3371F838D904}"/>
              </a:ext>
            </a:extLst>
          </p:cNvPr>
          <p:cNvSpPr>
            <a:spLocks noGrp="1"/>
          </p:cNvSpPr>
          <p:nvPr/>
        </p:nvSpPr>
        <p:spPr>
          <a:xfrm>
            <a:off x="5257800" y="5105400"/>
            <a:ext cx="7300919" cy="3029477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fr-FR" sz="1800" b="1" dirty="0" err="1"/>
              <a:t>Synchronous</a:t>
            </a:r>
            <a:r>
              <a:rPr lang="fr-FR" sz="1800" b="1" dirty="0"/>
              <a:t> </a:t>
            </a:r>
            <a:r>
              <a:rPr lang="fr-FR" sz="1800" dirty="0"/>
              <a:t>vs</a:t>
            </a:r>
            <a:r>
              <a:rPr lang="fr-FR" sz="1800" b="1" dirty="0"/>
              <a:t> </a:t>
            </a:r>
            <a:r>
              <a:rPr lang="fr-FR" sz="1800" b="1" dirty="0" err="1"/>
              <a:t>Asynchronous</a:t>
            </a:r>
            <a:r>
              <a:rPr lang="fr-FR" sz="1800" b="1" dirty="0"/>
              <a:t> </a:t>
            </a:r>
            <a:r>
              <a:rPr lang="fr-FR" sz="1800" dirty="0"/>
              <a:t>communication </a:t>
            </a:r>
            <a:r>
              <a:rPr lang="fr-FR" sz="1800" dirty="0" err="1"/>
              <a:t>protocols</a:t>
            </a:r>
            <a:endParaRPr lang="fr-FR" sz="1800" dirty="0"/>
          </a:p>
          <a:p>
            <a:pPr indent="0" algn="ctr">
              <a:buNone/>
            </a:pPr>
            <a:endParaRPr lang="fr-FR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/>
              <a:t>The fundamental difference between synchronous and asynchronous communication boils down to </a:t>
            </a:r>
            <a:r>
              <a:rPr lang="en-US" sz="1800" b="1" dirty="0"/>
              <a:t>timing</a:t>
            </a:r>
            <a:r>
              <a:rPr lang="en-US" sz="1800" dirty="0"/>
              <a:t>: how do the sender and receiver agree on when a bit of data starts and ends?</a:t>
            </a:r>
          </a:p>
          <a:p>
            <a:pPr indent="0" algn="ctr">
              <a:buNone/>
            </a:pP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486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1621A-1D95-9EAF-B6AB-085FBFAE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74F6D2-62B3-EE8D-D36B-AED9738EDA99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5C71FEB-F158-95A9-8419-277A86DFB62A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2A3ABA1-325F-03EC-A788-A88AA05316B7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EEB3252-0BA2-50A8-1E32-018738620993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7C99EE0-76CD-4B59-E51C-9F8EB8F54620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0864E12-536F-6831-61B8-F654CC7AB586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2572AC-717B-EE87-4529-8EDFC0ADD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259027"/>
              </p:ext>
            </p:extLst>
          </p:nvPr>
        </p:nvGraphicFramePr>
        <p:xfrm>
          <a:off x="5029200" y="2994660"/>
          <a:ext cx="8229600" cy="4297680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2836718">
                  <a:extLst>
                    <a:ext uri="{9D8B030D-6E8A-4147-A177-3AD203B41FA5}">
                      <a16:colId xmlns:a16="http://schemas.microsoft.com/office/drawing/2014/main" val="3698518667"/>
                    </a:ext>
                  </a:extLst>
                </a:gridCol>
                <a:gridCol w="2836718">
                  <a:extLst>
                    <a:ext uri="{9D8B030D-6E8A-4147-A177-3AD203B41FA5}">
                      <a16:colId xmlns:a16="http://schemas.microsoft.com/office/drawing/2014/main" val="61093115"/>
                    </a:ext>
                  </a:extLst>
                </a:gridCol>
                <a:gridCol w="2556164">
                  <a:extLst>
                    <a:ext uri="{9D8B030D-6E8A-4147-A177-3AD203B41FA5}">
                      <a16:colId xmlns:a16="http://schemas.microsoft.com/office/drawing/2014/main" val="962637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Synchronous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Asynchronous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939080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Clock Link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Required (Dedicated wire)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Not required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835567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Data Speed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Fast (Megabits to Gigabits)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Slower (Usually Kilobits)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098002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Complexity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More wires, simpler logic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Fewer wires, complex timing logic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40615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Overhead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Low (Raw data transfer)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High (Start, Stop, Parity bits)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303595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Use Case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High-speed chip-to-chip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Long-distance or simple sensors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332842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00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0C90B-D41E-1ACC-AD3F-22A159ED8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75CCA2-181E-2A8E-4F95-2DADEA82B820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E6FE3B5-3063-E949-236A-3BEA0F437E34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E86C218-030E-D676-20E8-A6F1275A8BB8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E868B23-FBCC-B103-64FC-BEC58060D6D1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3F3898F-4AEE-52C4-0D5E-75251AE45774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1A56C7F-78EF-7945-9A5B-E7FF9537469D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1E8661-E33A-7A1F-62BB-EC107EF7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671077"/>
              </p:ext>
            </p:extLst>
          </p:nvPr>
        </p:nvGraphicFramePr>
        <p:xfrm>
          <a:off x="2286000" y="1798075"/>
          <a:ext cx="11277601" cy="6690850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16911348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73999748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16429782"/>
                    </a:ext>
                  </a:extLst>
                </a:gridCol>
                <a:gridCol w="6400801">
                  <a:extLst>
                    <a:ext uri="{9D8B030D-6E8A-4147-A177-3AD203B41FA5}">
                      <a16:colId xmlns:a16="http://schemas.microsoft.com/office/drawing/2014/main" val="535207542"/>
                    </a:ext>
                  </a:extLst>
                </a:gridCol>
              </a:tblGrid>
              <a:tr h="3259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Protocol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Category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Clock Line?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Description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33338" marT="55564" marB="55564" anchor="ctr"/>
                </a:tc>
                <a:extLst>
                  <a:ext uri="{0D108BD9-81ED-4DB2-BD59-A6C34878D82A}">
                    <a16:rowId xmlns:a16="http://schemas.microsoft.com/office/drawing/2014/main" val="4204051605"/>
                  </a:ext>
                </a:extLst>
              </a:tr>
              <a:tr h="91720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UART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Asynchronous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Uses a pre-configured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Baud Rate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. Relies on Start and Stop bits to frame data.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33338" marT="55564" marB="55564" anchor="ctr"/>
                </a:tc>
                <a:extLst>
                  <a:ext uri="{0D108BD9-81ED-4DB2-BD59-A6C34878D82A}">
                    <a16:rowId xmlns:a16="http://schemas.microsoft.com/office/drawing/2014/main" val="1804491212"/>
                  </a:ext>
                </a:extLst>
              </a:tr>
              <a:tr h="12037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I2C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Synchronous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Yes (SCL)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Uses a Serial Clock (SCL) to synchronize the Serial Data (SDA). Supports multiple devices on the same two wires.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33338" marT="55564" marB="55564" anchor="ctr"/>
                </a:tc>
                <a:extLst>
                  <a:ext uri="{0D108BD9-81ED-4DB2-BD59-A6C34878D82A}">
                    <a16:rowId xmlns:a16="http://schemas.microsoft.com/office/drawing/2014/main" val="2479487366"/>
                  </a:ext>
                </a:extLst>
              </a:tr>
              <a:tr h="120376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SPI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Synchronous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Yes (SCK)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Uses a Serial Clock (SCK) for very high-speed "full-duplex" communication. Requires a chip-select wire for every device.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33338" marT="55564" marB="55564" anchor="ctr"/>
                </a:tc>
                <a:extLst>
                  <a:ext uri="{0D108BD9-81ED-4DB2-BD59-A6C34878D82A}">
                    <a16:rowId xmlns:a16="http://schemas.microsoft.com/office/drawing/2014/main" val="2549746369"/>
                  </a:ext>
                </a:extLst>
              </a:tr>
              <a:tr h="13470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CAN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Asynchronous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No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Uses "bit-stuffing" and precise internal timing to stay synced. Designed for rugged environments like cars.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33338" marT="55564" marB="55564" anchor="ctr"/>
                </a:tc>
                <a:extLst>
                  <a:ext uri="{0D108BD9-81ED-4DB2-BD59-A6C34878D82A}">
                    <a16:rowId xmlns:a16="http://schemas.microsoft.com/office/drawing/2014/main" val="2883144676"/>
                  </a:ext>
                </a:extLst>
              </a:tr>
              <a:tr h="16336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Ethernet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Synchronous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*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Yes/No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41673" marT="55564" marB="5556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Technically "Self-Clocking." It embeds the clock timing into the data signal itself (e.g., using Manchester encoding), so a separate clock wire isn't needed.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338" marR="33338" marT="55564" marB="55564" anchor="ctr"/>
                </a:tc>
                <a:extLst>
                  <a:ext uri="{0D108BD9-81ED-4DB2-BD59-A6C34878D82A}">
                    <a16:rowId xmlns:a16="http://schemas.microsoft.com/office/drawing/2014/main" val="1480538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77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F66E1-6481-0B95-982F-E48C1016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407CD9-BE61-4DC4-6799-11813BA67853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E82BE0C-05E7-71E0-2B48-452B3C0AF615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49F8F63-E338-6421-03D1-BC3E6C15C167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F6E90E3-7380-8A87-0356-70CAC09F2610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FC8AE6D-F9DF-85E7-9EC2-E6D9FBC902B7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AD5EA3F-C105-2168-7239-B1AA8FF85F65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8CDBCD05-D597-58E8-771B-0F5C9629356F}"/>
              </a:ext>
            </a:extLst>
          </p:cNvPr>
          <p:cNvSpPr>
            <a:spLocks noGrp="1"/>
          </p:cNvSpPr>
          <p:nvPr/>
        </p:nvSpPr>
        <p:spPr>
          <a:xfrm>
            <a:off x="5493540" y="3352800"/>
            <a:ext cx="7300919" cy="3581400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GB" sz="1800" b="1" dirty="0">
                <a:latin typeface="Calibri"/>
                <a:ea typeface="Calibri"/>
                <a:cs typeface="Calibri"/>
              </a:rPr>
              <a:t>UART</a:t>
            </a:r>
          </a:p>
          <a:p>
            <a:pPr indent="0" algn="ctr">
              <a:buNone/>
            </a:pPr>
            <a:r>
              <a:rPr lang="en-GB" sz="1800" b="1" dirty="0">
                <a:latin typeface="Calibri"/>
                <a:ea typeface="Calibri"/>
                <a:cs typeface="Calibri"/>
              </a:rPr>
              <a:t> Universal Asynchronous Receiver Transmitter Protocol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UART is a communication protocol that is used for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serial</a:t>
            </a:r>
            <a:r>
              <a:rPr lang="en-US" sz="1800" dirty="0">
                <a:latin typeface="Calibri"/>
                <a:ea typeface="Calibri"/>
                <a:cs typeface="Calibri"/>
              </a:rPr>
              <a:t> communication, using just two wires (Tx and Rx). 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Data format and transmission speeds can be configured with pre-defined values specified in the protocol.</a:t>
            </a:r>
          </a:p>
          <a:p>
            <a:pPr indent="0" algn="ctr">
              <a:buNone/>
            </a:pPr>
            <a:endParaRPr lang="en-GB" sz="1800" b="1" dirty="0"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ea typeface="Calibri"/>
                <a:cs typeface="Calibri"/>
              </a:rPr>
              <a:t>The configuration of UART is done </a:t>
            </a:r>
            <a:r>
              <a:rPr lang="en-US" sz="1800" b="1" dirty="0">
                <a:ea typeface="Calibri"/>
                <a:cs typeface="Calibri"/>
              </a:rPr>
              <a:t>before</a:t>
            </a:r>
            <a:r>
              <a:rPr lang="en-US" sz="1800" dirty="0">
                <a:ea typeface="Calibri"/>
                <a:cs typeface="Calibri"/>
              </a:rPr>
              <a:t> transmission, both connected devices should know the </a:t>
            </a:r>
            <a:r>
              <a:rPr lang="en-US" sz="1800" b="1" dirty="0">
                <a:ea typeface="Calibri"/>
                <a:cs typeface="Calibri"/>
              </a:rPr>
              <a:t>speed </a:t>
            </a:r>
            <a:r>
              <a:rPr lang="en-US" sz="1800" dirty="0">
                <a:ea typeface="Calibri"/>
                <a:cs typeface="Calibri"/>
              </a:rPr>
              <a:t>and </a:t>
            </a:r>
            <a:r>
              <a:rPr lang="en-US" sz="1800" b="1" dirty="0">
                <a:ea typeface="Calibri"/>
                <a:cs typeface="Calibri"/>
              </a:rPr>
              <a:t>data format</a:t>
            </a:r>
            <a:r>
              <a:rPr lang="en-US" sz="1800" dirty="0">
                <a:ea typeface="Calibri"/>
                <a:cs typeface="Calibri"/>
              </a:rPr>
              <a:t> of data transmission!</a:t>
            </a:r>
          </a:p>
          <a:p>
            <a:pPr indent="0" algn="ctr">
              <a:buNone/>
            </a:pP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7995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EA600-22DF-B4CC-08B7-33180AF6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F005D7-DE6C-EC10-689E-A1944FC7B59D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060B29-5B78-2992-D453-2A8976069E31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1ECBE67-8367-03C4-713A-DA90BB552828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E38F8D9-7CE9-2B15-47EE-6A087DD9A2AC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03C1127-5776-B7D1-6D63-9B6E87D0458B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87145C7-DD21-14E8-FE70-9AB7FF2BAB73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B5B8C5-5FC7-DA5C-145B-D60061009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430271"/>
              </p:ext>
            </p:extLst>
          </p:nvPr>
        </p:nvGraphicFramePr>
        <p:xfrm>
          <a:off x="4571998" y="4200832"/>
          <a:ext cx="9144003" cy="1885336"/>
        </p:xfrm>
        <a:graphic>
          <a:graphicData uri="http://schemas.openxmlformats.org/drawingml/2006/table">
            <a:tbl>
              <a:tblPr/>
              <a:tblGrid>
                <a:gridCol w="674883">
                  <a:extLst>
                    <a:ext uri="{9D8B030D-6E8A-4147-A177-3AD203B41FA5}">
                      <a16:colId xmlns:a16="http://schemas.microsoft.com/office/drawing/2014/main" val="2611602416"/>
                    </a:ext>
                  </a:extLst>
                </a:gridCol>
                <a:gridCol w="846912">
                  <a:extLst>
                    <a:ext uri="{9D8B030D-6E8A-4147-A177-3AD203B41FA5}">
                      <a16:colId xmlns:a16="http://schemas.microsoft.com/office/drawing/2014/main" val="2030369591"/>
                    </a:ext>
                  </a:extLst>
                </a:gridCol>
                <a:gridCol w="846912">
                  <a:extLst>
                    <a:ext uri="{9D8B030D-6E8A-4147-A177-3AD203B41FA5}">
                      <a16:colId xmlns:a16="http://schemas.microsoft.com/office/drawing/2014/main" val="151293053"/>
                    </a:ext>
                  </a:extLst>
                </a:gridCol>
                <a:gridCol w="846912">
                  <a:extLst>
                    <a:ext uri="{9D8B030D-6E8A-4147-A177-3AD203B41FA5}">
                      <a16:colId xmlns:a16="http://schemas.microsoft.com/office/drawing/2014/main" val="562643774"/>
                    </a:ext>
                  </a:extLst>
                </a:gridCol>
                <a:gridCol w="846912">
                  <a:extLst>
                    <a:ext uri="{9D8B030D-6E8A-4147-A177-3AD203B41FA5}">
                      <a16:colId xmlns:a16="http://schemas.microsoft.com/office/drawing/2014/main" val="2355434957"/>
                    </a:ext>
                  </a:extLst>
                </a:gridCol>
                <a:gridCol w="846912">
                  <a:extLst>
                    <a:ext uri="{9D8B030D-6E8A-4147-A177-3AD203B41FA5}">
                      <a16:colId xmlns:a16="http://schemas.microsoft.com/office/drawing/2014/main" val="2336453355"/>
                    </a:ext>
                  </a:extLst>
                </a:gridCol>
                <a:gridCol w="846912">
                  <a:extLst>
                    <a:ext uri="{9D8B030D-6E8A-4147-A177-3AD203B41FA5}">
                      <a16:colId xmlns:a16="http://schemas.microsoft.com/office/drawing/2014/main" val="2465996690"/>
                    </a:ext>
                  </a:extLst>
                </a:gridCol>
                <a:gridCol w="846912">
                  <a:extLst>
                    <a:ext uri="{9D8B030D-6E8A-4147-A177-3AD203B41FA5}">
                      <a16:colId xmlns:a16="http://schemas.microsoft.com/office/drawing/2014/main" val="1283580702"/>
                    </a:ext>
                  </a:extLst>
                </a:gridCol>
                <a:gridCol w="846912">
                  <a:extLst>
                    <a:ext uri="{9D8B030D-6E8A-4147-A177-3AD203B41FA5}">
                      <a16:colId xmlns:a16="http://schemas.microsoft.com/office/drawing/2014/main" val="2629493090"/>
                    </a:ext>
                  </a:extLst>
                </a:gridCol>
                <a:gridCol w="846912">
                  <a:extLst>
                    <a:ext uri="{9D8B030D-6E8A-4147-A177-3AD203B41FA5}">
                      <a16:colId xmlns:a16="http://schemas.microsoft.com/office/drawing/2014/main" val="1439432922"/>
                    </a:ext>
                  </a:extLst>
                </a:gridCol>
                <a:gridCol w="846912">
                  <a:extLst>
                    <a:ext uri="{9D8B030D-6E8A-4147-A177-3AD203B41FA5}">
                      <a16:colId xmlns:a16="http://schemas.microsoft.com/office/drawing/2014/main" val="902567047"/>
                    </a:ext>
                  </a:extLst>
                </a:gridCol>
              </a:tblGrid>
              <a:tr h="12445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Start Bit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DataBit</a:t>
                      </a:r>
                      <a:r>
                        <a:rPr lang="en-US" sz="1500" b="0" i="0" u="none" strike="noStrike" dirty="0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 LSB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DataBit 1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DataBit 2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DataBit 3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DataBit 4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DataBit 5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DataBit 6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DataBit 7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Parity Bit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3F3F76"/>
                          </a:solidFill>
                          <a:effectLst/>
                          <a:latin typeface="Aptos Narrow" panose="020B0004020202020204" pitchFamily="34" charset="0"/>
                        </a:rPr>
                        <a:t>End Bit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832615"/>
                  </a:ext>
                </a:extLst>
              </a:tr>
              <a:tr h="2780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3239" marR="13239" marT="1323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3239" marR="13239" marT="1323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3239" marR="13239" marT="1323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3239" marR="13239" marT="1323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3239" marR="13239" marT="132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288655"/>
                  </a:ext>
                </a:extLst>
              </a:tr>
              <a:tr h="3628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9" marR="13239" marT="13239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78570" marR="78570" marT="39285" marB="3928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78570" marR="78570" marT="39285" marB="3928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9" marR="13239" marT="13239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39" marR="13239" marT="13239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599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46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4762-3B7F-ACE6-3D64-86027804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F093F6-29B9-4741-063F-549A1CCB9414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AF1385B-0406-2B81-CAC3-45FBF5AA36DC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927FCD3-3BBF-E5D7-2E25-AE8073D21C7F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D8682E6-CE6C-6548-FFF9-2A6EC3B9C799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BB03257-958C-6C7E-5E25-FE8372F193AD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90B46E4-9241-0F4A-54D6-AF1C706A8499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44B1A6E7-E283-3CF5-36FC-E453E80B4EE9}"/>
              </a:ext>
            </a:extLst>
          </p:cNvPr>
          <p:cNvSpPr>
            <a:spLocks noGrp="1"/>
          </p:cNvSpPr>
          <p:nvPr/>
        </p:nvSpPr>
        <p:spPr>
          <a:xfrm>
            <a:off x="5909070" y="4457700"/>
            <a:ext cx="6469860" cy="1371600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r>
              <a:rPr lang="en-US" sz="1800" b="0" dirty="0">
                <a:effectLst/>
                <a:latin typeface="Consolas" panose="020B0609020204030204" pitchFamily="49" charset="0"/>
              </a:rPr>
              <a:t>  huart1.Init.BaudRate = 115200;</a:t>
            </a:r>
          </a:p>
          <a:p>
            <a:pPr>
              <a:lnSpc>
                <a:spcPts val="1425"/>
              </a:lnSpc>
              <a:buNone/>
            </a:pPr>
            <a:r>
              <a:rPr lang="en-US" sz="1800" b="0" dirty="0">
                <a:effectLst/>
                <a:latin typeface="Consolas" panose="020B0609020204030204" pitchFamily="49" charset="0"/>
              </a:rPr>
              <a:t>  huart1.Init.WordLength = UART_WORDLENGTH_8B;</a:t>
            </a:r>
          </a:p>
          <a:p>
            <a:pPr>
              <a:lnSpc>
                <a:spcPts val="1425"/>
              </a:lnSpc>
              <a:buNone/>
            </a:pPr>
            <a:r>
              <a:rPr lang="en-US" sz="1800" b="0" dirty="0">
                <a:effectLst/>
                <a:latin typeface="Consolas" panose="020B0609020204030204" pitchFamily="49" charset="0"/>
              </a:rPr>
              <a:t>  huart1.Init.StopBits = UART_STOPBITS_1;</a:t>
            </a:r>
          </a:p>
          <a:p>
            <a:pPr>
              <a:lnSpc>
                <a:spcPts val="1425"/>
              </a:lnSpc>
              <a:buNone/>
            </a:pPr>
            <a:r>
              <a:rPr lang="en-US" sz="1800" b="0" dirty="0">
                <a:effectLst/>
                <a:latin typeface="Consolas" panose="020B0609020204030204" pitchFamily="49" charset="0"/>
              </a:rPr>
              <a:t>  huart1.Init.Parity = UART_PARITY_NONE;</a:t>
            </a:r>
          </a:p>
          <a:p>
            <a:pPr>
              <a:lnSpc>
                <a:spcPts val="1425"/>
              </a:lnSpc>
              <a:buNone/>
            </a:pPr>
            <a:r>
              <a:rPr lang="en-US" sz="1800" b="0" dirty="0">
                <a:effectLst/>
                <a:latin typeface="Consolas" panose="020B0609020204030204" pitchFamily="49" charset="0"/>
              </a:rPr>
              <a:t>  huart1.Init.Mode = UART_MODE_TX_RX;</a:t>
            </a:r>
          </a:p>
          <a:p>
            <a:pPr>
              <a:lnSpc>
                <a:spcPts val="1425"/>
              </a:lnSpc>
              <a:buNone/>
            </a:pPr>
            <a:r>
              <a:rPr lang="en-US" sz="1800" b="0" dirty="0">
                <a:effectLst/>
                <a:latin typeface="Consolas" panose="020B0609020204030204" pitchFamily="49" charset="0"/>
              </a:rPr>
              <a:t>  huart1.Init.OverSampling = UART_OVERSAMPLING_16;</a:t>
            </a:r>
          </a:p>
        </p:txBody>
      </p:sp>
    </p:spTree>
    <p:extLst>
      <p:ext uri="{BB962C8B-B14F-4D97-AF65-F5344CB8AC3E}">
        <p14:creationId xmlns:p14="http://schemas.microsoft.com/office/powerpoint/2010/main" val="2508762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A70C1-31A4-245C-BF73-7EA5D0A45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FCBC50-FC95-2BD2-0D59-E10AB58106E2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F0373EF-30F1-BDDD-6B24-5B459592C9FE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E678AB6-5942-4ED0-22FB-3F9510C805CC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9CD517D-2DA9-0589-CFA2-6FB332C65A67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808AAB6-44AE-8380-65C0-19889D972CAE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BB3A0F1-4099-E4A2-F04E-9AC10DB25592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946DC899-1DAC-E1C7-F7DE-042EED96DAD3}"/>
              </a:ext>
            </a:extLst>
          </p:cNvPr>
          <p:cNvSpPr>
            <a:spLocks noGrp="1"/>
          </p:cNvSpPr>
          <p:nvPr/>
        </p:nvSpPr>
        <p:spPr>
          <a:xfrm>
            <a:off x="5493540" y="3771900"/>
            <a:ext cx="7300919" cy="4419600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CAN</a:t>
            </a:r>
          </a:p>
          <a:p>
            <a:pPr indent="0" algn="ctr">
              <a:buNone/>
            </a:pPr>
            <a:r>
              <a:rPr lang="en-US" sz="1800" b="1" dirty="0"/>
              <a:t>Controller Area Network</a:t>
            </a:r>
          </a:p>
          <a:p>
            <a:pPr indent="0" algn="ctr">
              <a:buNone/>
            </a:pPr>
            <a:endParaRPr lang="en-US" sz="18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/>
              <a:t>The CAN communication protocol is a multiple-access protocol with collision detection and arbitration on message priority.</a:t>
            </a:r>
            <a:endParaRPr lang="en-US" sz="18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endParaRPr lang="en-GB"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0FE5A7-8EC4-12C4-2B2A-B40E3E7E5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5905500"/>
            <a:ext cx="9144000" cy="121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8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CCDB-0BF8-4E8F-5581-064A7E6B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5A7D0D-E4C4-BC53-73D5-C2ACA7E98E98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C45D386-52B1-C7FF-A8DC-9E7A4708A164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408A7E1-E20A-8969-A54A-E19AB2F8827A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A0A12AD-EC72-4B51-4314-6604E0CC492E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B7FF14F-E502-3802-CB10-5268FDB26E8C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F988A86-22A3-32CB-F52A-AB13EA3B58C6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B037F25C-A389-661D-2A6D-94EEFE612A28}"/>
              </a:ext>
            </a:extLst>
          </p:cNvPr>
          <p:cNvSpPr>
            <a:spLocks noGrp="1"/>
          </p:cNvSpPr>
          <p:nvPr/>
        </p:nvSpPr>
        <p:spPr>
          <a:xfrm>
            <a:off x="5493540" y="3371850"/>
            <a:ext cx="7300919" cy="3543300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/>
              <a:t>What is Bit Stuffing?</a:t>
            </a:r>
          </a:p>
          <a:p>
            <a:pPr indent="0" algn="ctr">
              <a:buNone/>
            </a:pPr>
            <a:r>
              <a:rPr lang="en-US" sz="1800" dirty="0"/>
              <a:t>Bit stuffing is a method used in data communication to avoid confusion between </a:t>
            </a:r>
            <a:r>
              <a:rPr lang="en-US" sz="1800" b="1" dirty="0"/>
              <a:t>data</a:t>
            </a:r>
            <a:r>
              <a:rPr lang="en-US" sz="1800" dirty="0"/>
              <a:t> and </a:t>
            </a:r>
            <a:r>
              <a:rPr lang="en-US" sz="1800" b="1" dirty="0"/>
              <a:t>special control signals </a:t>
            </a:r>
            <a:r>
              <a:rPr lang="en-US" sz="1800" dirty="0"/>
              <a:t>(like start or end markers). When a specific sequence of bits appears in the data </a:t>
            </a:r>
            <a:r>
              <a:rPr lang="en-US" sz="1800" b="1" dirty="0"/>
              <a:t>an extra bit is added </a:t>
            </a:r>
            <a:r>
              <a:rPr lang="en-US" sz="1800" dirty="0"/>
              <a:t>to break the pattern. </a:t>
            </a:r>
          </a:p>
          <a:p>
            <a:pPr indent="0" algn="ctr">
              <a:buNone/>
            </a:pPr>
            <a:r>
              <a:rPr lang="en-US" sz="1800" dirty="0">
                <a:highlight>
                  <a:srgbClr val="F4CE51"/>
                </a:highlight>
              </a:rPr>
              <a:t>“When 5 bits of the same logic level occur in succession during normal operation, a bit of the opposite logic level is stuffed into the data.”</a:t>
            </a:r>
          </a:p>
          <a:p>
            <a:pPr indent="0" algn="ctr">
              <a:buNone/>
            </a:pPr>
            <a:r>
              <a:rPr lang="en-US" sz="1800" dirty="0"/>
              <a:t>This prevents the receiver from mistaking the data for control information. Once the data is received </a:t>
            </a:r>
            <a:r>
              <a:rPr lang="en-US" sz="1800" b="1" dirty="0"/>
              <a:t>the extra bit is removed </a:t>
            </a:r>
            <a:r>
              <a:rPr lang="en-US" sz="1800" dirty="0"/>
              <a:t>restoring the original message. This technique helps ensure </a:t>
            </a:r>
            <a:r>
              <a:rPr lang="en-US" sz="1800" b="1" dirty="0"/>
              <a:t>accurate data transmission</a:t>
            </a:r>
            <a:r>
              <a:rPr lang="en-US" sz="1800" dirty="0"/>
              <a:t>.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- Enabled in normal operation -</a:t>
            </a:r>
            <a:endParaRPr lang="en-GB" sz="18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9770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3FD39-F7F7-A743-7DC8-51609CFB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5EF104-7261-5EB2-E24E-9F73516F0896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678F3A2-EBDF-5D75-7664-6455F9CE72E6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82FE80B-0B71-5C12-3E26-D148159ABDF0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0F23CBE-CF7A-0992-8A18-81EC3292617D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B66543D-DD68-B6F2-8BEA-4A79A921018F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B0EE2EB-EBB2-6E2C-1B15-5831A2BEFB5D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94219A47-FBBF-BCBC-A4CB-EDBE6EE652A4}"/>
              </a:ext>
            </a:extLst>
          </p:cNvPr>
          <p:cNvSpPr>
            <a:spLocks noGrp="1"/>
          </p:cNvSpPr>
          <p:nvPr/>
        </p:nvSpPr>
        <p:spPr>
          <a:xfrm>
            <a:off x="5493540" y="4119430"/>
            <a:ext cx="7300919" cy="2048139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/>
              <a:t>How does Bit Stuffing work?</a:t>
            </a:r>
          </a:p>
          <a:p>
            <a:pPr indent="0" algn="ctr">
              <a:buNone/>
            </a:pPr>
            <a:r>
              <a:rPr lang="en-US" sz="1800" dirty="0"/>
              <a:t>Bit sequence: 110101111101011111101011111110 (without bit stuffing) </a:t>
            </a:r>
          </a:p>
          <a:p>
            <a:pPr indent="0" algn="ctr">
              <a:buNone/>
            </a:pPr>
            <a:r>
              <a:rPr lang="en-US" sz="1800" dirty="0"/>
              <a:t>Bit sequence: 1101011111</a:t>
            </a:r>
            <a:r>
              <a:rPr lang="en-US" sz="2400" b="1" dirty="0"/>
              <a:t>0</a:t>
            </a:r>
            <a:r>
              <a:rPr lang="en-US" sz="1800" dirty="0"/>
              <a:t>01011111</a:t>
            </a:r>
            <a:r>
              <a:rPr lang="en-US" sz="2400" b="1" dirty="0"/>
              <a:t>0</a:t>
            </a:r>
            <a:r>
              <a:rPr lang="en-US" sz="1800" dirty="0"/>
              <a:t>101011111</a:t>
            </a:r>
            <a:r>
              <a:rPr lang="en-US" sz="2400" b="1" dirty="0"/>
              <a:t>0</a:t>
            </a:r>
            <a:r>
              <a:rPr lang="en-US" sz="1800" dirty="0"/>
              <a:t>10 (with bit stuffing) </a:t>
            </a:r>
          </a:p>
          <a:p>
            <a:pPr indent="0" algn="ctr">
              <a:buNone/>
            </a:pPr>
            <a:endParaRPr lang="en-US" sz="1800" dirty="0"/>
          </a:p>
          <a:p>
            <a:pPr indent="0" algn="ctr">
              <a:buNone/>
            </a:pPr>
            <a:r>
              <a:rPr lang="en-US" sz="1800" dirty="0"/>
              <a:t>After 5 consecutive 1-bits, a 0-bit is stuffed. Stuffed bits are marked bold</a:t>
            </a:r>
          </a:p>
          <a:p>
            <a:pPr indent="0" algn="ctr">
              <a:buNone/>
            </a:pPr>
            <a:r>
              <a:rPr lang="en-US" sz="1800" dirty="0"/>
              <a:t>(No 6 consecutive 1's exist after stuffing).</a:t>
            </a: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5231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9C8A3-A972-3609-A7D9-B8C791F7D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B5522E-73A2-EADD-41C8-7CAD0E1F628B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ED8C88C-C934-306E-84BD-135044A7F8FE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00573F5-F3ED-8972-843F-61CCBCB6E92A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00C3112-920C-E477-35E3-7DC4B2820752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3833B5C-41D6-7BE1-1D27-4688E48695F4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6CDAFCD-AE25-299B-C831-A538EE966C7D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DEF3668A-C978-3558-5770-5DEDDAFD3D31}"/>
              </a:ext>
            </a:extLst>
          </p:cNvPr>
          <p:cNvSpPr>
            <a:spLocks noGrp="1"/>
          </p:cNvSpPr>
          <p:nvPr/>
        </p:nvSpPr>
        <p:spPr>
          <a:xfrm>
            <a:off x="5493540" y="3564665"/>
            <a:ext cx="7300919" cy="3157670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/>
              <a:t>Manchester Encoding (IEEE 802.3)</a:t>
            </a:r>
          </a:p>
          <a:p>
            <a:pPr indent="0" algn="ctr">
              <a:buNone/>
            </a:pPr>
            <a:endParaRPr lang="en-US" sz="1800" b="1" dirty="0"/>
          </a:p>
          <a:p>
            <a:pPr indent="0" algn="ctr">
              <a:buNone/>
            </a:pPr>
            <a:r>
              <a:rPr lang="en-US" sz="1800" dirty="0"/>
              <a:t>Manchester encoding is a synchronous </a:t>
            </a:r>
            <a:r>
              <a:rPr lang="en-US" sz="1800" b="1" dirty="0"/>
              <a:t>clock encoding </a:t>
            </a:r>
            <a:r>
              <a:rPr lang="en-US" sz="1800" dirty="0"/>
              <a:t>technique used by the physical layer of the Open System Interconnection to encode the clock and data of a </a:t>
            </a:r>
            <a:r>
              <a:rPr lang="en-US" sz="1800" b="1" dirty="0"/>
              <a:t>synchronous</a:t>
            </a:r>
            <a:r>
              <a:rPr lang="en-US" sz="1800" dirty="0"/>
              <a:t> bit stream.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It is widely used in Ethernet technology and other digital communication systems due to its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reliability</a:t>
            </a:r>
            <a:r>
              <a:rPr lang="en-US" sz="1800" dirty="0">
                <a:latin typeface="Calibri"/>
                <a:ea typeface="Calibri"/>
                <a:cs typeface="Calibri"/>
              </a:rPr>
              <a:t> and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simplicity</a:t>
            </a:r>
            <a:r>
              <a:rPr lang="en-US" sz="1800" dirty="0">
                <a:latin typeface="Calibri"/>
                <a:ea typeface="Calibri"/>
                <a:cs typeface="Calibri"/>
              </a:rPr>
              <a:t>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!Synchronous = the clock is encoded in the data stream (</a:t>
            </a:r>
            <a:r>
              <a:rPr lang="en-US" sz="1800" b="1" dirty="0">
                <a:latin typeface="Calibri"/>
                <a:ea typeface="Calibri"/>
                <a:cs typeface="Calibri"/>
              </a:rPr>
              <a:t>no</a:t>
            </a:r>
            <a:r>
              <a:rPr lang="en-US" sz="1800" dirty="0">
                <a:latin typeface="Calibri"/>
                <a:ea typeface="Calibri"/>
                <a:cs typeface="Calibri"/>
              </a:rPr>
              <a:t> 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clk</a:t>
            </a:r>
            <a:r>
              <a:rPr lang="en-US" sz="1800" dirty="0">
                <a:latin typeface="Calibri"/>
                <a:ea typeface="Calibri"/>
                <a:cs typeface="Calibri"/>
              </a:rPr>
              <a:t> wire)</a:t>
            </a: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3361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00655-1FA8-F32C-5C40-0D5076A4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B0FCE3-EA20-05EB-0E44-D897CA0EBC4B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04AB1AD-118D-9653-A14F-4E3603C93DB7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03041A1-2EA8-F503-6C6C-DB834607A2F7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9DB583D-FD49-8248-9E50-F89BC9F2B9CF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E29E01-A826-C2B2-1E43-62099FB1B1B1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A9A6770-E702-049A-D208-5FD86E89282D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32643DF1-6492-28B1-E2C9-870C6924A78C}"/>
              </a:ext>
            </a:extLst>
          </p:cNvPr>
          <p:cNvSpPr>
            <a:spLocks noGrp="1"/>
          </p:cNvSpPr>
          <p:nvPr/>
        </p:nvSpPr>
        <p:spPr>
          <a:xfrm>
            <a:off x="5493540" y="3771900"/>
            <a:ext cx="7300919" cy="4419600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SPI</a:t>
            </a:r>
          </a:p>
          <a:p>
            <a:pPr indent="0" algn="ctr">
              <a:buNone/>
            </a:pPr>
            <a:r>
              <a:rPr lang="en-GB" sz="1800" b="1" dirty="0">
                <a:latin typeface="Calibri"/>
                <a:ea typeface="Calibri"/>
                <a:cs typeface="Calibri"/>
              </a:rPr>
              <a:t>Serial Peripheral Interface</a:t>
            </a:r>
          </a:p>
          <a:p>
            <a:pPr indent="0" algn="ctr">
              <a:buNone/>
            </a:pPr>
            <a:endParaRPr lang="en-GB" sz="18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GB" sz="1800" dirty="0">
                <a:latin typeface="Calibri"/>
                <a:ea typeface="Calibri"/>
                <a:cs typeface="Calibri"/>
              </a:rPr>
              <a:t>SPI </a:t>
            </a:r>
            <a:r>
              <a:rPr lang="en-US" sz="1800" dirty="0">
                <a:latin typeface="Calibri"/>
                <a:ea typeface="Calibri"/>
                <a:cs typeface="Calibri"/>
              </a:rPr>
              <a:t>facilitates short-distance communication between peripheral integrated circuits and microcontrollers: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synchronous</a:t>
            </a:r>
            <a:r>
              <a:rPr lang="en-US" sz="1800" dirty="0">
                <a:latin typeface="Calibri"/>
                <a:ea typeface="Calibri"/>
                <a:cs typeface="Calibri"/>
              </a:rPr>
              <a:t> serial communication.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Mainly used for connecting the microcontrollers to peripheral devices like sensors, displays, and memory chips.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285750" indent="-285750" algn="ctr">
              <a:buFontTx/>
              <a:buChar char="-"/>
            </a:pPr>
            <a:r>
              <a:rPr lang="en-US" sz="1800" dirty="0">
                <a:latin typeface="Calibri"/>
                <a:ea typeface="Calibri"/>
                <a:cs typeface="Calibri"/>
              </a:rPr>
              <a:t>four signal lines such as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SCK</a:t>
            </a:r>
            <a:r>
              <a:rPr lang="en-US" sz="1800" dirty="0">
                <a:latin typeface="Calibri"/>
                <a:ea typeface="Calibri"/>
                <a:cs typeface="Calibri"/>
              </a:rPr>
              <a:t>, MOSI, MISO, SS</a:t>
            </a:r>
          </a:p>
          <a:p>
            <a:pPr marL="285750" indent="-285750" algn="ctr">
              <a:buFontTx/>
              <a:buChar char="-"/>
            </a:pPr>
            <a:r>
              <a:rPr lang="en-US" sz="1800" dirty="0">
                <a:latin typeface="Calibri"/>
                <a:ea typeface="Calibri"/>
                <a:cs typeface="Calibri"/>
              </a:rPr>
              <a:t>Full-Duplex Communication </a:t>
            </a: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4120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54941-0ABB-4BA8-52CD-10A476CD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572EF9-9DD1-48CB-8119-1C4F106D3B09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42587DD-343A-AF0E-B79D-6A4A9DA33EDA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B5775B7-209B-7136-D474-66BA82046A91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A24A276-2C5B-B0D6-87D6-9C3E8EB2DB7E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46EDB68-8CCF-B16A-9C7F-815542D9B257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35F0C84-6192-94E4-AF59-3E65B025F9CF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23066642-2355-AADA-475C-DA77C819B04C}"/>
              </a:ext>
            </a:extLst>
          </p:cNvPr>
          <p:cNvSpPr>
            <a:spLocks noGrp="1"/>
          </p:cNvSpPr>
          <p:nvPr/>
        </p:nvSpPr>
        <p:spPr>
          <a:xfrm>
            <a:off x="5493539" y="2933700"/>
            <a:ext cx="7300919" cy="533400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GB" sz="1800" dirty="0">
                <a:latin typeface="Calibri"/>
                <a:ea typeface="Calibri"/>
                <a:cs typeface="Calibri"/>
              </a:rPr>
              <a:t>SPI communication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12D3A358-DB55-A096-0DA7-2E2DE45E1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48" y="3200400"/>
            <a:ext cx="476250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724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8F7F-BD9B-2012-87CB-4D02B9BB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5E0726-D475-4CBE-9417-2680FF57A3B2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04B958A-C59B-FB0A-DCEA-4DCCE8A182ED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EFF34A9-5AF2-F0BC-2FEE-A5098190114C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F4BC34B-F5FA-BDCD-A804-10161E2D73ED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CD5526C-86C3-7F6C-2D27-88829B966BB8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48E274D-6B03-E2D5-AA34-94DD907EC9E2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CEC13372-399B-F176-BB84-F49B48B97FF2}"/>
              </a:ext>
            </a:extLst>
          </p:cNvPr>
          <p:cNvSpPr>
            <a:spLocks noGrp="1"/>
          </p:cNvSpPr>
          <p:nvPr/>
        </p:nvSpPr>
        <p:spPr>
          <a:xfrm>
            <a:off x="5493540" y="4182532"/>
            <a:ext cx="7300919" cy="1921935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/>
              <a:t>Debugging and Maintenance</a:t>
            </a:r>
          </a:p>
          <a:p>
            <a:pPr indent="0" algn="ctr">
              <a:buNone/>
            </a:pPr>
            <a:r>
              <a:rPr lang="en-US" sz="1800" dirty="0"/>
              <a:t>During development, engineers need to know what’s happening inside the chip. Communication ports (like </a:t>
            </a:r>
            <a:r>
              <a:rPr lang="en-US" sz="1800" b="1" dirty="0"/>
              <a:t>JTAG</a:t>
            </a:r>
            <a:r>
              <a:rPr lang="en-US" sz="1800" dirty="0"/>
              <a:t> or </a:t>
            </a:r>
            <a:r>
              <a:rPr lang="en-US" sz="1800" b="1" dirty="0"/>
              <a:t>SWD</a:t>
            </a:r>
            <a:r>
              <a:rPr lang="en-US" sz="1800" dirty="0"/>
              <a:t>) allow developers to:</a:t>
            </a:r>
          </a:p>
          <a:p>
            <a:pPr marL="285750" indent="-285750" algn="ctr">
              <a:buFontTx/>
              <a:buChar char="-"/>
            </a:pPr>
            <a:r>
              <a:rPr lang="en-US" sz="1800" b="1" dirty="0"/>
              <a:t>Flash</a:t>
            </a:r>
            <a:r>
              <a:rPr lang="en-US" sz="1800" dirty="0"/>
              <a:t> new firmware.</a:t>
            </a:r>
          </a:p>
          <a:p>
            <a:pPr marL="285750" indent="-285750" algn="ctr">
              <a:buFontTx/>
              <a:buChar char="-"/>
            </a:pPr>
            <a:r>
              <a:rPr lang="en-US" sz="1800" b="1" dirty="0"/>
              <a:t>Monitor</a:t>
            </a:r>
            <a:r>
              <a:rPr lang="en-US" sz="1800" dirty="0"/>
              <a:t> variable values in </a:t>
            </a:r>
            <a:r>
              <a:rPr lang="en-US" sz="1800" b="1" dirty="0"/>
              <a:t>real-time</a:t>
            </a:r>
            <a:r>
              <a:rPr lang="en-US" sz="1800" dirty="0"/>
              <a:t>.</a:t>
            </a:r>
          </a:p>
          <a:p>
            <a:pPr marL="285750" indent="-285750" algn="ctr">
              <a:buFontTx/>
              <a:buChar char="-"/>
            </a:pPr>
            <a:r>
              <a:rPr lang="en-US" sz="1800" dirty="0"/>
              <a:t>Receive </a:t>
            </a:r>
            <a:r>
              <a:rPr lang="en-US" sz="1800" b="1" dirty="0"/>
              <a:t>error logs </a:t>
            </a:r>
            <a:r>
              <a:rPr lang="en-US" sz="1800" dirty="0"/>
              <a:t>via a serial terminal.</a:t>
            </a: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4158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F52F-BEA8-4F13-B06E-48C3C85C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D534AA-AEA3-F23D-ABE7-220A9C93CC65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F5EF40C-2FE8-20CD-CA1D-FAB51F01F679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97C329D-B3F9-2FAD-4D68-628D22D4D153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8B6C925-66C5-CEB2-D95B-405B8018E142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1E4AA21-3AE3-ED4F-874D-8AC7917F1E9D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DE70ACC-09AB-38D8-3051-749BCFDFD7E0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259241CE-6486-2FF9-069D-31B3B0A8D290}"/>
              </a:ext>
            </a:extLst>
          </p:cNvPr>
          <p:cNvSpPr>
            <a:spLocks noGrp="1"/>
          </p:cNvSpPr>
          <p:nvPr/>
        </p:nvSpPr>
        <p:spPr>
          <a:xfrm>
            <a:off x="5493540" y="3776530"/>
            <a:ext cx="7300919" cy="2733939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dirty="0"/>
              <a:t>JTAG refers to the </a:t>
            </a:r>
            <a:r>
              <a:rPr lang="en-US" sz="1800" b="1" dirty="0"/>
              <a:t>boundary scan architecture </a:t>
            </a:r>
            <a:r>
              <a:rPr lang="en-US" sz="1800" dirty="0"/>
              <a:t>standardized as IEEE 1149.1, defining the </a:t>
            </a:r>
            <a:r>
              <a:rPr lang="en-US" sz="1800" b="1" dirty="0"/>
              <a:t>Test Access Port (TAP)</a:t>
            </a:r>
            <a:r>
              <a:rPr lang="en-US" sz="1800" dirty="0"/>
              <a:t> and associated registers for standardized test access to integrated circuits and circuit board assemblies. Developed to enable </a:t>
            </a:r>
            <a:r>
              <a:rPr lang="en-US" sz="1800" b="1" dirty="0"/>
              <a:t>structural PCB testing without physical probing </a:t>
            </a:r>
            <a:r>
              <a:rPr lang="en-US" sz="1800" dirty="0"/>
              <a:t>of every signal, it improves test coverage and fault isolation.</a:t>
            </a:r>
          </a:p>
          <a:p>
            <a:pPr indent="0" algn="ctr">
              <a:buNone/>
            </a:pPr>
            <a:endParaRPr lang="en-US" sz="1800" dirty="0"/>
          </a:p>
          <a:p>
            <a:pPr indent="0" algn="ctr">
              <a:buNone/>
            </a:pPr>
            <a:r>
              <a:rPr lang="en-US" sz="1800" dirty="0"/>
              <a:t>Although widely used for embedded debug </a:t>
            </a:r>
            <a:r>
              <a:rPr lang="en-US" sz="1800" b="1" dirty="0"/>
              <a:t>and in-system programming</a:t>
            </a:r>
            <a:r>
              <a:rPr lang="en-US" sz="1800" dirty="0"/>
              <a:t> (ISP), these applications build upon the underlying bo</a:t>
            </a:r>
            <a:r>
              <a:rPr lang="en-US" sz="1800" b="1" dirty="0"/>
              <a:t>undary scan infrastructure</a:t>
            </a:r>
            <a:r>
              <a:rPr lang="en-US" sz="1800" dirty="0"/>
              <a:t> originally intended for </a:t>
            </a:r>
            <a:r>
              <a:rPr lang="en-US" sz="1800" b="1" dirty="0"/>
              <a:t>manufacturing test</a:t>
            </a:r>
            <a:r>
              <a:rPr lang="en-US" sz="1800" dirty="0"/>
              <a:t>.</a:t>
            </a: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717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17DEC-251B-D5BA-66EE-6B1551379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BDAA0D-08A6-B86B-FD6C-DDBA8123707B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97A0222-AABD-E720-E39F-6B43BC1CB8A5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4CF2291-867C-130E-A4B7-10CE00E1D900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230ECF4-7290-E562-407D-E5D8D1735B22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C7A0EFC-A5B8-1431-5624-57C30C6894B4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6B71EE7-56F3-83BA-6923-80E7C111F394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C668F563-DA70-BDCC-C7DA-58B5EA5D030B}"/>
              </a:ext>
            </a:extLst>
          </p:cNvPr>
          <p:cNvSpPr>
            <a:spLocks noGrp="1"/>
          </p:cNvSpPr>
          <p:nvPr/>
        </p:nvSpPr>
        <p:spPr>
          <a:xfrm>
            <a:off x="5493540" y="4309930"/>
            <a:ext cx="7300919" cy="1667139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dirty="0"/>
              <a:t>The main register added to a device specifically for JTAG testing is called the </a:t>
            </a:r>
            <a:r>
              <a:rPr lang="en-US" sz="1800" b="1" dirty="0"/>
              <a:t>Boundary Scan Register </a:t>
            </a:r>
            <a:r>
              <a:rPr lang="en-US" sz="1800" dirty="0"/>
              <a:t>(BSR). As its name suggests, the individual bits, or cells, of this register are </a:t>
            </a:r>
            <a:r>
              <a:rPr lang="en-US" sz="1800" b="1" dirty="0"/>
              <a:t>at the boundary of the device</a:t>
            </a:r>
            <a:r>
              <a:rPr lang="en-US" sz="1800" dirty="0"/>
              <a:t>, between its functional core and the pins or balls by which it is connected to a board, allowing each pin to be </a:t>
            </a:r>
            <a:r>
              <a:rPr lang="en-US" sz="1800" b="1" dirty="0"/>
              <a:t>independently driven or sampled </a:t>
            </a:r>
            <a:r>
              <a:rPr lang="en-US" sz="1800" dirty="0"/>
              <a:t>during test mode – very often JTAG testing is referred to as boundary scan.</a:t>
            </a: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129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H_LOG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0AD2E"/>
      </a:accent1>
      <a:accent2>
        <a:srgbClr val="EECF6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4896</TotalTime>
  <Words>1273</Words>
  <Application>Microsoft Office PowerPoint</Application>
  <PresentationFormat>Custom</PresentationFormat>
  <Paragraphs>175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 Narrow</vt:lpstr>
      <vt:lpstr>Consolas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IDPS</dc:title>
  <cp:lastModifiedBy>Iosif Eugen</cp:lastModifiedBy>
  <cp:revision>134</cp:revision>
  <dcterms:created xsi:type="dcterms:W3CDTF">2006-08-16T00:00:00Z</dcterms:created>
  <dcterms:modified xsi:type="dcterms:W3CDTF">2026-04-01T12:59:15Z</dcterms:modified>
  <dc:identifier>DAGCdlFyf5Y</dc:identifier>
</cp:coreProperties>
</file>